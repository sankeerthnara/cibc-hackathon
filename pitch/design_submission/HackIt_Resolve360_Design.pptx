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ebc1335-ee74-c19a-bcd6-b1eba77209fa}">
          <p14:sldIdLst>
            <p14:sldId id="256"/>
          </p14:sldIdLst>
        </p14:section>
        <p14:section name="Problem" id="{29781ef0-5069-688e-019e-c9b4f914fca6}">
          <p14:sldIdLst>
            <p14:sldId id="257"/>
            <p14:sldId id="258"/>
          </p14:sldIdLst>
        </p14:section>
        <p14:section name="Solution" id="{799770b2-e113-bac1-7961-2969a5d58c91}">
          <p14:sldIdLst>
            <p14:sldId id="259"/>
            <p14:sldId id="260"/>
          </p14:sldIdLst>
        </p14:section>
        <p14:section name="Layers" id="{afc6cf66-2c59-a0e6-4b1a-f143c9817eec}">
          <p14:sldIdLst>
            <p14:sldId id="261"/>
            <p14:sldId id="262"/>
            <p14:sldId id="263"/>
            <p14:sldId id="264"/>
            <p14:sldId id="265"/>
            <p14:sldId id="266"/>
          </p14:sldIdLst>
        </p14:section>
        <p14:section name="AI and governance" id="{4c81d2dd-8da0-64f5-fe70-badaa64347c3}">
          <p14:sldIdLst>
            <p14:sldId id="267"/>
            <p14:sldId id="268"/>
          </p14:sldIdLst>
        </p14:section>
        <p14:section name="Plan" id="{6428b11a-ba5e-860b-939d-a34c3999166f}">
          <p14:sldIdLst>
            <p14:sldId id="269"/>
            <p14:sldId id="270"/>
            <p14:sldId id="271"/>
          </p14:sldIdLst>
        </p14:section>
        <p14:section name="Close" id="{b93d48bf-f812-813b-8e01-47c83b1f8e75}">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Points</c:v>
                </c:pt>
              </c:strCache>
            </c:strRef>
          </c:tx>
          <c:spPr>
            <a:solidFill>
              <a:srgbClr val="15847A"/>
            </a:solidFill>
            <a:effectLst/>
          </c:spPr>
          <c:invertIfNegative val="0"/>
          <c:dLbls>
            <c:numFmt formatCode="#,##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cat>
            <c:multiLvlStrRef>
              <c:f>Sheet1!$A$2:$A$5</c:f>
              <c:multiLvlStrCache>
                <c:ptCount val="4"/>
                <c:lvl>
                  <c:pt idx="0">
                    <c:v>Stated hardship</c:v>
                  </c:pt>
                  <c:pt idx="1">
                    <c:v>Missed payroll (29 days)</c:v>
                  </c:pt>
                  <c:pt idx="2">
                    <c:v>Income down 35%</c:v>
                  </c:pt>
                  <c:pt idx="3">
                    <c:v>Willing but unable</c:v>
                  </c:pt>
                </c:lvl>
              </c:multiLvlStrCache>
            </c:multiLvlStrRef>
          </c:cat>
          <c:val>
            <c:numRef>
              <c:f>Sheet1!$B$2:$B$5</c:f>
              <c:numCache>
                <c:formatCode>General</c:formatCode>
                <c:ptCount val="4"/>
                <c:pt idx="0">
                  <c:v>30</c:v>
                </c:pt>
                <c:pt idx="1">
                  <c:v>25</c:v>
                </c:pt>
                <c:pt idx="2">
                  <c:v>20</c:v>
                </c:pt>
                <c:pt idx="3">
                  <c:v>10</c:v>
                </c:pt>
              </c:numCache>
            </c:numRef>
          </c:val>
        </c:ser>
        <c:dLbls>
          <c:numFmt formatCode="#,##0" sourceLinked="0"/>
          <c:txPr>
            <a:bodyPr/>
            <a:lstStyle/>
            <a:p>
              <a:pPr>
                <a:defRPr b="0" i="0" strike="noStrike" sz="1100" u="none">
                  <a:solidFill>
                    <a:srgbClr val="1B2430"/>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36"/>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Resolve360 by team Hack It. One working slice through all three layers of the brief, with one headline idea: collections should optimise for resolution, not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system holds a fragment. Deposits show the missing paycheque, the transcript says shifts were cut. Today nobody joins those dots, so the customer gets generic pressure.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core insight. Much of collections risk is customers who cannot pay right now, not customers who will not. Pressure makes that worse. We use salary credits in the deposit data to find what each customer can afford.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 is what the brief asks for, built end to end. On top, five differentiators. The headline is affordability-first next best 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 Python, DuckDB, FastAPI, LightGBM, React. Layer 1 feeds both Ask and decisioning. Contact-completed events trigger live re-decisioning. Governance runs underneath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source IDs resolve to one golden ID with a confidence score. New idea: a trust score per customer that flows into the decision layer, so poor data quality changes what the agent is told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turns a question into a structured query over governed metrics, then our code compiles the SQL. The understood-as chips are that structured query, so edits are exact. Every answer shows its SQL and data products. Out-of-scope questions are refused with a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predicts promise-break risk. Two transparent scores, hardship and affordability, sit beside it. A versioned policy combines them into an action with plain-English reasons and a counterfactual.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Hardship decides who gets protection, so it is rules-based and auditable, not a black-box model. Text signals come from the LLM with quoted evidence, financial signals from deposits and bureau data. R. Mitchell scores 85: severe.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Pay cycle from salary credit dates, income, obligations, a labelled essentials assumption, then monthly capacity. Mitchell has negative capacity, so he goes to the hardship pathway. Roy can catch up, so he gets a call the day after payday.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demo moment. We drop in a new transcript. The LLM extracts hardship with quoted evidence, features update, the model re-scores and the action changes from a call to a specialist referral in seconds, fully audited.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job gets the right engine. LLMs read and interpret; LightGBM and deterministic policy decide. Embeddings run locally. Every LLM feature is versioned and evaluated.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Governance is a tab in the product, not a slide. Override intelligence turns human-in-the-loop into something measurable that improves policy, always with a human approving the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lanes, five blocks. Contracts and mock data already exist, so both people build in parallel from the first hour. Our AI agents work in owned folders and report to the repo; a lead agent reviews and directs.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Measurable targets for every AI component, reported honestly. A clear MVP and an ordered cut list, so the demo works even if time runs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 comes from more kept promises, fewer rolls, better contact efficiency and shorter handle time. Every number is an assumption we label as such. The same logic scales onto a warehouse, streaming and a feature store 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walks one customer through every layer and ends on governance.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B4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rtlCol="0"/>
          <a:lstStyle>
            <a:lvl1pPr algn="l" indent="0" marL="0">
              <a:buNone/>
              <a:defRPr lang="en-US" sz="36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rtlCol="0"/>
          <a:lstStyle>
            <a:lvl1pPr indent="0" marL="0">
              <a:buNone/>
              <a:defRPr lang="en-US" sz="3000" b="1" dirty="0">
                <a:solidFill>
                  <a:schemeClr val="tx2"/>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900" dirty="0">
                <a:solidFill>
                  <a:schemeClr val="accent4"/>
                </a:solidFill>
              </a:rPr>
              <a:t>Team Hack It  ·  Resolve360  ·  Educational prototype on synthetic data</a:t>
            </a:r>
            <a:endParaRPr lang="en-US" sz="9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3.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3.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Resolve360</a:t>
            </a:r>
            <a:endParaRPr lang="en-US" sz="3600" dirty="0"/>
          </a:p>
        </p:txBody>
      </p:sp>
      <p:sp>
        <p:nvSpPr>
          <p:cNvPr id="3" name="Text 1"/>
          <p:cNvSpPr txBox="1"/>
          <p:nvPr/>
        </p:nvSpPr>
        <p:spPr>
          <a:xfrm>
            <a:off x="731520" y="1508760"/>
            <a:ext cx="10058400" cy="640080"/>
          </a:xfrm>
          <a:prstGeom prst="rect">
            <a:avLst/>
          </a:prstGeom>
          <a:noFill/>
          <a:ln/>
        </p:spPr>
        <p:txBody>
          <a:bodyPr wrap="square" lIns="635" tIns="635" rIns="635" bIns="635" rtlCol="0" anchor="t"/>
          <a:lstStyle/>
          <a:p>
            <a:pPr indent="0" marL="0">
              <a:buNone/>
            </a:pPr>
            <a:r>
              <a:rPr lang="en-US" sz="2800" i="1" dirty="0">
                <a:solidFill>
                  <a:schemeClr val="accent2"/>
                </a:solidFill>
                <a:latin typeface="Cambria" pitchFamily="34" charset="0"/>
                <a:ea typeface="Cambria" pitchFamily="34" charset="-122"/>
                <a:cs typeface="Cambria" pitchFamily="34" charset="-120"/>
              </a:rPr>
              <a:t>Stop chasing. Start resolving.</a:t>
            </a:r>
            <a:endParaRPr lang="en-US" sz="2800" dirty="0"/>
          </a:p>
        </p:txBody>
      </p:sp>
      <p:sp>
        <p:nvSpPr>
          <p:cNvPr id="4" name="Text 2"/>
          <p:cNvSpPr txBox="1"/>
          <p:nvPr/>
        </p:nvSpPr>
        <p:spPr>
          <a:xfrm>
            <a:off x="731520" y="2331720"/>
            <a:ext cx="7498080" cy="914400"/>
          </a:xfrm>
          <a:prstGeom prst="rect">
            <a:avLst/>
          </a:prstGeom>
          <a:noFill/>
          <a:ln/>
        </p:spPr>
        <p:txBody>
          <a:bodyPr wrap="square" lIns="635" tIns="635" rIns="635" bIns="635" rtlCol="0" anchor="t"/>
          <a:lstStyle/>
          <a:p>
            <a:pPr indent="0" marL="0">
              <a:buNone/>
            </a:pPr>
            <a:r>
              <a:rPr lang="en-US" sz="1800" dirty="0">
                <a:solidFill>
                  <a:schemeClr val="bg1"/>
                </a:solidFill>
              </a:rPr>
              <a:t>A governed Collections 360 with plain-English Ask and an affordability-first Next Best Action that changes the moment a call ends.</a:t>
            </a:r>
            <a:endParaRPr lang="en-US" sz="1800" dirty="0"/>
          </a:p>
        </p:txBody>
      </p:sp>
      <p:sp>
        <p:nvSpPr>
          <p:cNvPr id="5" name="Shape 3"/>
          <p:cNvSpPr/>
          <p:nvPr/>
        </p:nvSpPr>
        <p:spPr>
          <a:xfrm>
            <a:off x="731520" y="3794760"/>
            <a:ext cx="548640" cy="54864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852221" y="3915461"/>
            <a:ext cx="307238" cy="307238"/>
          </a:xfrm>
          <a:prstGeom prst="rect">
            <a:avLst/>
          </a:prstGeom>
        </p:spPr>
      </p:pic>
      <p:sp>
        <p:nvSpPr>
          <p:cNvPr id="7" name="Text 4"/>
          <p:cNvSpPr txBox="1"/>
          <p:nvPr/>
        </p:nvSpPr>
        <p:spPr>
          <a:xfrm>
            <a:off x="1389888" y="3767328"/>
            <a:ext cx="2011680" cy="320040"/>
          </a:xfrm>
          <a:prstGeom prst="rect">
            <a:avLst/>
          </a:prstGeom>
          <a:noFill/>
          <a:ln/>
        </p:spPr>
        <p:txBody>
          <a:bodyPr wrap="square" lIns="635" tIns="635" rIns="635" bIns="635" rtlCol="0" anchor="t"/>
          <a:lstStyle/>
          <a:p>
            <a:pPr indent="0" marL="0">
              <a:buNone/>
            </a:pPr>
            <a:r>
              <a:rPr lang="en-US" sz="1400" b="1" dirty="0">
                <a:solidFill>
                  <a:schemeClr val="bg1"/>
                </a:solidFill>
              </a:rPr>
              <a:t>Collections 360</a:t>
            </a:r>
            <a:endParaRPr lang="en-US" sz="1400" dirty="0"/>
          </a:p>
        </p:txBody>
      </p:sp>
      <p:sp>
        <p:nvSpPr>
          <p:cNvPr id="8" name="Text 5"/>
          <p:cNvSpPr txBox="1"/>
          <p:nvPr/>
        </p:nvSpPr>
        <p:spPr>
          <a:xfrm>
            <a:off x="1389888" y="4069080"/>
            <a:ext cx="2011680" cy="365760"/>
          </a:xfrm>
          <a:prstGeom prst="rect">
            <a:avLst/>
          </a:prstGeom>
          <a:noFill/>
          <a:ln/>
        </p:spPr>
        <p:txBody>
          <a:bodyPr wrap="square" lIns="635" tIns="635" rIns="635" bIns="635" rtlCol="0" anchor="t"/>
          <a:lstStyle/>
          <a:p>
            <a:pPr indent="0" marL="0">
              <a:buNone/>
            </a:pPr>
            <a:r>
              <a:rPr lang="en-US" sz="1100" dirty="0">
                <a:solidFill>
                  <a:schemeClr val="accent5"/>
                </a:solidFill>
              </a:rPr>
              <a:t>one customer, one trusted ID</a:t>
            </a:r>
            <a:endParaRPr lang="en-US" sz="1100" dirty="0"/>
          </a:p>
        </p:txBody>
      </p:sp>
      <p:sp>
        <p:nvSpPr>
          <p:cNvPr id="9" name="Shape 6"/>
          <p:cNvSpPr/>
          <p:nvPr/>
        </p:nvSpPr>
        <p:spPr>
          <a:xfrm>
            <a:off x="3474720" y="3794760"/>
            <a:ext cx="548640" cy="54864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3595421" y="3915461"/>
            <a:ext cx="307238" cy="307238"/>
          </a:xfrm>
          <a:prstGeom prst="rect">
            <a:avLst/>
          </a:prstGeom>
        </p:spPr>
      </p:pic>
      <p:sp>
        <p:nvSpPr>
          <p:cNvPr id="11" name="Text 7"/>
          <p:cNvSpPr txBox="1"/>
          <p:nvPr/>
        </p:nvSpPr>
        <p:spPr>
          <a:xfrm>
            <a:off x="4133088" y="3767328"/>
            <a:ext cx="2011680" cy="320040"/>
          </a:xfrm>
          <a:prstGeom prst="rect">
            <a:avLst/>
          </a:prstGeom>
          <a:noFill/>
          <a:ln/>
        </p:spPr>
        <p:txBody>
          <a:bodyPr wrap="square" lIns="635" tIns="635" rIns="635" bIns="635" rtlCol="0" anchor="t"/>
          <a:lstStyle/>
          <a:p>
            <a:pPr indent="0" marL="0">
              <a:buNone/>
            </a:pPr>
            <a:r>
              <a:rPr lang="en-US" sz="1400" b="1" dirty="0">
                <a:solidFill>
                  <a:schemeClr val="bg1"/>
                </a:solidFill>
              </a:rPr>
              <a:t>Ask</a:t>
            </a:r>
            <a:endParaRPr lang="en-US" sz="1400" dirty="0"/>
          </a:p>
        </p:txBody>
      </p:sp>
      <p:sp>
        <p:nvSpPr>
          <p:cNvPr id="12" name="Text 8"/>
          <p:cNvSpPr txBox="1"/>
          <p:nvPr/>
        </p:nvSpPr>
        <p:spPr>
          <a:xfrm>
            <a:off x="4133088" y="4069080"/>
            <a:ext cx="2011680" cy="365760"/>
          </a:xfrm>
          <a:prstGeom prst="rect">
            <a:avLst/>
          </a:prstGeom>
          <a:noFill/>
          <a:ln/>
        </p:spPr>
        <p:txBody>
          <a:bodyPr wrap="square" lIns="635" tIns="635" rIns="635" bIns="635" rtlCol="0" anchor="t"/>
          <a:lstStyle/>
          <a:p>
            <a:pPr indent="0" marL="0">
              <a:buNone/>
            </a:pPr>
            <a:r>
              <a:rPr lang="en-US" sz="1100" dirty="0">
                <a:solidFill>
                  <a:schemeClr val="accent5"/>
                </a:solidFill>
              </a:rPr>
              <a:t>answers that show their working</a:t>
            </a:r>
            <a:endParaRPr lang="en-US" sz="1100" dirty="0"/>
          </a:p>
        </p:txBody>
      </p:sp>
      <p:sp>
        <p:nvSpPr>
          <p:cNvPr id="13" name="Shape 9"/>
          <p:cNvSpPr/>
          <p:nvPr/>
        </p:nvSpPr>
        <p:spPr>
          <a:xfrm>
            <a:off x="6217920" y="3794760"/>
            <a:ext cx="548640" cy="548640"/>
          </a:xfrm>
          <a:prstGeom prst="ellipse">
            <a:avLst/>
          </a:prstGeom>
          <a:solidFill>
            <a:schemeClr val="accent1"/>
          </a:solidFill>
          <a:ln w="12700">
            <a:solidFill>
              <a:schemeClr val="accent1"/>
            </a:solidFill>
            <a:prstDash val="solid"/>
          </a:ln>
        </p:spPr>
      </p:sp>
      <p:pic>
        <p:nvPicPr>
          <p:cNvPr id="14" name="Image 2" descr="preencoded.png">    </p:cNvPr>
          <p:cNvPicPr>
            <a:picLocks noChangeAspect="1"/>
          </p:cNvPicPr>
          <p:nvPr/>
        </p:nvPicPr>
        <p:blipFill>
          <a:blip r:embed="rId3"/>
          <a:stretch>
            <a:fillRect/>
          </a:stretch>
        </p:blipFill>
        <p:spPr>
          <a:xfrm>
            <a:off x="6338621" y="3915461"/>
            <a:ext cx="307238" cy="307238"/>
          </a:xfrm>
          <a:prstGeom prst="rect">
            <a:avLst/>
          </a:prstGeom>
        </p:spPr>
      </p:pic>
      <p:sp>
        <p:nvSpPr>
          <p:cNvPr id="15" name="Text 10"/>
          <p:cNvSpPr txBox="1"/>
          <p:nvPr/>
        </p:nvSpPr>
        <p:spPr>
          <a:xfrm>
            <a:off x="6876288" y="3767328"/>
            <a:ext cx="2011680" cy="320040"/>
          </a:xfrm>
          <a:prstGeom prst="rect">
            <a:avLst/>
          </a:prstGeom>
          <a:noFill/>
          <a:ln/>
        </p:spPr>
        <p:txBody>
          <a:bodyPr wrap="square" lIns="635" tIns="635" rIns="635" bIns="635" rtlCol="0" anchor="t"/>
          <a:lstStyle/>
          <a:p>
            <a:pPr indent="0" marL="0">
              <a:buNone/>
            </a:pPr>
            <a:r>
              <a:rPr lang="en-US" sz="1400" b="1" dirty="0">
                <a:solidFill>
                  <a:schemeClr val="bg1"/>
                </a:solidFill>
              </a:rPr>
              <a:t>Next Best Action</a:t>
            </a:r>
            <a:endParaRPr lang="en-US" sz="1400" dirty="0"/>
          </a:p>
        </p:txBody>
      </p:sp>
      <p:sp>
        <p:nvSpPr>
          <p:cNvPr id="16" name="Text 11"/>
          <p:cNvSpPr txBox="1"/>
          <p:nvPr/>
        </p:nvSpPr>
        <p:spPr>
          <a:xfrm>
            <a:off x="6876288" y="4069080"/>
            <a:ext cx="2011680" cy="365760"/>
          </a:xfrm>
          <a:prstGeom prst="rect">
            <a:avLst/>
          </a:prstGeom>
          <a:noFill/>
          <a:ln/>
        </p:spPr>
        <p:txBody>
          <a:bodyPr wrap="square" lIns="635" tIns="635" rIns="635" bIns="635" rtlCol="0" anchor="t"/>
          <a:lstStyle/>
          <a:p>
            <a:pPr indent="0" marL="0">
              <a:buNone/>
            </a:pPr>
            <a:r>
              <a:rPr lang="en-US" sz="1100" dirty="0">
                <a:solidFill>
                  <a:schemeClr val="accent5"/>
                </a:solidFill>
              </a:rPr>
              <a:t>risk + ability to pay</a:t>
            </a:r>
            <a:endParaRPr lang="en-US" sz="1100" dirty="0"/>
          </a:p>
        </p:txBody>
      </p:sp>
      <p:sp>
        <p:nvSpPr>
          <p:cNvPr id="17" name="Shape 12"/>
          <p:cNvSpPr/>
          <p:nvPr/>
        </p:nvSpPr>
        <p:spPr>
          <a:xfrm>
            <a:off x="8961120" y="3794760"/>
            <a:ext cx="548640" cy="548640"/>
          </a:xfrm>
          <a:prstGeom prst="ellipse">
            <a:avLst/>
          </a:prstGeom>
          <a:solidFill>
            <a:schemeClr val="accent1"/>
          </a:solidFill>
          <a:ln w="12700">
            <a:solidFill>
              <a:schemeClr val="accent1"/>
            </a:solidFill>
            <a:prstDash val="solid"/>
          </a:ln>
        </p:spPr>
      </p:sp>
      <p:pic>
        <p:nvPicPr>
          <p:cNvPr id="18" name="Image 3" descr="preencoded.png">    </p:cNvPr>
          <p:cNvPicPr>
            <a:picLocks noChangeAspect="1"/>
          </p:cNvPicPr>
          <p:nvPr/>
        </p:nvPicPr>
        <p:blipFill>
          <a:blip r:embed="rId4"/>
          <a:stretch>
            <a:fillRect/>
          </a:stretch>
        </p:blipFill>
        <p:spPr>
          <a:xfrm>
            <a:off x="9081821" y="3915461"/>
            <a:ext cx="307238" cy="307238"/>
          </a:xfrm>
          <a:prstGeom prst="rect">
            <a:avLst/>
          </a:prstGeom>
        </p:spPr>
      </p:pic>
      <p:sp>
        <p:nvSpPr>
          <p:cNvPr id="19" name="Text 13"/>
          <p:cNvSpPr txBox="1"/>
          <p:nvPr/>
        </p:nvSpPr>
        <p:spPr>
          <a:xfrm>
            <a:off x="9619488" y="3767328"/>
            <a:ext cx="2011680" cy="320040"/>
          </a:xfrm>
          <a:prstGeom prst="rect">
            <a:avLst/>
          </a:prstGeom>
          <a:noFill/>
          <a:ln/>
        </p:spPr>
        <p:txBody>
          <a:bodyPr wrap="square" lIns="635" tIns="635" rIns="635" bIns="635" rtlCol="0" anchor="t"/>
          <a:lstStyle/>
          <a:p>
            <a:pPr indent="0" marL="0">
              <a:buNone/>
            </a:pPr>
            <a:r>
              <a:rPr lang="en-US" sz="1400" b="1" dirty="0">
                <a:solidFill>
                  <a:schemeClr val="bg1"/>
                </a:solidFill>
              </a:rPr>
              <a:t>Governance</a:t>
            </a:r>
            <a:endParaRPr lang="en-US" sz="1400" dirty="0"/>
          </a:p>
        </p:txBody>
      </p:sp>
      <p:sp>
        <p:nvSpPr>
          <p:cNvPr id="20" name="Text 14"/>
          <p:cNvSpPr txBox="1"/>
          <p:nvPr/>
        </p:nvSpPr>
        <p:spPr>
          <a:xfrm>
            <a:off x="9619488" y="4069080"/>
            <a:ext cx="2011680" cy="365760"/>
          </a:xfrm>
          <a:prstGeom prst="rect">
            <a:avLst/>
          </a:prstGeom>
          <a:noFill/>
          <a:ln/>
        </p:spPr>
        <p:txBody>
          <a:bodyPr wrap="square" lIns="635" tIns="635" rIns="635" bIns="635" rtlCol="0" anchor="t"/>
          <a:lstStyle/>
          <a:p>
            <a:pPr indent="0" marL="0">
              <a:buNone/>
            </a:pPr>
            <a:r>
              <a:rPr lang="en-US" sz="1100" dirty="0">
                <a:solidFill>
                  <a:schemeClr val="accent5"/>
                </a:solidFill>
              </a:rPr>
              <a:t>built into every layer</a:t>
            </a:r>
            <a:endParaRPr lang="en-US" sz="1100" dirty="0"/>
          </a:p>
        </p:txBody>
      </p:sp>
      <p:sp>
        <p:nvSpPr>
          <p:cNvPr id="21" name="Text 15"/>
          <p:cNvSpPr txBox="1"/>
          <p:nvPr/>
        </p:nvSpPr>
        <p:spPr>
          <a:xfrm>
            <a:off x="731520" y="5669280"/>
            <a:ext cx="8229600" cy="320040"/>
          </a:xfrm>
          <a:prstGeom prst="rect">
            <a:avLst/>
          </a:prstGeom>
          <a:noFill/>
          <a:ln/>
        </p:spPr>
        <p:txBody>
          <a:bodyPr wrap="square" lIns="635" tIns="635" rIns="635" bIns="635" rtlCol="0" anchor="t"/>
          <a:lstStyle/>
          <a:p>
            <a:pPr indent="0" marL="0">
              <a:buNone/>
            </a:pPr>
            <a:r>
              <a:rPr lang="en-US" sz="1300" dirty="0">
                <a:solidFill>
                  <a:schemeClr val="bg1"/>
                </a:solidFill>
              </a:rPr>
              <a:t>Team Hack It  ·  Collections Hackathon  ·  Design submission, 2 October 2026</a:t>
            </a:r>
            <a:endParaRPr lang="en-US" sz="1300" dirty="0"/>
          </a:p>
        </p:txBody>
      </p:sp>
      <p:sp>
        <p:nvSpPr>
          <p:cNvPr id="22" name="Text 16"/>
          <p:cNvSpPr txBox="1"/>
          <p:nvPr/>
        </p:nvSpPr>
        <p:spPr>
          <a:xfrm>
            <a:off x="731520" y="5989320"/>
            <a:ext cx="8686800" cy="320040"/>
          </a:xfrm>
          <a:prstGeom prst="rect">
            <a:avLst/>
          </a:prstGeom>
          <a:noFill/>
          <a:ln/>
        </p:spPr>
        <p:txBody>
          <a:bodyPr wrap="square" lIns="635" tIns="635" rIns="635" bIns="635" rtlCol="0" anchor="t"/>
          <a:lstStyle/>
          <a:p>
            <a:pPr indent="0" marL="0">
              <a:buNone/>
            </a:pPr>
            <a:r>
              <a:rPr lang="en-US" sz="1000" dirty="0">
                <a:solidFill>
                  <a:schemeClr val="accent5"/>
                </a:solidFill>
              </a:rPr>
              <a:t>Educational prototype on fully synthetic data. Not a system of, or endorsed by, the industry partner.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One customer. Nine systems. No single story.</a:t>
            </a:r>
            <a:endParaRPr lang="en-US" sz="3000" dirty="0"/>
          </a:p>
        </p:txBody>
      </p:sp>
      <p:sp>
        <p:nvSpPr>
          <p:cNvPr id="3" name="Shape 1"/>
          <p:cNvSpPr/>
          <p:nvPr/>
        </p:nvSpPr>
        <p:spPr>
          <a:xfrm>
            <a:off x="548640" y="1325880"/>
            <a:ext cx="1965960" cy="1371600"/>
          </a:xfrm>
          <a:prstGeom prst="roundRect">
            <a:avLst>
              <a:gd name="adj" fmla="val 5333"/>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685800" y="1463040"/>
            <a:ext cx="1737360" cy="274320"/>
          </a:xfrm>
          <a:prstGeom prst="rect">
            <a:avLst/>
          </a:prstGeom>
          <a:noFill/>
          <a:ln/>
        </p:spPr>
        <p:txBody>
          <a:bodyPr wrap="square" lIns="635" tIns="635" rIns="635" bIns="635" rtlCol="0" anchor="t"/>
          <a:lstStyle/>
          <a:p>
            <a:pPr indent="0" marL="0">
              <a:buNone/>
            </a:pPr>
            <a:r>
              <a:rPr lang="en-US" sz="1000" b="1" spc="100" kern="0" dirty="0">
                <a:solidFill>
                  <a:schemeClr val="accent1"/>
                </a:solidFill>
              </a:rPr>
              <a:t>CARDS</a:t>
            </a:r>
            <a:endParaRPr lang="en-US" sz="1000" dirty="0"/>
          </a:p>
        </p:txBody>
      </p:sp>
      <p:sp>
        <p:nvSpPr>
          <p:cNvPr id="5" name="Text 3"/>
          <p:cNvSpPr txBox="1"/>
          <p:nvPr/>
        </p:nvSpPr>
        <p:spPr>
          <a:xfrm>
            <a:off x="685800" y="1764792"/>
            <a:ext cx="1737360" cy="822960"/>
          </a:xfrm>
          <a:prstGeom prst="rect">
            <a:avLst/>
          </a:prstGeom>
          <a:noFill/>
          <a:ln/>
        </p:spPr>
        <p:txBody>
          <a:bodyPr wrap="square" lIns="635" tIns="635" rIns="635" bIns="635" rtlCol="0" anchor="t"/>
          <a:lstStyle/>
          <a:p>
            <a:pPr indent="0" marL="0">
              <a:buNone/>
            </a:pPr>
            <a:r>
              <a:rPr lang="en-US" sz="1300" dirty="0">
                <a:solidFill>
                  <a:schemeClr val="tx1"/>
                </a:solidFill>
              </a:rPr>
              <a:t>Visa 28 days past due, $452 overdue</a:t>
            </a:r>
            <a:endParaRPr lang="en-US" sz="1300" dirty="0"/>
          </a:p>
        </p:txBody>
      </p:sp>
      <p:sp>
        <p:nvSpPr>
          <p:cNvPr id="6" name="Shape 4"/>
          <p:cNvSpPr/>
          <p:nvPr/>
        </p:nvSpPr>
        <p:spPr>
          <a:xfrm>
            <a:off x="2651760" y="1325880"/>
            <a:ext cx="1965960" cy="1371600"/>
          </a:xfrm>
          <a:prstGeom prst="roundRect">
            <a:avLst>
              <a:gd name="adj" fmla="val 5333"/>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2788920" y="1463040"/>
            <a:ext cx="1737360" cy="274320"/>
          </a:xfrm>
          <a:prstGeom prst="rect">
            <a:avLst/>
          </a:prstGeom>
          <a:noFill/>
          <a:ln/>
        </p:spPr>
        <p:txBody>
          <a:bodyPr wrap="square" lIns="635" tIns="635" rIns="635" bIns="635" rtlCol="0" anchor="t"/>
          <a:lstStyle/>
          <a:p>
            <a:pPr indent="0" marL="0">
              <a:buNone/>
            </a:pPr>
            <a:r>
              <a:rPr lang="en-US" sz="1000" b="1" spc="100" kern="0" dirty="0">
                <a:solidFill>
                  <a:schemeClr val="accent1"/>
                </a:solidFill>
              </a:rPr>
              <a:t>LOANS</a:t>
            </a:r>
            <a:endParaRPr lang="en-US" sz="1000" dirty="0"/>
          </a:p>
        </p:txBody>
      </p:sp>
      <p:sp>
        <p:nvSpPr>
          <p:cNvPr id="8" name="Text 6"/>
          <p:cNvSpPr txBox="1"/>
          <p:nvPr/>
        </p:nvSpPr>
        <p:spPr>
          <a:xfrm>
            <a:off x="2788920" y="1764792"/>
            <a:ext cx="1737360" cy="822960"/>
          </a:xfrm>
          <a:prstGeom prst="rect">
            <a:avLst/>
          </a:prstGeom>
          <a:noFill/>
          <a:ln/>
        </p:spPr>
        <p:txBody>
          <a:bodyPr wrap="square" lIns="635" tIns="635" rIns="635" bIns="635" rtlCol="0" anchor="t"/>
          <a:lstStyle/>
          <a:p>
            <a:pPr indent="0" marL="0">
              <a:buNone/>
            </a:pPr>
            <a:r>
              <a:rPr lang="en-US" sz="1300" dirty="0">
                <a:solidFill>
                  <a:schemeClr val="tx1"/>
                </a:solidFill>
              </a:rPr>
              <a:t>Personal loan 34 days past due</a:t>
            </a:r>
            <a:endParaRPr lang="en-US" sz="1300" dirty="0"/>
          </a:p>
        </p:txBody>
      </p:sp>
      <p:sp>
        <p:nvSpPr>
          <p:cNvPr id="9" name="Shape 7"/>
          <p:cNvSpPr/>
          <p:nvPr/>
        </p:nvSpPr>
        <p:spPr>
          <a:xfrm>
            <a:off x="4754880" y="1325880"/>
            <a:ext cx="1965960" cy="1371600"/>
          </a:xfrm>
          <a:prstGeom prst="roundRect">
            <a:avLst>
              <a:gd name="adj" fmla="val 5333"/>
            </a:avLst>
          </a:prstGeom>
          <a:solidFill>
            <a:schemeClr val="bg2"/>
          </a:solidFill>
          <a:ln w="19050">
            <a:solidFill>
              <a:schemeClr val="accent1"/>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4892040" y="1463040"/>
            <a:ext cx="1737360" cy="274320"/>
          </a:xfrm>
          <a:prstGeom prst="rect">
            <a:avLst/>
          </a:prstGeom>
          <a:noFill/>
          <a:ln/>
        </p:spPr>
        <p:txBody>
          <a:bodyPr wrap="square" lIns="635" tIns="635" rIns="635" bIns="635" rtlCol="0" anchor="t"/>
          <a:lstStyle/>
          <a:p>
            <a:pPr indent="0" marL="0">
              <a:buNone/>
            </a:pPr>
            <a:r>
              <a:rPr lang="en-US" sz="1000" b="1" spc="100" kern="0" dirty="0">
                <a:solidFill>
                  <a:schemeClr val="accent1"/>
                </a:solidFill>
              </a:rPr>
              <a:t>DEPOSITS</a:t>
            </a:r>
            <a:endParaRPr lang="en-US" sz="1000" dirty="0"/>
          </a:p>
        </p:txBody>
      </p:sp>
      <p:sp>
        <p:nvSpPr>
          <p:cNvPr id="11" name="Text 9"/>
          <p:cNvSpPr txBox="1"/>
          <p:nvPr/>
        </p:nvSpPr>
        <p:spPr>
          <a:xfrm>
            <a:off x="4892040" y="1764792"/>
            <a:ext cx="1737360" cy="822960"/>
          </a:xfrm>
          <a:prstGeom prst="rect">
            <a:avLst/>
          </a:prstGeom>
          <a:noFill/>
          <a:ln/>
        </p:spPr>
        <p:txBody>
          <a:bodyPr wrap="square" lIns="635" tIns="635" rIns="635" bIns="635" rtlCol="0" anchor="t"/>
          <a:lstStyle/>
          <a:p>
            <a:pPr indent="0" marL="0">
              <a:buNone/>
            </a:pPr>
            <a:r>
              <a:rPr lang="en-US" sz="1300" dirty="0">
                <a:solidFill>
                  <a:schemeClr val="tx1"/>
                </a:solidFill>
              </a:rPr>
              <a:t>No payroll deposit for 29 days</a:t>
            </a:r>
            <a:endParaRPr lang="en-US" sz="1300" dirty="0"/>
          </a:p>
        </p:txBody>
      </p:sp>
      <p:sp>
        <p:nvSpPr>
          <p:cNvPr id="12" name="Shape 10"/>
          <p:cNvSpPr/>
          <p:nvPr/>
        </p:nvSpPr>
        <p:spPr>
          <a:xfrm>
            <a:off x="548640" y="2862072"/>
            <a:ext cx="1965960" cy="1371600"/>
          </a:xfrm>
          <a:prstGeom prst="roundRect">
            <a:avLst>
              <a:gd name="adj" fmla="val 5333"/>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3" name="Text 11"/>
          <p:cNvSpPr txBox="1"/>
          <p:nvPr/>
        </p:nvSpPr>
        <p:spPr>
          <a:xfrm>
            <a:off x="685800" y="2999232"/>
            <a:ext cx="1737360" cy="274320"/>
          </a:xfrm>
          <a:prstGeom prst="rect">
            <a:avLst/>
          </a:prstGeom>
          <a:noFill/>
          <a:ln/>
        </p:spPr>
        <p:txBody>
          <a:bodyPr wrap="square" lIns="635" tIns="635" rIns="635" bIns="635" rtlCol="0" anchor="t"/>
          <a:lstStyle/>
          <a:p>
            <a:pPr indent="0" marL="0">
              <a:buNone/>
            </a:pPr>
            <a:r>
              <a:rPr lang="en-US" sz="1000" b="1" spc="100" kern="0" dirty="0">
                <a:solidFill>
                  <a:schemeClr val="accent1"/>
                </a:solidFill>
              </a:rPr>
              <a:t>COLLECTIONS</a:t>
            </a:r>
            <a:endParaRPr lang="en-US" sz="1000" dirty="0"/>
          </a:p>
        </p:txBody>
      </p:sp>
      <p:sp>
        <p:nvSpPr>
          <p:cNvPr id="14" name="Text 12"/>
          <p:cNvSpPr txBox="1"/>
          <p:nvPr/>
        </p:nvSpPr>
        <p:spPr>
          <a:xfrm>
            <a:off x="685800" y="3300984"/>
            <a:ext cx="1737360" cy="822960"/>
          </a:xfrm>
          <a:prstGeom prst="rect">
            <a:avLst/>
          </a:prstGeom>
          <a:noFill/>
          <a:ln/>
        </p:spPr>
        <p:txBody>
          <a:bodyPr wrap="square" lIns="635" tIns="635" rIns="635" bIns="635" rtlCol="0" anchor="t"/>
          <a:lstStyle/>
          <a:p>
            <a:pPr indent="0" marL="0">
              <a:buNone/>
            </a:pPr>
            <a:r>
              <a:rPr lang="en-US" sz="1300" dirty="0">
                <a:solidFill>
                  <a:schemeClr val="tx1"/>
                </a:solidFill>
              </a:rPr>
              <a:t>Promise of $1,000 broken on 15 Sep</a:t>
            </a:r>
            <a:endParaRPr lang="en-US" sz="1300" dirty="0"/>
          </a:p>
        </p:txBody>
      </p:sp>
      <p:sp>
        <p:nvSpPr>
          <p:cNvPr id="15" name="Shape 13"/>
          <p:cNvSpPr/>
          <p:nvPr/>
        </p:nvSpPr>
        <p:spPr>
          <a:xfrm>
            <a:off x="2651760" y="2862072"/>
            <a:ext cx="1965960" cy="1371600"/>
          </a:xfrm>
          <a:prstGeom prst="roundRect">
            <a:avLst>
              <a:gd name="adj" fmla="val 5333"/>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2788920" y="2999232"/>
            <a:ext cx="1737360" cy="274320"/>
          </a:xfrm>
          <a:prstGeom prst="rect">
            <a:avLst/>
          </a:prstGeom>
          <a:noFill/>
          <a:ln/>
        </p:spPr>
        <p:txBody>
          <a:bodyPr wrap="square" lIns="635" tIns="635" rIns="635" bIns="635" rtlCol="0" anchor="t"/>
          <a:lstStyle/>
          <a:p>
            <a:pPr indent="0" marL="0">
              <a:buNone/>
            </a:pPr>
            <a:r>
              <a:rPr lang="en-US" sz="1000" b="1" spc="100" kern="0" dirty="0">
                <a:solidFill>
                  <a:schemeClr val="accent1"/>
                </a:solidFill>
              </a:rPr>
              <a:t>CRM</a:t>
            </a:r>
            <a:endParaRPr lang="en-US" sz="1000" dirty="0"/>
          </a:p>
        </p:txBody>
      </p:sp>
      <p:sp>
        <p:nvSpPr>
          <p:cNvPr id="17" name="Text 15"/>
          <p:cNvSpPr txBox="1"/>
          <p:nvPr/>
        </p:nvSpPr>
        <p:spPr>
          <a:xfrm>
            <a:off x="2788920" y="3300984"/>
            <a:ext cx="1737360" cy="822960"/>
          </a:xfrm>
          <a:prstGeom prst="rect">
            <a:avLst/>
          </a:prstGeom>
          <a:noFill/>
          <a:ln/>
        </p:spPr>
        <p:txBody>
          <a:bodyPr wrap="square" lIns="635" tIns="635" rIns="635" bIns="635" rtlCol="0" anchor="t"/>
          <a:lstStyle/>
          <a:p>
            <a:pPr indent="0" marL="0">
              <a:buNone/>
            </a:pPr>
            <a:r>
              <a:rPr lang="en-US" sz="1300" dirty="0">
                <a:solidFill>
                  <a:schemeClr val="tx1"/>
                </a:solidFill>
              </a:rPr>
              <a:t>Hourly-wage customer since 2016</a:t>
            </a:r>
            <a:endParaRPr lang="en-US" sz="1300" dirty="0"/>
          </a:p>
        </p:txBody>
      </p:sp>
      <p:sp>
        <p:nvSpPr>
          <p:cNvPr id="18" name="Shape 16"/>
          <p:cNvSpPr/>
          <p:nvPr/>
        </p:nvSpPr>
        <p:spPr>
          <a:xfrm>
            <a:off x="4754880" y="2862072"/>
            <a:ext cx="1965960" cy="1371600"/>
          </a:xfrm>
          <a:prstGeom prst="roundRect">
            <a:avLst>
              <a:gd name="adj" fmla="val 5333"/>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9" name="Text 17"/>
          <p:cNvSpPr txBox="1"/>
          <p:nvPr/>
        </p:nvSpPr>
        <p:spPr>
          <a:xfrm>
            <a:off x="4892040" y="2999232"/>
            <a:ext cx="1737360" cy="274320"/>
          </a:xfrm>
          <a:prstGeom prst="rect">
            <a:avLst/>
          </a:prstGeom>
          <a:noFill/>
          <a:ln/>
        </p:spPr>
        <p:txBody>
          <a:bodyPr wrap="square" lIns="635" tIns="635" rIns="635" bIns="635" rtlCol="0" anchor="t"/>
          <a:lstStyle/>
          <a:p>
            <a:pPr indent="0" marL="0">
              <a:buNone/>
            </a:pPr>
            <a:r>
              <a:rPr lang="en-US" sz="1000" b="1" spc="100" kern="0" dirty="0">
                <a:solidFill>
                  <a:schemeClr val="accent1"/>
                </a:solidFill>
              </a:rPr>
              <a:t>CONTACT HISTORY</a:t>
            </a:r>
            <a:endParaRPr lang="en-US" sz="1000" dirty="0"/>
          </a:p>
        </p:txBody>
      </p:sp>
      <p:sp>
        <p:nvSpPr>
          <p:cNvPr id="20" name="Text 18"/>
          <p:cNvSpPr txBox="1"/>
          <p:nvPr/>
        </p:nvSpPr>
        <p:spPr>
          <a:xfrm>
            <a:off x="4892040" y="3300984"/>
            <a:ext cx="1737360" cy="822960"/>
          </a:xfrm>
          <a:prstGeom prst="rect">
            <a:avLst/>
          </a:prstGeom>
          <a:noFill/>
          <a:ln/>
        </p:spPr>
        <p:txBody>
          <a:bodyPr wrap="square" lIns="635" tIns="635" rIns="635" bIns="635" rtlCol="0" anchor="t"/>
          <a:lstStyle/>
          <a:p>
            <a:pPr indent="0" marL="0">
              <a:buNone/>
            </a:pPr>
            <a:r>
              <a:rPr lang="en-US" sz="1300" dirty="0">
                <a:solidFill>
                  <a:schemeClr val="tx1"/>
                </a:solidFill>
              </a:rPr>
              <a:t>SMS reminder delivered, no response</a:t>
            </a:r>
            <a:endParaRPr lang="en-US" sz="1300" dirty="0"/>
          </a:p>
        </p:txBody>
      </p:sp>
      <p:sp>
        <p:nvSpPr>
          <p:cNvPr id="21" name="Shape 19"/>
          <p:cNvSpPr/>
          <p:nvPr/>
        </p:nvSpPr>
        <p:spPr>
          <a:xfrm>
            <a:off x="548640" y="4398264"/>
            <a:ext cx="1965960" cy="1371600"/>
          </a:xfrm>
          <a:prstGeom prst="roundRect">
            <a:avLst>
              <a:gd name="adj" fmla="val 5333"/>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2" name="Text 20"/>
          <p:cNvSpPr txBox="1"/>
          <p:nvPr/>
        </p:nvSpPr>
        <p:spPr>
          <a:xfrm>
            <a:off x="685800" y="4535424"/>
            <a:ext cx="1737360" cy="274320"/>
          </a:xfrm>
          <a:prstGeom prst="rect">
            <a:avLst/>
          </a:prstGeom>
          <a:noFill/>
          <a:ln/>
        </p:spPr>
        <p:txBody>
          <a:bodyPr wrap="square" lIns="635" tIns="635" rIns="635" bIns="635" rtlCol="0" anchor="t"/>
          <a:lstStyle/>
          <a:p>
            <a:pPr indent="0" marL="0">
              <a:buNone/>
            </a:pPr>
            <a:r>
              <a:rPr lang="en-US" sz="1000" b="1" spc="100" kern="0" dirty="0">
                <a:solidFill>
                  <a:schemeClr val="accent1"/>
                </a:solidFill>
              </a:rPr>
              <a:t>AGENT NOTES</a:t>
            </a:r>
            <a:endParaRPr lang="en-US" sz="1000" dirty="0"/>
          </a:p>
        </p:txBody>
      </p:sp>
      <p:sp>
        <p:nvSpPr>
          <p:cNvPr id="23" name="Text 21"/>
          <p:cNvSpPr txBox="1"/>
          <p:nvPr/>
        </p:nvSpPr>
        <p:spPr>
          <a:xfrm>
            <a:off x="685800" y="4837176"/>
            <a:ext cx="1737360" cy="822960"/>
          </a:xfrm>
          <a:prstGeom prst="rect">
            <a:avLst/>
          </a:prstGeom>
          <a:noFill/>
          <a:ln/>
        </p:spPr>
        <p:txBody>
          <a:bodyPr wrap="square" lIns="635" tIns="635" rIns="635" bIns="635" rtlCol="0" anchor="t"/>
          <a:lstStyle/>
          <a:p>
            <a:pPr indent="0" marL="0">
              <a:buNone/>
            </a:pPr>
            <a:r>
              <a:rPr lang="en-US" sz="1300" dirty="0">
                <a:solidFill>
                  <a:schemeClr val="tx1"/>
                </a:solidFill>
              </a:rPr>
              <a:t>Asked about options, sounded anxious</a:t>
            </a:r>
            <a:endParaRPr lang="en-US" sz="1300" dirty="0"/>
          </a:p>
        </p:txBody>
      </p:sp>
      <p:sp>
        <p:nvSpPr>
          <p:cNvPr id="24" name="Shape 22"/>
          <p:cNvSpPr/>
          <p:nvPr/>
        </p:nvSpPr>
        <p:spPr>
          <a:xfrm>
            <a:off x="2651760" y="4398264"/>
            <a:ext cx="1965960" cy="1371600"/>
          </a:xfrm>
          <a:prstGeom prst="roundRect">
            <a:avLst>
              <a:gd name="adj" fmla="val 5333"/>
            </a:avLst>
          </a:prstGeom>
          <a:solidFill>
            <a:schemeClr val="bg2"/>
          </a:solidFill>
          <a:ln w="19050">
            <a:solidFill>
              <a:schemeClr val="accent1"/>
            </a:solidFill>
            <a:prstDash val="solid"/>
          </a:ln>
          <a:effectLst>
            <a:outerShdw sx="100000" sy="100000" kx="0" ky="0" algn="bl" rotWithShape="0" blurRad="101600" dist="25400" dir="5400000">
              <a:srgbClr val="000000">
                <a:alpha val="12000"/>
              </a:srgbClr>
            </a:outerShdw>
          </a:effectLst>
        </p:spPr>
      </p:sp>
      <p:sp>
        <p:nvSpPr>
          <p:cNvPr id="25" name="Text 23"/>
          <p:cNvSpPr txBox="1"/>
          <p:nvPr/>
        </p:nvSpPr>
        <p:spPr>
          <a:xfrm>
            <a:off x="2788920" y="4535424"/>
            <a:ext cx="1737360" cy="274320"/>
          </a:xfrm>
          <a:prstGeom prst="rect">
            <a:avLst/>
          </a:prstGeom>
          <a:noFill/>
          <a:ln/>
        </p:spPr>
        <p:txBody>
          <a:bodyPr wrap="square" lIns="635" tIns="635" rIns="635" bIns="635" rtlCol="0" anchor="t"/>
          <a:lstStyle/>
          <a:p>
            <a:pPr indent="0" marL="0">
              <a:buNone/>
            </a:pPr>
            <a:r>
              <a:rPr lang="en-US" sz="1000" b="1" spc="100" kern="0" dirty="0">
                <a:solidFill>
                  <a:schemeClr val="accent1"/>
                </a:solidFill>
              </a:rPr>
              <a:t>CALL TRANSCRIPTS</a:t>
            </a:r>
            <a:endParaRPr lang="en-US" sz="1000" dirty="0"/>
          </a:p>
        </p:txBody>
      </p:sp>
      <p:sp>
        <p:nvSpPr>
          <p:cNvPr id="26" name="Text 24"/>
          <p:cNvSpPr txBox="1"/>
          <p:nvPr/>
        </p:nvSpPr>
        <p:spPr>
          <a:xfrm>
            <a:off x="2788920" y="4837176"/>
            <a:ext cx="1737360" cy="822960"/>
          </a:xfrm>
          <a:prstGeom prst="rect">
            <a:avLst/>
          </a:prstGeom>
          <a:noFill/>
          <a:ln/>
        </p:spPr>
        <p:txBody>
          <a:bodyPr wrap="square" lIns="635" tIns="635" rIns="635" bIns="635" rtlCol="0" anchor="t"/>
          <a:lstStyle/>
          <a:p>
            <a:pPr indent="0" marL="0">
              <a:buNone/>
            </a:pPr>
            <a:r>
              <a:rPr lang="en-US" sz="1300" dirty="0">
                <a:solidFill>
                  <a:schemeClr val="tx1"/>
                </a:solidFill>
              </a:rPr>
              <a:t>"Shifts at the plant got cut in August"</a:t>
            </a:r>
            <a:endParaRPr lang="en-US" sz="1300" dirty="0"/>
          </a:p>
        </p:txBody>
      </p:sp>
      <p:sp>
        <p:nvSpPr>
          <p:cNvPr id="27" name="Shape 25"/>
          <p:cNvSpPr/>
          <p:nvPr/>
        </p:nvSpPr>
        <p:spPr>
          <a:xfrm>
            <a:off x="4754880" y="4398264"/>
            <a:ext cx="1965960" cy="1371600"/>
          </a:xfrm>
          <a:prstGeom prst="roundRect">
            <a:avLst>
              <a:gd name="adj" fmla="val 5333"/>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8" name="Text 26"/>
          <p:cNvSpPr txBox="1"/>
          <p:nvPr/>
        </p:nvSpPr>
        <p:spPr>
          <a:xfrm>
            <a:off x="4892040" y="4535424"/>
            <a:ext cx="1737360" cy="274320"/>
          </a:xfrm>
          <a:prstGeom prst="rect">
            <a:avLst/>
          </a:prstGeom>
          <a:noFill/>
          <a:ln/>
        </p:spPr>
        <p:txBody>
          <a:bodyPr wrap="square" lIns="635" tIns="635" rIns="635" bIns="635" rtlCol="0" anchor="t"/>
          <a:lstStyle/>
          <a:p>
            <a:pPr indent="0" marL="0">
              <a:buNone/>
            </a:pPr>
            <a:r>
              <a:rPr lang="en-US" sz="1000" b="1" spc="100" kern="0" dirty="0">
                <a:solidFill>
                  <a:schemeClr val="accent1"/>
                </a:solidFill>
              </a:rPr>
              <a:t>BUREAU</a:t>
            </a:r>
            <a:endParaRPr lang="en-US" sz="1000" dirty="0"/>
          </a:p>
        </p:txBody>
      </p:sp>
      <p:sp>
        <p:nvSpPr>
          <p:cNvPr id="29" name="Text 27"/>
          <p:cNvSpPr txBox="1"/>
          <p:nvPr/>
        </p:nvSpPr>
        <p:spPr>
          <a:xfrm>
            <a:off x="4892040" y="4837176"/>
            <a:ext cx="1737360" cy="822960"/>
          </a:xfrm>
          <a:prstGeom prst="rect">
            <a:avLst/>
          </a:prstGeom>
          <a:noFill/>
          <a:ln/>
        </p:spPr>
        <p:txBody>
          <a:bodyPr wrap="square" lIns="635" tIns="635" rIns="635" bIns="635" rtlCol="0" anchor="t"/>
          <a:lstStyle/>
          <a:p>
            <a:pPr indent="0" marL="0">
              <a:buNone/>
            </a:pPr>
            <a:r>
              <a:rPr lang="en-US" sz="1300" dirty="0">
                <a:solidFill>
                  <a:schemeClr val="tx1"/>
                </a:solidFill>
              </a:rPr>
              <a:t>Two new credit inquiries</a:t>
            </a:r>
            <a:endParaRPr lang="en-US" sz="1300" dirty="0"/>
          </a:p>
        </p:txBody>
      </p:sp>
      <p:sp>
        <p:nvSpPr>
          <p:cNvPr id="30" name="Text 28"/>
          <p:cNvSpPr txBox="1"/>
          <p:nvPr/>
        </p:nvSpPr>
        <p:spPr>
          <a:xfrm>
            <a:off x="548640" y="5943600"/>
            <a:ext cx="6172200" cy="411480"/>
          </a:xfrm>
          <a:prstGeom prst="rect">
            <a:avLst/>
          </a:prstGeom>
          <a:noFill/>
          <a:ln/>
        </p:spPr>
        <p:txBody>
          <a:bodyPr wrap="square" lIns="635" tIns="635" rIns="635" bIns="635" rtlCol="0" anchor="t"/>
          <a:lstStyle/>
          <a:p>
            <a:pPr indent="0" marL="0">
              <a:buNone/>
            </a:pPr>
            <a:r>
              <a:rPr lang="en-US" sz="1000" i="1" dirty="0">
                <a:solidFill>
                  <a:schemeClr val="accent4"/>
                </a:solidFill>
              </a:rPr>
              <a:t>R. Mitchell, a synthetic customer from our mock data. The two highlighted clues explain everything, and no one sees them together.</a:t>
            </a:r>
            <a:endParaRPr lang="en-US" sz="1000" dirty="0"/>
          </a:p>
        </p:txBody>
      </p:sp>
      <p:sp>
        <p:nvSpPr>
          <p:cNvPr id="31" name="Shape 29"/>
          <p:cNvSpPr/>
          <p:nvPr/>
        </p:nvSpPr>
        <p:spPr>
          <a:xfrm>
            <a:off x="7178040" y="1417320"/>
            <a:ext cx="566928" cy="566928"/>
          </a:xfrm>
          <a:prstGeom prst="ellipse">
            <a:avLst/>
          </a:prstGeom>
          <a:solidFill>
            <a:schemeClr val="accent1"/>
          </a:solidFill>
          <a:ln w="12700">
            <a:solidFill>
              <a:schemeClr val="accent1"/>
            </a:solidFill>
            <a:prstDash val="solid"/>
          </a:ln>
        </p:spPr>
      </p:sp>
      <p:pic>
        <p:nvPicPr>
          <p:cNvPr id="32" name="Image 0" descr="preencoded.png">    </p:cNvPr>
          <p:cNvPicPr>
            <a:picLocks noChangeAspect="1"/>
          </p:cNvPicPr>
          <p:nvPr/>
        </p:nvPicPr>
        <p:blipFill>
          <a:blip r:embed="rId1"/>
          <a:stretch>
            <a:fillRect/>
          </a:stretch>
        </p:blipFill>
        <p:spPr>
          <a:xfrm>
            <a:off x="7302764" y="1542044"/>
            <a:ext cx="317480" cy="317480"/>
          </a:xfrm>
          <a:prstGeom prst="rect">
            <a:avLst/>
          </a:prstGeom>
        </p:spPr>
      </p:pic>
      <p:sp>
        <p:nvSpPr>
          <p:cNvPr id="33" name="Text 30"/>
          <p:cNvSpPr txBox="1"/>
          <p:nvPr/>
        </p:nvSpPr>
        <p:spPr>
          <a:xfrm>
            <a:off x="7909560" y="1371600"/>
            <a:ext cx="3703320" cy="365760"/>
          </a:xfrm>
          <a:prstGeom prst="rect">
            <a:avLst/>
          </a:prstGeom>
          <a:noFill/>
          <a:ln/>
        </p:spPr>
        <p:txBody>
          <a:bodyPr wrap="square" lIns="635" tIns="635" rIns="635" bIns="635" rtlCol="0" anchor="t"/>
          <a:lstStyle/>
          <a:p>
            <a:pPr indent="0" marL="0">
              <a:buNone/>
            </a:pPr>
            <a:r>
              <a:rPr lang="en-US" sz="1800" b="1" dirty="0">
                <a:solidFill>
                  <a:schemeClr val="tx2"/>
                </a:solidFill>
                <a:latin typeface="Cambria" pitchFamily="34" charset="0"/>
                <a:ea typeface="Cambria" pitchFamily="34" charset="-122"/>
                <a:cs typeface="Cambria" pitchFamily="34" charset="-120"/>
              </a:rPr>
              <a:t>Fragmented</a:t>
            </a:r>
            <a:endParaRPr lang="en-US" sz="1800" dirty="0"/>
          </a:p>
        </p:txBody>
      </p:sp>
      <p:sp>
        <p:nvSpPr>
          <p:cNvPr id="34" name="Text 31"/>
          <p:cNvSpPr txBox="1"/>
          <p:nvPr/>
        </p:nvSpPr>
        <p:spPr>
          <a:xfrm>
            <a:off x="7909560" y="1764792"/>
            <a:ext cx="3703320" cy="868680"/>
          </a:xfrm>
          <a:prstGeom prst="rect">
            <a:avLst/>
          </a:prstGeom>
          <a:noFill/>
          <a:ln/>
        </p:spPr>
        <p:txBody>
          <a:bodyPr wrap="square" lIns="635" tIns="635" rIns="635" bIns="635" rtlCol="0" anchor="t"/>
          <a:lstStyle/>
          <a:p>
            <a:pPr indent="0" marL="0">
              <a:buNone/>
            </a:pPr>
            <a:r>
              <a:rPr lang="en-US" sz="1300" dirty="0">
                <a:solidFill>
                  <a:schemeClr val="tx1"/>
                </a:solidFill>
              </a:rPr>
              <a:t>The agent toggles between systems. The hardship clue is buried in a call transcript.</a:t>
            </a:r>
            <a:endParaRPr lang="en-US" sz="1300" dirty="0"/>
          </a:p>
        </p:txBody>
      </p:sp>
      <p:sp>
        <p:nvSpPr>
          <p:cNvPr id="35" name="Shape 32"/>
          <p:cNvSpPr/>
          <p:nvPr/>
        </p:nvSpPr>
        <p:spPr>
          <a:xfrm>
            <a:off x="7178040" y="2926080"/>
            <a:ext cx="566928" cy="566928"/>
          </a:xfrm>
          <a:prstGeom prst="ellipse">
            <a:avLst/>
          </a:prstGeom>
          <a:solidFill>
            <a:schemeClr val="accent1"/>
          </a:solidFill>
          <a:ln w="12700">
            <a:solidFill>
              <a:schemeClr val="accent1"/>
            </a:solidFill>
            <a:prstDash val="solid"/>
          </a:ln>
        </p:spPr>
      </p:sp>
      <p:pic>
        <p:nvPicPr>
          <p:cNvPr id="36" name="Image 1" descr="preencoded.png">    </p:cNvPr>
          <p:cNvPicPr>
            <a:picLocks noChangeAspect="1"/>
          </p:cNvPicPr>
          <p:nvPr/>
        </p:nvPicPr>
        <p:blipFill>
          <a:blip r:embed="rId2"/>
          <a:stretch>
            <a:fillRect/>
          </a:stretch>
        </p:blipFill>
        <p:spPr>
          <a:xfrm>
            <a:off x="7302764" y="3050804"/>
            <a:ext cx="317480" cy="317480"/>
          </a:xfrm>
          <a:prstGeom prst="rect">
            <a:avLst/>
          </a:prstGeom>
        </p:spPr>
      </p:pic>
      <p:sp>
        <p:nvSpPr>
          <p:cNvPr id="37" name="Text 33"/>
          <p:cNvSpPr txBox="1"/>
          <p:nvPr/>
        </p:nvSpPr>
        <p:spPr>
          <a:xfrm>
            <a:off x="7909560" y="2880360"/>
            <a:ext cx="3703320" cy="365760"/>
          </a:xfrm>
          <a:prstGeom prst="rect">
            <a:avLst/>
          </a:prstGeom>
          <a:noFill/>
          <a:ln/>
        </p:spPr>
        <p:txBody>
          <a:bodyPr wrap="square" lIns="635" tIns="635" rIns="635" bIns="635" rtlCol="0" anchor="t"/>
          <a:lstStyle/>
          <a:p>
            <a:pPr indent="0" marL="0">
              <a:buNone/>
            </a:pPr>
            <a:r>
              <a:rPr lang="en-US" sz="1800" b="1" dirty="0">
                <a:solidFill>
                  <a:schemeClr val="tx2"/>
                </a:solidFill>
                <a:latin typeface="Cambria" pitchFamily="34" charset="0"/>
                <a:ea typeface="Cambria" pitchFamily="34" charset="-122"/>
                <a:cs typeface="Cambria" pitchFamily="34" charset="-120"/>
              </a:rPr>
              <a:t>Slow insight</a:t>
            </a:r>
            <a:endParaRPr lang="en-US" sz="1800" dirty="0"/>
          </a:p>
        </p:txBody>
      </p:sp>
      <p:sp>
        <p:nvSpPr>
          <p:cNvPr id="38" name="Text 34"/>
          <p:cNvSpPr txBox="1"/>
          <p:nvPr/>
        </p:nvSpPr>
        <p:spPr>
          <a:xfrm>
            <a:off x="7909560" y="3273552"/>
            <a:ext cx="3703320" cy="868680"/>
          </a:xfrm>
          <a:prstGeom prst="rect">
            <a:avLst/>
          </a:prstGeom>
          <a:noFill/>
          <a:ln/>
        </p:spPr>
        <p:txBody>
          <a:bodyPr wrap="square" lIns="635" tIns="635" rIns="635" bIns="635" rtlCol="0" anchor="t"/>
          <a:lstStyle/>
          <a:p>
            <a:pPr indent="0" marL="0">
              <a:buNone/>
            </a:pPr>
            <a:r>
              <a:rPr lang="en-US" sz="1300" dirty="0">
                <a:solidFill>
                  <a:schemeClr val="tx1"/>
                </a:solidFill>
              </a:rPr>
              <a:t>"Who will break a promise this week?" becomes a data request that takes days.</a:t>
            </a:r>
            <a:endParaRPr lang="en-US" sz="1300" dirty="0"/>
          </a:p>
        </p:txBody>
      </p:sp>
      <p:sp>
        <p:nvSpPr>
          <p:cNvPr id="39" name="Shape 35"/>
          <p:cNvSpPr/>
          <p:nvPr/>
        </p:nvSpPr>
        <p:spPr>
          <a:xfrm>
            <a:off x="7178040" y="4434840"/>
            <a:ext cx="566928" cy="566928"/>
          </a:xfrm>
          <a:prstGeom prst="ellipse">
            <a:avLst/>
          </a:prstGeom>
          <a:solidFill>
            <a:schemeClr val="accent3"/>
          </a:solidFill>
          <a:ln w="12700">
            <a:solidFill>
              <a:schemeClr val="accent3"/>
            </a:solidFill>
            <a:prstDash val="solid"/>
          </a:ln>
        </p:spPr>
      </p:sp>
      <p:pic>
        <p:nvPicPr>
          <p:cNvPr id="40" name="Image 2" descr="preencoded.png">    </p:cNvPr>
          <p:cNvPicPr>
            <a:picLocks noChangeAspect="1"/>
          </p:cNvPicPr>
          <p:nvPr/>
        </p:nvPicPr>
        <p:blipFill>
          <a:blip r:embed="rId3"/>
          <a:stretch>
            <a:fillRect/>
          </a:stretch>
        </p:blipFill>
        <p:spPr>
          <a:xfrm>
            <a:off x="7302764" y="4559564"/>
            <a:ext cx="317480" cy="317480"/>
          </a:xfrm>
          <a:prstGeom prst="rect">
            <a:avLst/>
          </a:prstGeom>
        </p:spPr>
      </p:pic>
      <p:sp>
        <p:nvSpPr>
          <p:cNvPr id="41" name="Text 36"/>
          <p:cNvSpPr txBox="1"/>
          <p:nvPr/>
        </p:nvSpPr>
        <p:spPr>
          <a:xfrm>
            <a:off x="7909560" y="4389120"/>
            <a:ext cx="3703320" cy="365760"/>
          </a:xfrm>
          <a:prstGeom prst="rect">
            <a:avLst/>
          </a:prstGeom>
          <a:noFill/>
          <a:ln/>
        </p:spPr>
        <p:txBody>
          <a:bodyPr wrap="square" lIns="635" tIns="635" rIns="635" bIns="635" rtlCol="0" anchor="t"/>
          <a:lstStyle/>
          <a:p>
            <a:pPr indent="0" marL="0">
              <a:buNone/>
            </a:pPr>
            <a:r>
              <a:rPr lang="en-US" sz="1800" b="1" dirty="0">
                <a:solidFill>
                  <a:schemeClr val="tx2"/>
                </a:solidFill>
                <a:latin typeface="Cambria" pitchFamily="34" charset="0"/>
                <a:ea typeface="Cambria" pitchFamily="34" charset="-122"/>
                <a:cs typeface="Cambria" pitchFamily="34" charset="-120"/>
              </a:rPr>
              <a:t>Generic pressure</a:t>
            </a:r>
            <a:endParaRPr lang="en-US" sz="1800" dirty="0"/>
          </a:p>
        </p:txBody>
      </p:sp>
      <p:sp>
        <p:nvSpPr>
          <p:cNvPr id="42" name="Text 37"/>
          <p:cNvSpPr txBox="1"/>
          <p:nvPr/>
        </p:nvSpPr>
        <p:spPr>
          <a:xfrm>
            <a:off x="7909560" y="4782312"/>
            <a:ext cx="3703320" cy="868680"/>
          </a:xfrm>
          <a:prstGeom prst="rect">
            <a:avLst/>
          </a:prstGeom>
          <a:noFill/>
          <a:ln/>
        </p:spPr>
        <p:txBody>
          <a:bodyPr wrap="square" lIns="635" tIns="635" rIns="635" bIns="635" rtlCol="0" anchor="t"/>
          <a:lstStyle/>
          <a:p>
            <a:pPr indent="0" marL="0">
              <a:buNone/>
            </a:pPr>
            <a:r>
              <a:rPr lang="en-US" sz="1300" dirty="0">
                <a:solidFill>
                  <a:schemeClr val="tx1"/>
                </a:solidFill>
              </a:rPr>
              <a:t>He gets the same reminders and calls as a customer who simply won't pay.</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Can't pay is not won't pay</a:t>
            </a:r>
            <a:endParaRPr lang="en-US" sz="3600" dirty="0"/>
          </a:p>
        </p:txBody>
      </p:sp>
      <p:sp>
        <p:nvSpPr>
          <p:cNvPr id="3" name="Text 1"/>
          <p:cNvSpPr txBox="1"/>
          <p:nvPr/>
        </p:nvSpPr>
        <p:spPr>
          <a:xfrm>
            <a:off x="731520" y="1463040"/>
            <a:ext cx="10515600" cy="822960"/>
          </a:xfrm>
          <a:prstGeom prst="rect">
            <a:avLst/>
          </a:prstGeom>
          <a:noFill/>
          <a:ln/>
        </p:spPr>
        <p:txBody>
          <a:bodyPr wrap="square" lIns="635" tIns="635" rIns="635" bIns="635" rtlCol="0" anchor="t"/>
          <a:lstStyle/>
          <a:p>
            <a:pPr indent="0" marL="0">
              <a:buNone/>
            </a:pPr>
            <a:r>
              <a:rPr lang="en-US" sz="1800" dirty="0">
                <a:solidFill>
                  <a:schemeClr val="bg1"/>
                </a:solidFill>
              </a:rPr>
              <a:t>Collections systems answer "who should we chase?". The better question, and the one the brief's own data can answer, is "what can this customer pay, and when?"</a:t>
            </a:r>
            <a:endParaRPr lang="en-US" sz="1800" dirty="0"/>
          </a:p>
        </p:txBody>
      </p:sp>
      <p:sp>
        <p:nvSpPr>
          <p:cNvPr id="4" name="Shape 2"/>
          <p:cNvSpPr/>
          <p:nvPr/>
        </p:nvSpPr>
        <p:spPr>
          <a:xfrm>
            <a:off x="731520" y="2606040"/>
            <a:ext cx="5120640" cy="3017520"/>
          </a:xfrm>
          <a:prstGeom prst="roundRect">
            <a:avLst>
              <a:gd name="adj" fmla="val 2424"/>
            </a:avLst>
          </a:prstGeom>
          <a:solidFill>
            <a:schemeClr val="bg1">
              <a:alpha val="8000"/>
            </a:schemeClr>
          </a:solidFill>
          <a:ln w="19050">
            <a:solidFill>
              <a:schemeClr val="accent3"/>
            </a:solidFill>
            <a:prstDash val="solid"/>
          </a:ln>
        </p:spPr>
      </p:sp>
      <p:sp>
        <p:nvSpPr>
          <p:cNvPr id="5" name="Text 3"/>
          <p:cNvSpPr txBox="1"/>
          <p:nvPr/>
        </p:nvSpPr>
        <p:spPr>
          <a:xfrm>
            <a:off x="1005840" y="2788920"/>
            <a:ext cx="4572000" cy="457200"/>
          </a:xfrm>
          <a:prstGeom prst="rect">
            <a:avLst/>
          </a:prstGeom>
          <a:noFill/>
          <a:ln/>
        </p:spPr>
        <p:txBody>
          <a:bodyPr wrap="square" lIns="635" tIns="635" rIns="635" bIns="635" rtlCol="0" anchor="t"/>
          <a:lstStyle/>
          <a:p>
            <a:pPr indent="0" marL="0">
              <a:buNone/>
            </a:pPr>
            <a:r>
              <a:rPr lang="en-US" sz="1700" b="1" dirty="0">
                <a:solidFill>
                  <a:schemeClr val="accent3"/>
                </a:solidFill>
                <a:latin typeface="Cambria" pitchFamily="34" charset="0"/>
                <a:ea typeface="Cambria" pitchFamily="34" charset="-122"/>
                <a:cs typeface="Cambria" pitchFamily="34" charset="-120"/>
              </a:rPr>
              <a:t>Today: who should we chase?</a:t>
            </a:r>
            <a:endParaRPr lang="en-US" sz="1700" dirty="0"/>
          </a:p>
        </p:txBody>
      </p:sp>
      <p:sp>
        <p:nvSpPr>
          <p:cNvPr id="6" name="Text 4"/>
          <p:cNvSpPr txBox="1"/>
          <p:nvPr/>
        </p:nvSpPr>
        <p:spPr>
          <a:xfrm>
            <a:off x="1005840" y="3383280"/>
            <a:ext cx="4572000" cy="210312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chemeClr val="bg1"/>
                </a:solidFill>
              </a:rPr>
              <a:t>Rank customers by risk</a:t>
            </a:r>
            <a:endParaRPr lang="en-US" sz="1500" dirty="0"/>
          </a:p>
          <a:p>
            <a:pPr marL="342900" indent="-342900">
              <a:spcAft>
                <a:spcPts val="800"/>
              </a:spcAft>
              <a:buSzPct val="100000"/>
              <a:buChar char="•"/>
            </a:pPr>
            <a:r>
              <a:rPr lang="en-US" sz="1500" dirty="0">
                <a:solidFill>
                  <a:schemeClr val="bg1"/>
                </a:solidFill>
              </a:rPr>
              <a:t>Push hardest on the riskiest</a:t>
            </a:r>
            <a:endParaRPr lang="en-US" sz="1500" dirty="0"/>
          </a:p>
          <a:p>
            <a:pPr marL="342900" indent="-342900">
              <a:spcAft>
                <a:spcPts val="800"/>
              </a:spcAft>
              <a:buSzPct val="100000"/>
              <a:buChar char="•"/>
            </a:pPr>
            <a:r>
              <a:rPr lang="en-US" sz="1500" dirty="0">
                <a:solidFill>
                  <a:schemeClr val="bg1"/>
                </a:solidFill>
              </a:rPr>
              <a:t>Same treatment whether they can't or won't pay</a:t>
            </a:r>
            <a:endParaRPr lang="en-US" sz="1500" dirty="0"/>
          </a:p>
          <a:p>
            <a:pPr marL="342900" indent="-342900">
              <a:spcAft>
                <a:spcPts val="800"/>
              </a:spcAft>
              <a:buSzPct val="100000"/>
              <a:buChar char="•"/>
            </a:pPr>
            <a:r>
              <a:rPr lang="en-US" sz="1500" dirty="0">
                <a:solidFill>
                  <a:schemeClr val="bg1"/>
                </a:solidFill>
              </a:rPr>
              <a:t>Result: broken promises, rolls to worse buckets, fairness risk</a:t>
            </a:r>
            <a:endParaRPr lang="en-US" sz="1500" dirty="0"/>
          </a:p>
        </p:txBody>
      </p:sp>
      <p:sp>
        <p:nvSpPr>
          <p:cNvPr id="7" name="Shape 5"/>
          <p:cNvSpPr/>
          <p:nvPr/>
        </p:nvSpPr>
        <p:spPr>
          <a:xfrm>
            <a:off x="6217920" y="2606040"/>
            <a:ext cx="5120640" cy="3017520"/>
          </a:xfrm>
          <a:prstGeom prst="roundRect">
            <a:avLst>
              <a:gd name="adj" fmla="val 2424"/>
            </a:avLst>
          </a:prstGeom>
          <a:solidFill>
            <a:schemeClr val="bg1">
              <a:alpha val="8000"/>
            </a:schemeClr>
          </a:solidFill>
          <a:ln w="19050">
            <a:solidFill>
              <a:schemeClr val="accent2"/>
            </a:solidFill>
            <a:prstDash val="solid"/>
          </a:ln>
        </p:spPr>
      </p:sp>
      <p:sp>
        <p:nvSpPr>
          <p:cNvPr id="8" name="Text 6"/>
          <p:cNvSpPr txBox="1"/>
          <p:nvPr/>
        </p:nvSpPr>
        <p:spPr>
          <a:xfrm>
            <a:off x="6492240" y="2788920"/>
            <a:ext cx="4572000" cy="457200"/>
          </a:xfrm>
          <a:prstGeom prst="rect">
            <a:avLst/>
          </a:prstGeom>
          <a:noFill/>
          <a:ln/>
        </p:spPr>
        <p:txBody>
          <a:bodyPr wrap="square" lIns="635" tIns="635" rIns="635" bIns="635" rtlCol="0" anchor="t"/>
          <a:lstStyle/>
          <a:p>
            <a:pPr indent="0" marL="0">
              <a:buNone/>
            </a:pPr>
            <a:r>
              <a:rPr lang="en-US" sz="1700" b="1" dirty="0">
                <a:solidFill>
                  <a:schemeClr val="accent2"/>
                </a:solidFill>
                <a:latin typeface="Cambria" pitchFamily="34" charset="0"/>
                <a:ea typeface="Cambria" pitchFamily="34" charset="-122"/>
                <a:cs typeface="Cambria" pitchFamily="34" charset="-120"/>
              </a:rPr>
              <a:t>Resolve360: what can they pay, and when?</a:t>
            </a:r>
            <a:endParaRPr lang="en-US" sz="1700" dirty="0"/>
          </a:p>
        </p:txBody>
      </p:sp>
      <p:sp>
        <p:nvSpPr>
          <p:cNvPr id="9" name="Text 7"/>
          <p:cNvSpPr txBox="1"/>
          <p:nvPr/>
        </p:nvSpPr>
        <p:spPr>
          <a:xfrm>
            <a:off x="6492240" y="3383280"/>
            <a:ext cx="4572000" cy="2103120"/>
          </a:xfrm>
          <a:prstGeom prst="rect">
            <a:avLst/>
          </a:prstGeom>
          <a:noFill/>
          <a:ln/>
        </p:spPr>
        <p:txBody>
          <a:bodyPr wrap="square" lIns="635" tIns="635" rIns="635" bIns="635" rtlCol="0" anchor="t"/>
          <a:lstStyle/>
          <a:p>
            <a:pPr marL="342900" indent="-342900">
              <a:spcAft>
                <a:spcPts val="800"/>
              </a:spcAft>
              <a:buSzPct val="100000"/>
              <a:buChar char="•"/>
            </a:pPr>
            <a:r>
              <a:rPr lang="en-US" sz="1500" dirty="0">
                <a:solidFill>
                  <a:schemeClr val="bg1"/>
                </a:solidFill>
              </a:rPr>
              <a:t>Risk plus ability to pay from salary credits</a:t>
            </a:r>
            <a:endParaRPr lang="en-US" sz="1500" dirty="0"/>
          </a:p>
          <a:p>
            <a:pPr marL="342900" indent="-342900">
              <a:spcAft>
                <a:spcPts val="800"/>
              </a:spcAft>
              <a:buSzPct val="100000"/>
              <a:buChar char="•"/>
            </a:pPr>
            <a:r>
              <a:rPr lang="en-US" sz="1500" dirty="0">
                <a:solidFill>
                  <a:schemeClr val="bg1"/>
                </a:solidFill>
              </a:rPr>
              <a:t>Plan amount the customer can keep</a:t>
            </a:r>
            <a:endParaRPr lang="en-US" sz="1500" dirty="0"/>
          </a:p>
          <a:p>
            <a:pPr marL="342900" indent="-342900">
              <a:spcAft>
                <a:spcPts val="800"/>
              </a:spcAft>
              <a:buSzPct val="100000"/>
              <a:buChar char="•"/>
            </a:pPr>
            <a:r>
              <a:rPr lang="en-US" sz="1500" dirty="0">
                <a:solidFill>
                  <a:schemeClr val="bg1"/>
                </a:solidFill>
              </a:rPr>
              <a:t>Contact and due date timed to the next payday</a:t>
            </a:r>
            <a:endParaRPr lang="en-US" sz="1500" dirty="0"/>
          </a:p>
          <a:p>
            <a:pPr marL="342900" indent="-342900">
              <a:spcAft>
                <a:spcPts val="800"/>
              </a:spcAft>
              <a:buSzPct val="100000"/>
              <a:buChar char="•"/>
            </a:pPr>
            <a:r>
              <a:rPr lang="en-US" sz="1500" dirty="0">
                <a:solidFill>
                  <a:schemeClr val="bg1"/>
                </a:solidFill>
              </a:rPr>
              <a:t>Result: kept promises, fair treatment, vulnerable customers protected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Resolve360: one working slice, five differentiators</a:t>
            </a:r>
            <a:endParaRPr lang="en-US" sz="3000" dirty="0"/>
          </a:p>
        </p:txBody>
      </p:sp>
      <p:sp>
        <p:nvSpPr>
          <p:cNvPr id="3" name="Text 1"/>
          <p:cNvSpPr txBox="1"/>
          <p:nvPr/>
        </p:nvSpPr>
        <p:spPr>
          <a:xfrm>
            <a:off x="548640" y="1143000"/>
            <a:ext cx="11064240" cy="640080"/>
          </a:xfrm>
          <a:prstGeom prst="rect">
            <a:avLst/>
          </a:prstGeom>
          <a:noFill/>
          <a:ln/>
        </p:spPr>
        <p:txBody>
          <a:bodyPr wrap="square" lIns="635" tIns="635" rIns="635" bIns="635" rtlCol="0" anchor="t"/>
          <a:lstStyle/>
          <a:p>
            <a:pPr indent="0" marL="0">
              <a:buNone/>
            </a:pPr>
            <a:r>
              <a:rPr lang="en-US" sz="1500" dirty="0">
                <a:solidFill>
                  <a:schemeClr val="tx1"/>
                </a:solidFill>
              </a:rPr>
              <a:t>Collections 360  →  Ask  →  Next Best Action, with governance in every layer. Every output shows its working: SQL, lineage, citations, reasons and an audit ID.</a:t>
            </a:r>
            <a:endParaRPr lang="en-US" sz="1500" dirty="0"/>
          </a:p>
        </p:txBody>
      </p:sp>
      <p:sp>
        <p:nvSpPr>
          <p:cNvPr id="4" name="Shape 2"/>
          <p:cNvSpPr/>
          <p:nvPr/>
        </p:nvSpPr>
        <p:spPr>
          <a:xfrm>
            <a:off x="548640" y="1965960"/>
            <a:ext cx="2103120" cy="3703320"/>
          </a:xfrm>
          <a:prstGeom prst="roundRect">
            <a:avLst>
              <a:gd name="adj" fmla="val 3478"/>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5" name="Shape 3"/>
          <p:cNvSpPr/>
          <p:nvPr/>
        </p:nvSpPr>
        <p:spPr>
          <a:xfrm>
            <a:off x="731520" y="2176272"/>
            <a:ext cx="566928" cy="566928"/>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856244" y="2300996"/>
            <a:ext cx="317480" cy="317480"/>
          </a:xfrm>
          <a:prstGeom prst="rect">
            <a:avLst/>
          </a:prstGeom>
        </p:spPr>
      </p:pic>
      <p:sp>
        <p:nvSpPr>
          <p:cNvPr id="7" name="Text 4"/>
          <p:cNvSpPr txBox="1"/>
          <p:nvPr/>
        </p:nvSpPr>
        <p:spPr>
          <a:xfrm>
            <a:off x="1554480" y="2286000"/>
            <a:ext cx="914400" cy="329184"/>
          </a:xfrm>
          <a:prstGeom prst="roundRect">
            <a:avLst>
              <a:gd name="adj" fmla="val 16667"/>
            </a:avLst>
          </a:prstGeom>
          <a:solidFill>
            <a:schemeClr val="bg2"/>
          </a:solidFill>
          <a:ln>
            <a:solidFill>
              <a:schemeClr val="bg2"/>
            </a:solidFill>
          </a:ln>
        </p:spPr>
        <p:txBody>
          <a:bodyPr wrap="square" lIns="508" tIns="508" rIns="508" bIns="508" rtlCol="0" anchor="ctr"/>
          <a:lstStyle/>
          <a:p>
            <a:pPr algn="ctr" indent="0" marL="0">
              <a:buNone/>
            </a:pPr>
            <a:r>
              <a:rPr lang="en-US" sz="1000" b="1" dirty="0">
                <a:solidFill>
                  <a:schemeClr val="accent1"/>
                </a:solidFill>
              </a:rPr>
              <a:t>Layer 1</a:t>
            </a:r>
            <a:endParaRPr lang="en-US" sz="1000" dirty="0"/>
          </a:p>
        </p:txBody>
      </p:sp>
      <p:sp>
        <p:nvSpPr>
          <p:cNvPr id="8" name="Text 5"/>
          <p:cNvSpPr txBox="1"/>
          <p:nvPr/>
        </p:nvSpPr>
        <p:spPr>
          <a:xfrm>
            <a:off x="731520" y="2880360"/>
            <a:ext cx="1783080" cy="685800"/>
          </a:xfrm>
          <a:prstGeom prst="rect">
            <a:avLst/>
          </a:prstGeom>
          <a:noFill/>
          <a:ln/>
        </p:spPr>
        <p:txBody>
          <a:bodyPr wrap="square" lIns="635" tIns="635" rIns="635" bIns="635" rtlCol="0" anchor="t"/>
          <a:lstStyle/>
          <a:p>
            <a:pPr indent="0" marL="0">
              <a:buNone/>
            </a:pPr>
            <a:r>
              <a:rPr lang="en-US" sz="1600" b="1" dirty="0">
                <a:solidFill>
                  <a:schemeClr val="tx2"/>
                </a:solidFill>
                <a:latin typeface="Cambria" pitchFamily="34" charset="0"/>
                <a:ea typeface="Cambria" pitchFamily="34" charset="-122"/>
                <a:cs typeface="Cambria" pitchFamily="34" charset="-120"/>
              </a:rPr>
              <a:t>Trust score</a:t>
            </a:r>
            <a:endParaRPr lang="en-US" sz="1600" dirty="0"/>
          </a:p>
        </p:txBody>
      </p:sp>
      <p:sp>
        <p:nvSpPr>
          <p:cNvPr id="9" name="Text 6"/>
          <p:cNvSpPr txBox="1"/>
          <p:nvPr/>
        </p:nvSpPr>
        <p:spPr>
          <a:xfrm>
            <a:off x="731520" y="3611880"/>
            <a:ext cx="1783080" cy="1965960"/>
          </a:xfrm>
          <a:prstGeom prst="rect">
            <a:avLst/>
          </a:prstGeom>
          <a:noFill/>
          <a:ln/>
        </p:spPr>
        <p:txBody>
          <a:bodyPr wrap="square" lIns="635" tIns="635" rIns="635" bIns="635" rtlCol="0" anchor="t"/>
          <a:lstStyle/>
          <a:p>
            <a:pPr indent="0" marL="0">
              <a:buNone/>
            </a:pPr>
            <a:r>
              <a:rPr lang="en-US" sz="1300" dirty="0">
                <a:solidFill>
                  <a:schemeClr val="tx1"/>
                </a:solidFill>
              </a:rPr>
              <a:t>Each golden record carries a trust score from match confidence, freshness and failed checks. Low trust makes decisions ask the agent to verify first.</a:t>
            </a:r>
            <a:endParaRPr lang="en-US" sz="1300" dirty="0"/>
          </a:p>
        </p:txBody>
      </p:sp>
      <p:sp>
        <p:nvSpPr>
          <p:cNvPr id="10" name="Shape 7"/>
          <p:cNvSpPr/>
          <p:nvPr/>
        </p:nvSpPr>
        <p:spPr>
          <a:xfrm>
            <a:off x="2788920" y="1965960"/>
            <a:ext cx="2103120" cy="3703320"/>
          </a:xfrm>
          <a:prstGeom prst="roundRect">
            <a:avLst>
              <a:gd name="adj" fmla="val 3478"/>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1" name="Shape 8"/>
          <p:cNvSpPr/>
          <p:nvPr/>
        </p:nvSpPr>
        <p:spPr>
          <a:xfrm>
            <a:off x="2971800" y="2176272"/>
            <a:ext cx="566928" cy="566928"/>
          </a:xfrm>
          <a:prstGeom prst="ellipse">
            <a:avLst/>
          </a:prstGeom>
          <a:solidFill>
            <a:schemeClr val="accent1"/>
          </a:solidFill>
          <a:ln w="12700">
            <a:solidFill>
              <a:schemeClr val="accent1"/>
            </a:solidFill>
            <a:prstDash val="solid"/>
          </a:ln>
        </p:spPr>
      </p:sp>
      <p:pic>
        <p:nvPicPr>
          <p:cNvPr id="12" name="Image 1" descr="preencoded.png">    </p:cNvPr>
          <p:cNvPicPr>
            <a:picLocks noChangeAspect="1"/>
          </p:cNvPicPr>
          <p:nvPr/>
        </p:nvPicPr>
        <p:blipFill>
          <a:blip r:embed="rId2"/>
          <a:stretch>
            <a:fillRect/>
          </a:stretch>
        </p:blipFill>
        <p:spPr>
          <a:xfrm>
            <a:off x="3096524" y="2300996"/>
            <a:ext cx="317480" cy="317480"/>
          </a:xfrm>
          <a:prstGeom prst="rect">
            <a:avLst/>
          </a:prstGeom>
        </p:spPr>
      </p:pic>
      <p:sp>
        <p:nvSpPr>
          <p:cNvPr id="13" name="Text 9"/>
          <p:cNvSpPr txBox="1"/>
          <p:nvPr/>
        </p:nvSpPr>
        <p:spPr>
          <a:xfrm>
            <a:off x="3794760" y="2286000"/>
            <a:ext cx="914400" cy="329184"/>
          </a:xfrm>
          <a:prstGeom prst="roundRect">
            <a:avLst>
              <a:gd name="adj" fmla="val 16667"/>
            </a:avLst>
          </a:prstGeom>
          <a:solidFill>
            <a:schemeClr val="bg2"/>
          </a:solidFill>
          <a:ln>
            <a:solidFill>
              <a:schemeClr val="bg2"/>
            </a:solidFill>
          </a:ln>
        </p:spPr>
        <p:txBody>
          <a:bodyPr wrap="square" lIns="508" tIns="508" rIns="508" bIns="508" rtlCol="0" anchor="ctr"/>
          <a:lstStyle/>
          <a:p>
            <a:pPr algn="ctr" indent="0" marL="0">
              <a:buNone/>
            </a:pPr>
            <a:r>
              <a:rPr lang="en-US" sz="1000" b="1" dirty="0">
                <a:solidFill>
                  <a:schemeClr val="accent1"/>
                </a:solidFill>
              </a:rPr>
              <a:t>Layer 2</a:t>
            </a:r>
            <a:endParaRPr lang="en-US" sz="1000" dirty="0"/>
          </a:p>
        </p:txBody>
      </p:sp>
      <p:sp>
        <p:nvSpPr>
          <p:cNvPr id="14" name="Text 10"/>
          <p:cNvSpPr txBox="1"/>
          <p:nvPr/>
        </p:nvSpPr>
        <p:spPr>
          <a:xfrm>
            <a:off x="2971800" y="2880360"/>
            <a:ext cx="1783080" cy="685800"/>
          </a:xfrm>
          <a:prstGeom prst="rect">
            <a:avLst/>
          </a:prstGeom>
          <a:noFill/>
          <a:ln/>
        </p:spPr>
        <p:txBody>
          <a:bodyPr wrap="square" lIns="635" tIns="635" rIns="635" bIns="635" rtlCol="0" anchor="t"/>
          <a:lstStyle/>
          <a:p>
            <a:pPr indent="0" marL="0">
              <a:buNone/>
            </a:pPr>
            <a:r>
              <a:rPr lang="en-US" sz="1600" b="1" dirty="0">
                <a:solidFill>
                  <a:schemeClr val="tx2"/>
                </a:solidFill>
                <a:latin typeface="Cambria" pitchFamily="34" charset="0"/>
                <a:ea typeface="Cambria" pitchFamily="34" charset="-122"/>
                <a:cs typeface="Cambria" pitchFamily="34" charset="-120"/>
              </a:rPr>
              <a:t>Ask over governed metrics</a:t>
            </a:r>
            <a:endParaRPr lang="en-US" sz="1600" dirty="0"/>
          </a:p>
        </p:txBody>
      </p:sp>
      <p:sp>
        <p:nvSpPr>
          <p:cNvPr id="15" name="Text 11"/>
          <p:cNvSpPr txBox="1"/>
          <p:nvPr/>
        </p:nvSpPr>
        <p:spPr>
          <a:xfrm>
            <a:off x="2971800" y="3611880"/>
            <a:ext cx="1783080" cy="1965960"/>
          </a:xfrm>
          <a:prstGeom prst="rect">
            <a:avLst/>
          </a:prstGeom>
          <a:noFill/>
          <a:ln/>
        </p:spPr>
        <p:txBody>
          <a:bodyPr wrap="square" lIns="635" tIns="635" rIns="635" bIns="635" rtlCol="0" anchor="t"/>
          <a:lstStyle/>
          <a:p>
            <a:pPr indent="0" marL="0">
              <a:buNone/>
            </a:pPr>
            <a:r>
              <a:rPr lang="en-US" sz="1300" dirty="0">
                <a:solidFill>
                  <a:schemeClr val="tx1"/>
                </a:solidFill>
              </a:rPr>
              <a:t>The LLM fills a structured query over metrics defined once. Our code compiles the SQL, so roll rate means the same thing every time.</a:t>
            </a:r>
            <a:endParaRPr lang="en-US" sz="1300" dirty="0"/>
          </a:p>
        </p:txBody>
      </p:sp>
      <p:sp>
        <p:nvSpPr>
          <p:cNvPr id="16" name="Shape 12"/>
          <p:cNvSpPr/>
          <p:nvPr/>
        </p:nvSpPr>
        <p:spPr>
          <a:xfrm>
            <a:off x="5029200" y="1965960"/>
            <a:ext cx="2103120" cy="3703320"/>
          </a:xfrm>
          <a:prstGeom prst="roundRect">
            <a:avLst>
              <a:gd name="adj" fmla="val 3478"/>
            </a:avLst>
          </a:prstGeom>
          <a:solidFill>
            <a:schemeClr val="bg2"/>
          </a:solidFill>
          <a:ln w="19050">
            <a:solidFill>
              <a:schemeClr val="accent1"/>
            </a:solidFill>
            <a:prstDash val="solid"/>
          </a:ln>
          <a:effectLst>
            <a:outerShdw sx="100000" sy="100000" kx="0" ky="0" algn="bl" rotWithShape="0" blurRad="101600" dist="25400" dir="5400000">
              <a:srgbClr val="000000">
                <a:alpha val="12000"/>
              </a:srgbClr>
            </a:outerShdw>
          </a:effectLst>
        </p:spPr>
      </p:sp>
      <p:sp>
        <p:nvSpPr>
          <p:cNvPr id="17" name="Shape 13"/>
          <p:cNvSpPr/>
          <p:nvPr/>
        </p:nvSpPr>
        <p:spPr>
          <a:xfrm>
            <a:off x="5212080" y="2176272"/>
            <a:ext cx="566928" cy="566928"/>
          </a:xfrm>
          <a:prstGeom prst="ellipse">
            <a:avLst/>
          </a:prstGeom>
          <a:solidFill>
            <a:schemeClr val="accent2"/>
          </a:solidFill>
          <a:ln w="12700">
            <a:solidFill>
              <a:schemeClr val="accent2"/>
            </a:solidFill>
            <a:prstDash val="solid"/>
          </a:ln>
        </p:spPr>
      </p:sp>
      <p:pic>
        <p:nvPicPr>
          <p:cNvPr id="18" name="Image 2" descr="preencoded.png">    </p:cNvPr>
          <p:cNvPicPr>
            <a:picLocks noChangeAspect="1"/>
          </p:cNvPicPr>
          <p:nvPr/>
        </p:nvPicPr>
        <p:blipFill>
          <a:blip r:embed="rId3"/>
          <a:stretch>
            <a:fillRect/>
          </a:stretch>
        </p:blipFill>
        <p:spPr>
          <a:xfrm>
            <a:off x="5336804" y="2300996"/>
            <a:ext cx="317480" cy="317480"/>
          </a:xfrm>
          <a:prstGeom prst="rect">
            <a:avLst/>
          </a:prstGeom>
        </p:spPr>
      </p:pic>
      <p:sp>
        <p:nvSpPr>
          <p:cNvPr id="19" name="Text 14"/>
          <p:cNvSpPr txBox="1"/>
          <p:nvPr/>
        </p:nvSpPr>
        <p:spPr>
          <a:xfrm>
            <a:off x="6035040" y="2286000"/>
            <a:ext cx="914400" cy="329184"/>
          </a:xfrm>
          <a:prstGeom prst="roundRect">
            <a:avLst>
              <a:gd name="adj" fmla="val 16667"/>
            </a:avLst>
          </a:prstGeom>
          <a:solidFill>
            <a:schemeClr val="bg2"/>
          </a:solidFill>
          <a:ln>
            <a:solidFill>
              <a:schemeClr val="bg2"/>
            </a:solidFill>
          </a:ln>
        </p:spPr>
        <p:txBody>
          <a:bodyPr wrap="square" lIns="508" tIns="508" rIns="508" bIns="508" rtlCol="0" anchor="ctr"/>
          <a:lstStyle/>
          <a:p>
            <a:pPr algn="ctr" indent="0" marL="0">
              <a:buNone/>
            </a:pPr>
            <a:r>
              <a:rPr lang="en-US" sz="1000" b="1" dirty="0">
                <a:solidFill>
                  <a:schemeClr val="accent1"/>
                </a:solidFill>
              </a:rPr>
              <a:t>Layer 3</a:t>
            </a:r>
            <a:endParaRPr lang="en-US" sz="1000" dirty="0"/>
          </a:p>
        </p:txBody>
      </p:sp>
      <p:sp>
        <p:nvSpPr>
          <p:cNvPr id="20" name="Text 15"/>
          <p:cNvSpPr txBox="1"/>
          <p:nvPr/>
        </p:nvSpPr>
        <p:spPr>
          <a:xfrm>
            <a:off x="5212080" y="2880360"/>
            <a:ext cx="1783080" cy="685800"/>
          </a:xfrm>
          <a:prstGeom prst="rect">
            <a:avLst/>
          </a:prstGeom>
          <a:noFill/>
          <a:ln/>
        </p:spPr>
        <p:txBody>
          <a:bodyPr wrap="square" lIns="635" tIns="635" rIns="635" bIns="635" rtlCol="0" anchor="t"/>
          <a:lstStyle/>
          <a:p>
            <a:pPr indent="0" marL="0">
              <a:buNone/>
            </a:pPr>
            <a:r>
              <a:rPr lang="en-US" sz="1600" b="1" dirty="0">
                <a:solidFill>
                  <a:schemeClr val="tx2"/>
                </a:solidFill>
                <a:latin typeface="Cambria" pitchFamily="34" charset="0"/>
                <a:ea typeface="Cambria" pitchFamily="34" charset="-122"/>
                <a:cs typeface="Cambria" pitchFamily="34" charset="-120"/>
              </a:rPr>
              <a:t>Affordability-first NBA</a:t>
            </a:r>
            <a:endParaRPr lang="en-US" sz="1600" dirty="0"/>
          </a:p>
        </p:txBody>
      </p:sp>
      <p:sp>
        <p:nvSpPr>
          <p:cNvPr id="21" name="Text 16"/>
          <p:cNvSpPr txBox="1"/>
          <p:nvPr/>
        </p:nvSpPr>
        <p:spPr>
          <a:xfrm>
            <a:off x="5212080" y="3611880"/>
            <a:ext cx="1783080" cy="1965960"/>
          </a:xfrm>
          <a:prstGeom prst="rect">
            <a:avLst/>
          </a:prstGeom>
          <a:noFill/>
          <a:ln/>
        </p:spPr>
        <p:txBody>
          <a:bodyPr wrap="square" lIns="635" tIns="635" rIns="635" bIns="635" rtlCol="0" anchor="t"/>
          <a:lstStyle/>
          <a:p>
            <a:pPr indent="0" marL="0">
              <a:buNone/>
            </a:pPr>
            <a:r>
              <a:rPr lang="en-US" sz="1300" dirty="0">
                <a:solidFill>
                  <a:schemeClr val="tx1"/>
                </a:solidFill>
              </a:rPr>
              <a:t>Risk plus ability to pay: payday detection, monthly capacity and a plan the customer can actually keep.</a:t>
            </a:r>
            <a:endParaRPr lang="en-US" sz="1300" dirty="0"/>
          </a:p>
        </p:txBody>
      </p:sp>
      <p:sp>
        <p:nvSpPr>
          <p:cNvPr id="22" name="Shape 17"/>
          <p:cNvSpPr/>
          <p:nvPr/>
        </p:nvSpPr>
        <p:spPr>
          <a:xfrm>
            <a:off x="7269480" y="1965960"/>
            <a:ext cx="2103120" cy="3703320"/>
          </a:xfrm>
          <a:prstGeom prst="roundRect">
            <a:avLst>
              <a:gd name="adj" fmla="val 3478"/>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3" name="Shape 18"/>
          <p:cNvSpPr/>
          <p:nvPr/>
        </p:nvSpPr>
        <p:spPr>
          <a:xfrm>
            <a:off x="7452360" y="2176272"/>
            <a:ext cx="566928" cy="566928"/>
          </a:xfrm>
          <a:prstGeom prst="ellipse">
            <a:avLst/>
          </a:prstGeom>
          <a:solidFill>
            <a:schemeClr val="accent1"/>
          </a:solidFill>
          <a:ln w="12700">
            <a:solidFill>
              <a:schemeClr val="accent1"/>
            </a:solidFill>
            <a:prstDash val="solid"/>
          </a:ln>
        </p:spPr>
      </p:sp>
      <p:pic>
        <p:nvPicPr>
          <p:cNvPr id="24" name="Image 3" descr="preencoded.png">    </p:cNvPr>
          <p:cNvPicPr>
            <a:picLocks noChangeAspect="1"/>
          </p:cNvPicPr>
          <p:nvPr/>
        </p:nvPicPr>
        <p:blipFill>
          <a:blip r:embed="rId4"/>
          <a:stretch>
            <a:fillRect/>
          </a:stretch>
        </p:blipFill>
        <p:spPr>
          <a:xfrm>
            <a:off x="7577084" y="2300996"/>
            <a:ext cx="317480" cy="317480"/>
          </a:xfrm>
          <a:prstGeom prst="rect">
            <a:avLst/>
          </a:prstGeom>
        </p:spPr>
      </p:pic>
      <p:sp>
        <p:nvSpPr>
          <p:cNvPr id="25" name="Text 19"/>
          <p:cNvSpPr txBox="1"/>
          <p:nvPr/>
        </p:nvSpPr>
        <p:spPr>
          <a:xfrm>
            <a:off x="8275320" y="2286000"/>
            <a:ext cx="914400" cy="329184"/>
          </a:xfrm>
          <a:prstGeom prst="roundRect">
            <a:avLst>
              <a:gd name="adj" fmla="val 16667"/>
            </a:avLst>
          </a:prstGeom>
          <a:solidFill>
            <a:schemeClr val="bg2"/>
          </a:solidFill>
          <a:ln>
            <a:solidFill>
              <a:schemeClr val="bg2"/>
            </a:solidFill>
          </a:ln>
        </p:spPr>
        <p:txBody>
          <a:bodyPr wrap="square" lIns="508" tIns="508" rIns="508" bIns="508" rtlCol="0" anchor="ctr"/>
          <a:lstStyle/>
          <a:p>
            <a:pPr algn="ctr" indent="0" marL="0">
              <a:buNone/>
            </a:pPr>
            <a:r>
              <a:rPr lang="en-US" sz="1000" b="1" dirty="0">
                <a:solidFill>
                  <a:schemeClr val="accent1"/>
                </a:solidFill>
              </a:rPr>
              <a:t>Layer 3</a:t>
            </a:r>
            <a:endParaRPr lang="en-US" sz="1000" dirty="0"/>
          </a:p>
        </p:txBody>
      </p:sp>
      <p:sp>
        <p:nvSpPr>
          <p:cNvPr id="26" name="Text 20"/>
          <p:cNvSpPr txBox="1"/>
          <p:nvPr/>
        </p:nvSpPr>
        <p:spPr>
          <a:xfrm>
            <a:off x="7452360" y="2880360"/>
            <a:ext cx="1783080" cy="685800"/>
          </a:xfrm>
          <a:prstGeom prst="rect">
            <a:avLst/>
          </a:prstGeom>
          <a:noFill/>
          <a:ln/>
        </p:spPr>
        <p:txBody>
          <a:bodyPr wrap="square" lIns="635" tIns="635" rIns="635" bIns="635" rtlCol="0" anchor="t"/>
          <a:lstStyle/>
          <a:p>
            <a:pPr indent="0" marL="0">
              <a:buNone/>
            </a:pPr>
            <a:r>
              <a:rPr lang="en-US" sz="1600" b="1" dirty="0">
                <a:solidFill>
                  <a:schemeClr val="tx2"/>
                </a:solidFill>
                <a:latin typeface="Cambria" pitchFamily="34" charset="0"/>
                <a:ea typeface="Cambria" pitchFamily="34" charset="-122"/>
                <a:cs typeface="Cambria" pitchFamily="34" charset="-120"/>
              </a:rPr>
              <a:t>Live re-decisioning</a:t>
            </a:r>
            <a:endParaRPr lang="en-US" sz="1600" dirty="0"/>
          </a:p>
        </p:txBody>
      </p:sp>
      <p:sp>
        <p:nvSpPr>
          <p:cNvPr id="27" name="Text 21"/>
          <p:cNvSpPr txBox="1"/>
          <p:nvPr/>
        </p:nvSpPr>
        <p:spPr>
          <a:xfrm>
            <a:off x="7452360" y="3611880"/>
            <a:ext cx="1783080" cy="1965960"/>
          </a:xfrm>
          <a:prstGeom prst="rect">
            <a:avLst/>
          </a:prstGeom>
          <a:noFill/>
          <a:ln/>
        </p:spPr>
        <p:txBody>
          <a:bodyPr wrap="square" lIns="635" tIns="635" rIns="635" bIns="635" rtlCol="0" anchor="t"/>
          <a:lstStyle/>
          <a:p>
            <a:pPr indent="0" marL="0">
              <a:buNone/>
            </a:pPr>
            <a:r>
              <a:rPr lang="en-US" sz="1300" dirty="0">
                <a:solidFill>
                  <a:schemeClr val="tx1"/>
                </a:solidFill>
              </a:rPr>
              <a:t>When a call ends, features update, the model re-scores and the action changes in seconds, fully audited.</a:t>
            </a:r>
            <a:endParaRPr lang="en-US" sz="1300" dirty="0"/>
          </a:p>
        </p:txBody>
      </p:sp>
      <p:sp>
        <p:nvSpPr>
          <p:cNvPr id="28" name="Shape 22"/>
          <p:cNvSpPr/>
          <p:nvPr/>
        </p:nvSpPr>
        <p:spPr>
          <a:xfrm>
            <a:off x="9509760" y="1965960"/>
            <a:ext cx="2103120" cy="3703320"/>
          </a:xfrm>
          <a:prstGeom prst="roundRect">
            <a:avLst>
              <a:gd name="adj" fmla="val 3478"/>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9" name="Shape 23"/>
          <p:cNvSpPr/>
          <p:nvPr/>
        </p:nvSpPr>
        <p:spPr>
          <a:xfrm>
            <a:off x="9692640" y="2176272"/>
            <a:ext cx="566928" cy="566928"/>
          </a:xfrm>
          <a:prstGeom prst="ellipse">
            <a:avLst/>
          </a:prstGeom>
          <a:solidFill>
            <a:schemeClr val="accent1"/>
          </a:solidFill>
          <a:ln w="12700">
            <a:solidFill>
              <a:schemeClr val="accent1"/>
            </a:solidFill>
            <a:prstDash val="solid"/>
          </a:ln>
        </p:spPr>
      </p:sp>
      <p:pic>
        <p:nvPicPr>
          <p:cNvPr id="30" name="Image 4" descr="preencoded.png">    </p:cNvPr>
          <p:cNvPicPr>
            <a:picLocks noChangeAspect="1"/>
          </p:cNvPicPr>
          <p:nvPr/>
        </p:nvPicPr>
        <p:blipFill>
          <a:blip r:embed="rId5"/>
          <a:stretch>
            <a:fillRect/>
          </a:stretch>
        </p:blipFill>
        <p:spPr>
          <a:xfrm>
            <a:off x="9817364" y="2300996"/>
            <a:ext cx="317480" cy="317480"/>
          </a:xfrm>
          <a:prstGeom prst="rect">
            <a:avLst/>
          </a:prstGeom>
        </p:spPr>
      </p:pic>
      <p:sp>
        <p:nvSpPr>
          <p:cNvPr id="31" name="Text 24"/>
          <p:cNvSpPr txBox="1"/>
          <p:nvPr/>
        </p:nvSpPr>
        <p:spPr>
          <a:xfrm>
            <a:off x="10515600" y="2286000"/>
            <a:ext cx="914400" cy="329184"/>
          </a:xfrm>
          <a:prstGeom prst="roundRect">
            <a:avLst>
              <a:gd name="adj" fmla="val 16667"/>
            </a:avLst>
          </a:prstGeom>
          <a:solidFill>
            <a:schemeClr val="bg2"/>
          </a:solidFill>
          <a:ln>
            <a:solidFill>
              <a:schemeClr val="bg2"/>
            </a:solidFill>
          </a:ln>
        </p:spPr>
        <p:txBody>
          <a:bodyPr wrap="square" lIns="508" tIns="508" rIns="508" bIns="508" rtlCol="0" anchor="ctr"/>
          <a:lstStyle/>
          <a:p>
            <a:pPr algn="ctr" indent="0" marL="0">
              <a:buNone/>
            </a:pPr>
            <a:r>
              <a:rPr lang="en-US" sz="1000" b="1" dirty="0">
                <a:solidFill>
                  <a:schemeClr val="accent1"/>
                </a:solidFill>
              </a:rPr>
              <a:t>Oversight</a:t>
            </a:r>
            <a:endParaRPr lang="en-US" sz="1000" dirty="0"/>
          </a:p>
        </p:txBody>
      </p:sp>
      <p:sp>
        <p:nvSpPr>
          <p:cNvPr id="32" name="Text 25"/>
          <p:cNvSpPr txBox="1"/>
          <p:nvPr/>
        </p:nvSpPr>
        <p:spPr>
          <a:xfrm>
            <a:off x="9692640" y="2880360"/>
            <a:ext cx="1783080" cy="685800"/>
          </a:xfrm>
          <a:prstGeom prst="rect">
            <a:avLst/>
          </a:prstGeom>
          <a:noFill/>
          <a:ln/>
        </p:spPr>
        <p:txBody>
          <a:bodyPr wrap="square" lIns="635" tIns="635" rIns="635" bIns="635" rtlCol="0" anchor="t"/>
          <a:lstStyle/>
          <a:p>
            <a:pPr indent="0" marL="0">
              <a:buNone/>
            </a:pPr>
            <a:r>
              <a:rPr lang="en-US" sz="1600" b="1" dirty="0">
                <a:solidFill>
                  <a:schemeClr val="tx2"/>
                </a:solidFill>
                <a:latin typeface="Cambria" pitchFamily="34" charset="0"/>
                <a:ea typeface="Cambria" pitchFamily="34" charset="-122"/>
                <a:cs typeface="Cambria" pitchFamily="34" charset="-120"/>
              </a:rPr>
              <a:t>Override intelligence</a:t>
            </a:r>
            <a:endParaRPr lang="en-US" sz="1600" dirty="0"/>
          </a:p>
        </p:txBody>
      </p:sp>
      <p:sp>
        <p:nvSpPr>
          <p:cNvPr id="33" name="Text 26"/>
          <p:cNvSpPr txBox="1"/>
          <p:nvPr/>
        </p:nvSpPr>
        <p:spPr>
          <a:xfrm>
            <a:off x="9692640" y="3611880"/>
            <a:ext cx="1783080" cy="1965960"/>
          </a:xfrm>
          <a:prstGeom prst="rect">
            <a:avLst/>
          </a:prstGeom>
          <a:noFill/>
          <a:ln/>
        </p:spPr>
        <p:txBody>
          <a:bodyPr wrap="square" lIns="635" tIns="635" rIns="635" bIns="635" rtlCol="0" anchor="t"/>
          <a:lstStyle/>
          <a:p>
            <a:pPr indent="0" marL="0">
              <a:buNone/>
            </a:pPr>
            <a:r>
              <a:rPr lang="en-US" sz="1300" dirty="0">
                <a:solidFill>
                  <a:schemeClr val="tx1"/>
                </a:solidFill>
              </a:rPr>
              <a:t>Reason-coded overrides and tracked outcomes become proposed policy changes that a human approves.</a:t>
            </a:r>
            <a:endParaRPr lang="en-US" sz="1300" dirty="0"/>
          </a:p>
        </p:txBody>
      </p:sp>
      <p:sp>
        <p:nvSpPr>
          <p:cNvPr id="34" name="Text 27"/>
          <p:cNvSpPr txBox="1"/>
          <p:nvPr/>
        </p:nvSpPr>
        <p:spPr>
          <a:xfrm>
            <a:off x="548640" y="5833872"/>
            <a:ext cx="11064240" cy="411480"/>
          </a:xfrm>
          <a:prstGeom prst="rect">
            <a:avLst/>
          </a:prstGeom>
          <a:noFill/>
          <a:ln/>
        </p:spPr>
        <p:txBody>
          <a:bodyPr wrap="square" lIns="635" tIns="635" rIns="635" bIns="635" rtlCol="0" anchor="t"/>
          <a:lstStyle/>
          <a:p>
            <a:pPr indent="0" marL="0">
              <a:buNone/>
            </a:pPr>
            <a:r>
              <a:rPr lang="en-US" sz="1500" b="1" i="1" dirty="0">
                <a:solidFill>
                  <a:schemeClr val="accent1"/>
                </a:solidFill>
              </a:rPr>
              <a:t>Most systems decide who to chase. Ours decides what each customer can afford, and learns from every human override.</a:t>
            </a:r>
            <a:endParaRPr lang="en-US" sz="15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Architecture: from nine sources to one fair decision</a:t>
            </a:r>
            <a:endParaRPr lang="en-US" sz="3000" dirty="0"/>
          </a:p>
        </p:txBody>
      </p:sp>
      <p:sp>
        <p:nvSpPr>
          <p:cNvPr id="3" name="Shape 1"/>
          <p:cNvSpPr/>
          <p:nvPr/>
        </p:nvSpPr>
        <p:spPr>
          <a:xfrm>
            <a:off x="548640" y="1280160"/>
            <a:ext cx="1828800" cy="4343400"/>
          </a:xfrm>
          <a:prstGeom prst="roundRect">
            <a:avLst>
              <a:gd name="adj" fmla="val 4000"/>
            </a:avLst>
          </a:prstGeom>
          <a:solidFill>
            <a:schemeClr val="bg1"/>
          </a:solidFill>
          <a:ln w="15875">
            <a:solidFill>
              <a:schemeClr val="accent5"/>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658368" y="1353312"/>
            <a:ext cx="1609344" cy="384048"/>
          </a:xfrm>
          <a:prstGeom prst="rect">
            <a:avLst/>
          </a:prstGeom>
          <a:noFill/>
          <a:ln/>
        </p:spPr>
        <p:txBody>
          <a:bodyPr wrap="square" lIns="635" tIns="635" rIns="635" bIns="635" rtlCol="0" anchor="t"/>
          <a:lstStyle/>
          <a:p>
            <a:pPr indent="0" marL="0">
              <a:buNone/>
            </a:pPr>
            <a:r>
              <a:rPr lang="en-US" sz="1300" b="1" dirty="0">
                <a:solidFill>
                  <a:schemeClr val="tx2"/>
                </a:solidFill>
              </a:rPr>
              <a:t>Source data</a:t>
            </a:r>
            <a:endParaRPr lang="en-US" sz="1300" dirty="0"/>
          </a:p>
        </p:txBody>
      </p:sp>
      <p:sp>
        <p:nvSpPr>
          <p:cNvPr id="5" name="Text 3"/>
          <p:cNvSpPr txBox="1"/>
          <p:nvPr/>
        </p:nvSpPr>
        <p:spPr>
          <a:xfrm>
            <a:off x="658368" y="1737360"/>
            <a:ext cx="1609344" cy="3794760"/>
          </a:xfrm>
          <a:prstGeom prst="rect">
            <a:avLst/>
          </a:prstGeom>
          <a:noFill/>
          <a:ln/>
        </p:spPr>
        <p:txBody>
          <a:bodyPr wrap="square" lIns="635" tIns="635" rIns="635" bIns="635" rtlCol="0" anchor="t"/>
          <a:lstStyle/>
          <a:p>
            <a:pPr marL="342900" indent="-342900">
              <a:spcAft>
                <a:spcPts val="300"/>
              </a:spcAft>
              <a:buSzPct val="100000"/>
              <a:buChar char="•"/>
            </a:pPr>
            <a:r>
              <a:rPr lang="en-US" sz="1050" dirty="0">
                <a:solidFill>
                  <a:schemeClr val="tx1"/>
                </a:solidFill>
              </a:rPr>
              <a:t>Cards</a:t>
            </a:r>
            <a:endParaRPr lang="en-US" sz="1050" dirty="0"/>
          </a:p>
          <a:p>
            <a:pPr marL="342900" indent="-342900">
              <a:spcAft>
                <a:spcPts val="300"/>
              </a:spcAft>
              <a:buSzPct val="100000"/>
              <a:buChar char="•"/>
            </a:pPr>
            <a:r>
              <a:rPr lang="en-US" sz="1050" dirty="0">
                <a:solidFill>
                  <a:schemeClr val="tx1"/>
                </a:solidFill>
              </a:rPr>
              <a:t>Loans</a:t>
            </a:r>
            <a:endParaRPr lang="en-US" sz="1050" dirty="0"/>
          </a:p>
          <a:p>
            <a:pPr marL="342900" indent="-342900">
              <a:spcAft>
                <a:spcPts val="300"/>
              </a:spcAft>
              <a:buSzPct val="100000"/>
              <a:buChar char="•"/>
            </a:pPr>
            <a:r>
              <a:rPr lang="en-US" sz="1050" dirty="0">
                <a:solidFill>
                  <a:schemeClr val="tx1"/>
                </a:solidFill>
              </a:rPr>
              <a:t>Deposits (salary credits)</a:t>
            </a:r>
            <a:endParaRPr lang="en-US" sz="1050" dirty="0"/>
          </a:p>
          <a:p>
            <a:pPr marL="342900" indent="-342900">
              <a:spcAft>
                <a:spcPts val="300"/>
              </a:spcAft>
              <a:buSzPct val="100000"/>
              <a:buChar char="•"/>
            </a:pPr>
            <a:r>
              <a:rPr lang="en-US" sz="1050" dirty="0">
                <a:solidFill>
                  <a:schemeClr val="tx1"/>
                </a:solidFill>
              </a:rPr>
              <a:t>Collections cases</a:t>
            </a:r>
            <a:endParaRPr lang="en-US" sz="1050" dirty="0"/>
          </a:p>
          <a:p>
            <a:pPr marL="342900" indent="-342900">
              <a:spcAft>
                <a:spcPts val="300"/>
              </a:spcAft>
              <a:buSzPct val="100000"/>
              <a:buChar char="•"/>
            </a:pPr>
            <a:r>
              <a:rPr lang="en-US" sz="1050" dirty="0">
                <a:solidFill>
                  <a:schemeClr val="tx1"/>
                </a:solidFill>
              </a:rPr>
              <a:t>CRM / customers</a:t>
            </a:r>
            <a:endParaRPr lang="en-US" sz="1050" dirty="0"/>
          </a:p>
          <a:p>
            <a:pPr marL="342900" indent="-342900">
              <a:spcAft>
                <a:spcPts val="300"/>
              </a:spcAft>
              <a:buSzPct val="100000"/>
              <a:buChar char="•"/>
            </a:pPr>
            <a:r>
              <a:rPr lang="en-US" sz="1050" dirty="0">
                <a:solidFill>
                  <a:schemeClr val="tx1"/>
                </a:solidFill>
              </a:rPr>
              <a:t>Contact history</a:t>
            </a:r>
            <a:endParaRPr lang="en-US" sz="1050" dirty="0"/>
          </a:p>
          <a:p>
            <a:pPr marL="342900" indent="-342900">
              <a:spcAft>
                <a:spcPts val="300"/>
              </a:spcAft>
              <a:buSzPct val="100000"/>
              <a:buChar char="•"/>
            </a:pPr>
            <a:r>
              <a:rPr lang="en-US" sz="1050" dirty="0">
                <a:solidFill>
                  <a:schemeClr val="tx1"/>
                </a:solidFill>
              </a:rPr>
              <a:t>Agent notes</a:t>
            </a:r>
            <a:endParaRPr lang="en-US" sz="1050" dirty="0"/>
          </a:p>
          <a:p>
            <a:pPr marL="342900" indent="-342900">
              <a:spcAft>
                <a:spcPts val="300"/>
              </a:spcAft>
              <a:buSzPct val="100000"/>
              <a:buChar char="•"/>
            </a:pPr>
            <a:r>
              <a:rPr lang="en-US" sz="1050" dirty="0">
                <a:solidFill>
                  <a:schemeClr val="tx1"/>
                </a:solidFill>
              </a:rPr>
              <a:t>Call transcripts</a:t>
            </a:r>
            <a:endParaRPr lang="en-US" sz="1050" dirty="0"/>
          </a:p>
          <a:p>
            <a:pPr marL="342900" indent="-342900">
              <a:spcAft>
                <a:spcPts val="300"/>
              </a:spcAft>
              <a:buSzPct val="100000"/>
              <a:buChar char="•"/>
            </a:pPr>
            <a:r>
              <a:rPr lang="en-US" sz="1050" dirty="0">
                <a:solidFill>
                  <a:schemeClr val="tx1"/>
                </a:solidFill>
              </a:rPr>
              <a:t>External bureau</a:t>
            </a:r>
            <a:endParaRPr lang="en-US" sz="1050" dirty="0"/>
          </a:p>
        </p:txBody>
      </p:sp>
      <p:sp>
        <p:nvSpPr>
          <p:cNvPr id="6" name="Shape 4"/>
          <p:cNvSpPr/>
          <p:nvPr/>
        </p:nvSpPr>
        <p:spPr>
          <a:xfrm>
            <a:off x="2697480" y="1280160"/>
            <a:ext cx="2377440" cy="4343400"/>
          </a:xfrm>
          <a:prstGeom prst="roundRect">
            <a:avLst>
              <a:gd name="adj" fmla="val 3077"/>
            </a:avLst>
          </a:prstGeom>
          <a:solidFill>
            <a:schemeClr val="bg2"/>
          </a:solidFill>
          <a:ln w="15875">
            <a:solidFill>
              <a:schemeClr val="accent5"/>
            </a:solidFill>
            <a:prstDash val="solid"/>
          </a:ln>
          <a:effectLst>
            <a:outerShdw sx="100000" sy="100000" kx="0" ky="0" algn="bl" rotWithShape="0" blurRad="101600" dist="25400" dir="5400000">
              <a:srgbClr val="000000">
                <a:alpha val="12000"/>
              </a:srgbClr>
            </a:outerShdw>
          </a:effectLst>
        </p:spPr>
      </p:sp>
      <p:sp>
        <p:nvSpPr>
          <p:cNvPr id="7" name="Text 5"/>
          <p:cNvSpPr txBox="1"/>
          <p:nvPr/>
        </p:nvSpPr>
        <p:spPr>
          <a:xfrm>
            <a:off x="2807208" y="1353312"/>
            <a:ext cx="2157984" cy="384048"/>
          </a:xfrm>
          <a:prstGeom prst="rect">
            <a:avLst/>
          </a:prstGeom>
          <a:noFill/>
          <a:ln/>
        </p:spPr>
        <p:txBody>
          <a:bodyPr wrap="square" lIns="635" tIns="635" rIns="635" bIns="635" rtlCol="0" anchor="t"/>
          <a:lstStyle/>
          <a:p>
            <a:pPr indent="0" marL="0">
              <a:buNone/>
            </a:pPr>
            <a:r>
              <a:rPr lang="en-US" sz="1300" b="1" dirty="0">
                <a:solidFill>
                  <a:schemeClr val="tx2"/>
                </a:solidFill>
              </a:rPr>
              <a:t>Layer 1  Data Product Factory</a:t>
            </a:r>
            <a:endParaRPr lang="en-US" sz="1300" dirty="0"/>
          </a:p>
        </p:txBody>
      </p:sp>
      <p:sp>
        <p:nvSpPr>
          <p:cNvPr id="8" name="Text 6"/>
          <p:cNvSpPr txBox="1"/>
          <p:nvPr/>
        </p:nvSpPr>
        <p:spPr>
          <a:xfrm>
            <a:off x="2807208" y="1737360"/>
            <a:ext cx="2157984" cy="3794760"/>
          </a:xfrm>
          <a:prstGeom prst="rect">
            <a:avLst/>
          </a:prstGeom>
          <a:noFill/>
          <a:ln/>
        </p:spPr>
        <p:txBody>
          <a:bodyPr wrap="square" lIns="635" tIns="635" rIns="635" bIns="635" rtlCol="0" anchor="t"/>
          <a:lstStyle/>
          <a:p>
            <a:pPr marL="342900" indent="-342900">
              <a:spcAft>
                <a:spcPts val="300"/>
              </a:spcAft>
              <a:buSzPct val="100000"/>
              <a:buChar char="•"/>
            </a:pPr>
            <a:r>
              <a:rPr lang="en-US" sz="1050" dirty="0">
                <a:solidFill>
                  <a:schemeClr val="tx1"/>
                </a:solidFill>
              </a:rPr>
              <a:t>raw → curated → gold</a:t>
            </a:r>
            <a:endParaRPr lang="en-US" sz="1050" dirty="0"/>
          </a:p>
          <a:p>
            <a:pPr marL="342900" indent="-342900">
              <a:spcAft>
                <a:spcPts val="300"/>
              </a:spcAft>
              <a:buSzPct val="100000"/>
              <a:buChar char="•"/>
            </a:pPr>
            <a:r>
              <a:rPr lang="en-US" sz="1050" dirty="0">
                <a:solidFill>
                  <a:schemeClr val="tx1"/>
                </a:solidFill>
              </a:rPr>
              <a:t>Identity resolution: exact keys, then fuzzy, with confidence</a:t>
            </a:r>
            <a:endParaRPr lang="en-US" sz="1050" dirty="0"/>
          </a:p>
          <a:p>
            <a:pPr marL="342900" indent="-342900">
              <a:spcAft>
                <a:spcPts val="300"/>
              </a:spcAft>
              <a:buSzPct val="100000"/>
              <a:buChar char="•"/>
            </a:pPr>
            <a:r>
              <a:rPr lang="en-US" sz="1050" dirty="0">
                <a:solidFill>
                  <a:schemeClr val="tx1"/>
                </a:solidFill>
              </a:rPr>
              <a:t>Golden C360 + identity map + lineage</a:t>
            </a:r>
            <a:endParaRPr lang="en-US" sz="1050" dirty="0"/>
          </a:p>
          <a:p>
            <a:pPr marL="342900" indent="-342900">
              <a:spcAft>
                <a:spcPts val="300"/>
              </a:spcAft>
              <a:buSzPct val="100000"/>
              <a:buChar char="•"/>
            </a:pPr>
            <a:r>
              <a:rPr lang="en-US" sz="1050" dirty="0">
                <a:solidFill>
                  <a:schemeClr val="tx1"/>
                </a:solidFill>
              </a:rPr>
              <a:t>Trust score per customer</a:t>
            </a:r>
            <a:endParaRPr lang="en-US" sz="1050" dirty="0"/>
          </a:p>
          <a:p>
            <a:pPr marL="342900" indent="-342900">
              <a:spcAft>
                <a:spcPts val="300"/>
              </a:spcAft>
              <a:buSzPct val="100000"/>
              <a:buChar char="•"/>
            </a:pPr>
            <a:r>
              <a:rPr lang="en-US" sz="1050" dirty="0">
                <a:solidFill>
                  <a:schemeClr val="tx1"/>
                </a:solidFill>
              </a:rPr>
              <a:t>Data contract, 9 quality rules, drift check</a:t>
            </a:r>
            <a:endParaRPr lang="en-US" sz="1050" dirty="0"/>
          </a:p>
          <a:p>
            <a:pPr marL="342900" indent="-342900">
              <a:spcAft>
                <a:spcPts val="300"/>
              </a:spcAft>
              <a:buSzPct val="100000"/>
              <a:buChar char="•"/>
            </a:pPr>
            <a:r>
              <a:rPr lang="en-US" sz="1050" dirty="0">
                <a:solidFill>
                  <a:schemeClr val="tx1"/>
                </a:solidFill>
              </a:rPr>
              <a:t>AI: mapping suggestions, SQL drafts, drift summaries</a:t>
            </a:r>
            <a:endParaRPr lang="en-US" sz="1050" dirty="0"/>
          </a:p>
        </p:txBody>
      </p:sp>
      <p:sp>
        <p:nvSpPr>
          <p:cNvPr id="9" name="Shape 7"/>
          <p:cNvSpPr/>
          <p:nvPr/>
        </p:nvSpPr>
        <p:spPr>
          <a:xfrm>
            <a:off x="5394960" y="1280160"/>
            <a:ext cx="3017520" cy="2103120"/>
          </a:xfrm>
          <a:prstGeom prst="roundRect">
            <a:avLst>
              <a:gd name="adj" fmla="val 3478"/>
            </a:avLst>
          </a:prstGeom>
          <a:solidFill>
            <a:schemeClr val="bg2"/>
          </a:solidFill>
          <a:ln w="15875">
            <a:solidFill>
              <a:schemeClr val="accent5"/>
            </a:solidFill>
            <a:prstDash val="solid"/>
          </a:ln>
          <a:effectLst>
            <a:outerShdw sx="100000" sy="100000" kx="0" ky="0" algn="bl" rotWithShape="0" blurRad="101600" dist="25400" dir="5400000">
              <a:srgbClr val="000000">
                <a:alpha val="12000"/>
              </a:srgbClr>
            </a:outerShdw>
          </a:effectLst>
        </p:spPr>
      </p:sp>
      <p:sp>
        <p:nvSpPr>
          <p:cNvPr id="10" name="Text 8"/>
          <p:cNvSpPr txBox="1"/>
          <p:nvPr/>
        </p:nvSpPr>
        <p:spPr>
          <a:xfrm>
            <a:off x="5504688" y="1353312"/>
            <a:ext cx="2798064" cy="384048"/>
          </a:xfrm>
          <a:prstGeom prst="rect">
            <a:avLst/>
          </a:prstGeom>
          <a:noFill/>
          <a:ln/>
        </p:spPr>
        <p:txBody>
          <a:bodyPr wrap="square" lIns="635" tIns="635" rIns="635" bIns="635" rtlCol="0" anchor="t"/>
          <a:lstStyle/>
          <a:p>
            <a:pPr indent="0" marL="0">
              <a:buNone/>
            </a:pPr>
            <a:r>
              <a:rPr lang="en-US" sz="1300" b="1" dirty="0">
                <a:solidFill>
                  <a:schemeClr val="tx2"/>
                </a:solidFill>
              </a:rPr>
              <a:t>Layer 2  Ask</a:t>
            </a:r>
            <a:endParaRPr lang="en-US" sz="1300" dirty="0"/>
          </a:p>
        </p:txBody>
      </p:sp>
      <p:sp>
        <p:nvSpPr>
          <p:cNvPr id="11" name="Text 9"/>
          <p:cNvSpPr txBox="1"/>
          <p:nvPr/>
        </p:nvSpPr>
        <p:spPr>
          <a:xfrm>
            <a:off x="5504688" y="1737360"/>
            <a:ext cx="2798064" cy="1554480"/>
          </a:xfrm>
          <a:prstGeom prst="rect">
            <a:avLst/>
          </a:prstGeom>
          <a:noFill/>
          <a:ln/>
        </p:spPr>
        <p:txBody>
          <a:bodyPr wrap="square" lIns="635" tIns="635" rIns="635" bIns="635" rtlCol="0" anchor="t"/>
          <a:lstStyle/>
          <a:p>
            <a:pPr marL="342900" indent="-342900">
              <a:spcAft>
                <a:spcPts val="300"/>
              </a:spcAft>
              <a:buSzPct val="100000"/>
              <a:buChar char="•"/>
            </a:pPr>
            <a:r>
              <a:rPr lang="en-US" sz="1050" dirty="0">
                <a:solidFill>
                  <a:schemeClr val="tx1"/>
                </a:solidFill>
              </a:rPr>
              <a:t>Semantic layer: metrics defined once</a:t>
            </a:r>
            <a:endParaRPr lang="en-US" sz="1050" dirty="0"/>
          </a:p>
          <a:p>
            <a:pPr marL="342900" indent="-342900">
              <a:spcAft>
                <a:spcPts val="300"/>
              </a:spcAft>
              <a:buSzPct val="100000"/>
              <a:buChar char="•"/>
            </a:pPr>
            <a:r>
              <a:rPr lang="en-US" sz="1050" dirty="0">
                <a:solidFill>
                  <a:schemeClr val="tx1"/>
                </a:solidFill>
              </a:rPr>
              <a:t>LLM → structured query → validated → compiled SQL</a:t>
            </a:r>
            <a:endParaRPr lang="en-US" sz="1050" dirty="0"/>
          </a:p>
          <a:p>
            <a:pPr marL="342900" indent="-342900">
              <a:spcAft>
                <a:spcPts val="300"/>
              </a:spcAft>
              <a:buSzPct val="100000"/>
              <a:buChar char="•"/>
            </a:pPr>
            <a:r>
              <a:rPr lang="en-US" sz="1050" dirty="0">
                <a:solidFill>
                  <a:schemeClr val="tx1"/>
                </a:solidFill>
              </a:rPr>
              <a:t>Read-only DuckDB, allow-list, LIMIT</a:t>
            </a:r>
            <a:endParaRPr lang="en-US" sz="1050" dirty="0"/>
          </a:p>
          <a:p>
            <a:pPr marL="342900" indent="-342900">
              <a:spcAft>
                <a:spcPts val="300"/>
              </a:spcAft>
              <a:buSzPct val="100000"/>
              <a:buChar char="•"/>
            </a:pPr>
            <a:r>
              <a:rPr lang="en-US" sz="1050" dirty="0">
                <a:solidFill>
                  <a:schemeClr val="tx1"/>
                </a:solidFill>
              </a:rPr>
              <a:t>RAG over notes and transcripts, with citations</a:t>
            </a:r>
            <a:endParaRPr lang="en-US" sz="1050" dirty="0"/>
          </a:p>
        </p:txBody>
      </p:sp>
      <p:sp>
        <p:nvSpPr>
          <p:cNvPr id="12" name="Shape 10"/>
          <p:cNvSpPr/>
          <p:nvPr/>
        </p:nvSpPr>
        <p:spPr>
          <a:xfrm>
            <a:off x="5394960" y="3520440"/>
            <a:ext cx="3017520" cy="2103120"/>
          </a:xfrm>
          <a:prstGeom prst="roundRect">
            <a:avLst>
              <a:gd name="adj" fmla="val 3478"/>
            </a:avLst>
          </a:prstGeom>
          <a:solidFill>
            <a:schemeClr val="bg2"/>
          </a:solidFill>
          <a:ln w="15875">
            <a:solidFill>
              <a:schemeClr val="accent5"/>
            </a:solidFill>
            <a:prstDash val="solid"/>
          </a:ln>
          <a:effectLst>
            <a:outerShdw sx="100000" sy="100000" kx="0" ky="0" algn="bl" rotWithShape="0" blurRad="101600" dist="25400" dir="5400000">
              <a:srgbClr val="000000">
                <a:alpha val="12000"/>
              </a:srgbClr>
            </a:outerShdw>
          </a:effectLst>
        </p:spPr>
      </p:sp>
      <p:sp>
        <p:nvSpPr>
          <p:cNvPr id="13" name="Text 11"/>
          <p:cNvSpPr txBox="1"/>
          <p:nvPr/>
        </p:nvSpPr>
        <p:spPr>
          <a:xfrm>
            <a:off x="5504688" y="3593592"/>
            <a:ext cx="2798064" cy="384048"/>
          </a:xfrm>
          <a:prstGeom prst="rect">
            <a:avLst/>
          </a:prstGeom>
          <a:noFill/>
          <a:ln/>
        </p:spPr>
        <p:txBody>
          <a:bodyPr wrap="square" lIns="635" tIns="635" rIns="635" bIns="635" rtlCol="0" anchor="t"/>
          <a:lstStyle/>
          <a:p>
            <a:pPr indent="0" marL="0">
              <a:buNone/>
            </a:pPr>
            <a:r>
              <a:rPr lang="en-US" sz="1300" b="1" dirty="0">
                <a:solidFill>
                  <a:schemeClr val="tx2"/>
                </a:solidFill>
              </a:rPr>
              <a:t>Layer 3  AI Decisioning</a:t>
            </a:r>
            <a:endParaRPr lang="en-US" sz="1300" dirty="0"/>
          </a:p>
        </p:txBody>
      </p:sp>
      <p:sp>
        <p:nvSpPr>
          <p:cNvPr id="14" name="Text 12"/>
          <p:cNvSpPr txBox="1"/>
          <p:nvPr/>
        </p:nvSpPr>
        <p:spPr>
          <a:xfrm>
            <a:off x="5504688" y="3977640"/>
            <a:ext cx="2798064" cy="1554480"/>
          </a:xfrm>
          <a:prstGeom prst="rect">
            <a:avLst/>
          </a:prstGeom>
          <a:noFill/>
          <a:ln/>
        </p:spPr>
        <p:txBody>
          <a:bodyPr wrap="square" lIns="635" tIns="635" rIns="635" bIns="635" rtlCol="0" anchor="t"/>
          <a:lstStyle/>
          <a:p>
            <a:pPr marL="342900" indent="-342900">
              <a:spcAft>
                <a:spcPts val="300"/>
              </a:spcAft>
              <a:buSzPct val="100000"/>
              <a:buChar char="•"/>
            </a:pPr>
            <a:r>
              <a:rPr lang="en-US" sz="1050" dirty="0">
                <a:solidFill>
                  <a:schemeClr val="tx1"/>
                </a:solidFill>
              </a:rPr>
              <a:t>Feature store: SQL + LLM features (versioned)</a:t>
            </a:r>
            <a:endParaRPr lang="en-US" sz="1050" dirty="0"/>
          </a:p>
          <a:p>
            <a:pPr marL="342900" indent="-342900">
              <a:spcAft>
                <a:spcPts val="300"/>
              </a:spcAft>
              <a:buSzPct val="100000"/>
              <a:buChar char="•"/>
            </a:pPr>
            <a:r>
              <a:rPr lang="en-US" sz="1050" dirty="0">
                <a:solidFill>
                  <a:schemeClr val="tx1"/>
                </a:solidFill>
              </a:rPr>
              <a:t>LightGBM break risk + SHAP reasons</a:t>
            </a:r>
            <a:endParaRPr lang="en-US" sz="1050" dirty="0"/>
          </a:p>
          <a:p>
            <a:pPr marL="342900" indent="-342900">
              <a:spcAft>
                <a:spcPts val="300"/>
              </a:spcAft>
              <a:buSzPct val="100000"/>
              <a:buChar char="•"/>
            </a:pPr>
            <a:r>
              <a:rPr lang="en-US" sz="1050" dirty="0">
                <a:solidFill>
                  <a:schemeClr val="tx1"/>
                </a:solidFill>
              </a:rPr>
              <a:t>Hardship score + affordability</a:t>
            </a:r>
            <a:endParaRPr lang="en-US" sz="1050" dirty="0"/>
          </a:p>
          <a:p>
            <a:pPr marL="342900" indent="-342900">
              <a:spcAft>
                <a:spcPts val="300"/>
              </a:spcAft>
              <a:buSzPct val="100000"/>
              <a:buChar char="•"/>
            </a:pPr>
            <a:r>
              <a:rPr lang="en-US" sz="1050" dirty="0">
                <a:solidFill>
                  <a:schemeClr val="tx1"/>
                </a:solidFill>
              </a:rPr>
              <a:t>Policy engine → action, channel, timing, plan</a:t>
            </a:r>
            <a:endParaRPr lang="en-US" sz="1050" dirty="0"/>
          </a:p>
        </p:txBody>
      </p:sp>
      <p:sp>
        <p:nvSpPr>
          <p:cNvPr id="15" name="Shape 13"/>
          <p:cNvSpPr/>
          <p:nvPr/>
        </p:nvSpPr>
        <p:spPr>
          <a:xfrm>
            <a:off x="8732520" y="1280160"/>
            <a:ext cx="1371600" cy="4343400"/>
          </a:xfrm>
          <a:prstGeom prst="roundRect">
            <a:avLst>
              <a:gd name="adj" fmla="val 5333"/>
            </a:avLst>
          </a:prstGeom>
          <a:solidFill>
            <a:schemeClr val="bg1"/>
          </a:solidFill>
          <a:ln w="15875">
            <a:solidFill>
              <a:schemeClr val="accent5"/>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8842248" y="1353312"/>
            <a:ext cx="1152144" cy="384048"/>
          </a:xfrm>
          <a:prstGeom prst="rect">
            <a:avLst/>
          </a:prstGeom>
          <a:noFill/>
          <a:ln/>
        </p:spPr>
        <p:txBody>
          <a:bodyPr wrap="square" lIns="635" tIns="635" rIns="635" bIns="635" rtlCol="0" anchor="t"/>
          <a:lstStyle/>
          <a:p>
            <a:pPr indent="0" marL="0">
              <a:buNone/>
            </a:pPr>
            <a:r>
              <a:rPr lang="en-US" sz="1300" b="1" dirty="0">
                <a:solidFill>
                  <a:schemeClr val="tx2"/>
                </a:solidFill>
              </a:rPr>
              <a:t>API + events</a:t>
            </a:r>
            <a:endParaRPr lang="en-US" sz="1300" dirty="0"/>
          </a:p>
        </p:txBody>
      </p:sp>
      <p:sp>
        <p:nvSpPr>
          <p:cNvPr id="17" name="Text 15"/>
          <p:cNvSpPr txBox="1"/>
          <p:nvPr/>
        </p:nvSpPr>
        <p:spPr>
          <a:xfrm>
            <a:off x="8842248" y="1737360"/>
            <a:ext cx="1152144" cy="3794760"/>
          </a:xfrm>
          <a:prstGeom prst="rect">
            <a:avLst/>
          </a:prstGeom>
          <a:noFill/>
          <a:ln/>
        </p:spPr>
        <p:txBody>
          <a:bodyPr wrap="square" lIns="635" tIns="635" rIns="635" bIns="635" rtlCol="0" anchor="t"/>
          <a:lstStyle/>
          <a:p>
            <a:pPr marL="342900" indent="-342900">
              <a:spcAft>
                <a:spcPts val="300"/>
              </a:spcAft>
              <a:buSzPct val="100000"/>
              <a:buChar char="•"/>
            </a:pPr>
            <a:r>
              <a:rPr lang="en-US" sz="1050" dirty="0">
                <a:solidFill>
                  <a:schemeClr val="tx1"/>
                </a:solidFill>
              </a:rPr>
              <a:t>FastAPI</a:t>
            </a:r>
            <a:endParaRPr lang="en-US" sz="1050" dirty="0"/>
          </a:p>
          <a:p>
            <a:pPr marL="342900" indent="-342900">
              <a:spcAft>
                <a:spcPts val="300"/>
              </a:spcAft>
              <a:buSzPct val="100000"/>
              <a:buChar char="•"/>
            </a:pPr>
            <a:r>
              <a:rPr lang="en-US" sz="1050" dirty="0">
                <a:solidFill>
                  <a:schemeClr val="tx1"/>
                </a:solidFill>
              </a:rPr>
              <a:t>/c360</a:t>
            </a:r>
            <a:endParaRPr lang="en-US" sz="1050" dirty="0"/>
          </a:p>
          <a:p>
            <a:pPr marL="342900" indent="-342900">
              <a:spcAft>
                <a:spcPts val="300"/>
              </a:spcAft>
              <a:buSzPct val="100000"/>
              <a:buChar char="•"/>
            </a:pPr>
            <a:r>
              <a:rPr lang="en-US" sz="1050" dirty="0">
                <a:solidFill>
                  <a:schemeClr val="tx1"/>
                </a:solidFill>
              </a:rPr>
              <a:t>/ask</a:t>
            </a:r>
            <a:endParaRPr lang="en-US" sz="1050" dirty="0"/>
          </a:p>
          <a:p>
            <a:pPr marL="342900" indent="-342900">
              <a:spcAft>
                <a:spcPts val="300"/>
              </a:spcAft>
              <a:buSzPct val="100000"/>
              <a:buChar char="•"/>
            </a:pPr>
            <a:r>
              <a:rPr lang="en-US" sz="1050" dirty="0">
                <a:solidFill>
                  <a:schemeClr val="tx1"/>
                </a:solidFill>
              </a:rPr>
              <a:t>/nba</a:t>
            </a:r>
            <a:endParaRPr lang="en-US" sz="1050" dirty="0"/>
          </a:p>
          <a:p>
            <a:pPr marL="342900" indent="-342900">
              <a:spcAft>
                <a:spcPts val="300"/>
              </a:spcAft>
              <a:buSzPct val="100000"/>
              <a:buChar char="•"/>
            </a:pPr>
            <a:r>
              <a:rPr lang="en-US" sz="1050" dirty="0">
                <a:solidFill>
                  <a:schemeClr val="tx1"/>
                </a:solidFill>
              </a:rPr>
              <a:t>/events/ contact-completed</a:t>
            </a:r>
            <a:endParaRPr lang="en-US" sz="1050" dirty="0"/>
          </a:p>
          <a:p>
            <a:pPr marL="342900" indent="-342900">
              <a:spcAft>
                <a:spcPts val="300"/>
              </a:spcAft>
              <a:buSzPct val="100000"/>
              <a:buChar char="•"/>
            </a:pPr>
            <a:r>
              <a:rPr lang="en-US" sz="1050" dirty="0">
                <a:solidFill>
                  <a:schemeClr val="tx1"/>
                </a:solidFill>
              </a:rPr>
              <a:t>Live push (SSE)</a:t>
            </a:r>
            <a:endParaRPr lang="en-US" sz="1050" dirty="0"/>
          </a:p>
          <a:p>
            <a:pPr marL="342900" indent="-342900">
              <a:spcAft>
                <a:spcPts val="300"/>
              </a:spcAft>
              <a:buSzPct val="100000"/>
              <a:buChar char="•"/>
            </a:pPr>
            <a:r>
              <a:rPr lang="en-US" sz="1050" dirty="0">
                <a:solidFill>
                  <a:schemeClr val="tx1"/>
                </a:solidFill>
              </a:rPr>
              <a:t>Audit log</a:t>
            </a:r>
            <a:endParaRPr lang="en-US" sz="1050" dirty="0"/>
          </a:p>
        </p:txBody>
      </p:sp>
      <p:sp>
        <p:nvSpPr>
          <p:cNvPr id="18" name="Shape 16"/>
          <p:cNvSpPr/>
          <p:nvPr/>
        </p:nvSpPr>
        <p:spPr>
          <a:xfrm>
            <a:off x="10332720" y="1280160"/>
            <a:ext cx="1325880" cy="4343400"/>
          </a:xfrm>
          <a:prstGeom prst="roundRect">
            <a:avLst>
              <a:gd name="adj" fmla="val 5517"/>
            </a:avLst>
          </a:prstGeom>
          <a:solidFill>
            <a:schemeClr val="bg1"/>
          </a:solidFill>
          <a:ln w="15875">
            <a:solidFill>
              <a:schemeClr val="accent5"/>
            </a:solidFill>
            <a:prstDash val="solid"/>
          </a:ln>
          <a:effectLst>
            <a:outerShdw sx="100000" sy="100000" kx="0" ky="0" algn="bl" rotWithShape="0" blurRad="101600" dist="25400" dir="5400000">
              <a:srgbClr val="000000">
                <a:alpha val="12000"/>
              </a:srgbClr>
            </a:outerShdw>
          </a:effectLst>
        </p:spPr>
      </p:sp>
      <p:sp>
        <p:nvSpPr>
          <p:cNvPr id="19" name="Text 17"/>
          <p:cNvSpPr txBox="1"/>
          <p:nvPr/>
        </p:nvSpPr>
        <p:spPr>
          <a:xfrm>
            <a:off x="10442448" y="1353312"/>
            <a:ext cx="1106424" cy="384048"/>
          </a:xfrm>
          <a:prstGeom prst="rect">
            <a:avLst/>
          </a:prstGeom>
          <a:noFill/>
          <a:ln/>
        </p:spPr>
        <p:txBody>
          <a:bodyPr wrap="square" lIns="635" tIns="635" rIns="635" bIns="635" rtlCol="0" anchor="t"/>
          <a:lstStyle/>
          <a:p>
            <a:pPr indent="0" marL="0">
              <a:buNone/>
            </a:pPr>
            <a:r>
              <a:rPr lang="en-US" sz="1300" b="1" dirty="0">
                <a:solidFill>
                  <a:schemeClr val="tx2"/>
                </a:solidFill>
              </a:rPr>
              <a:t>Agent UI</a:t>
            </a:r>
            <a:endParaRPr lang="en-US" sz="1300" dirty="0"/>
          </a:p>
        </p:txBody>
      </p:sp>
      <p:sp>
        <p:nvSpPr>
          <p:cNvPr id="20" name="Text 18"/>
          <p:cNvSpPr txBox="1"/>
          <p:nvPr/>
        </p:nvSpPr>
        <p:spPr>
          <a:xfrm>
            <a:off x="10442448" y="1737360"/>
            <a:ext cx="1106424" cy="3794760"/>
          </a:xfrm>
          <a:prstGeom prst="rect">
            <a:avLst/>
          </a:prstGeom>
          <a:noFill/>
          <a:ln/>
        </p:spPr>
        <p:txBody>
          <a:bodyPr wrap="square" lIns="635" tIns="635" rIns="635" bIns="635" rtlCol="0" anchor="t"/>
          <a:lstStyle/>
          <a:p>
            <a:pPr marL="342900" indent="-342900">
              <a:spcAft>
                <a:spcPts val="300"/>
              </a:spcAft>
              <a:buSzPct val="100000"/>
              <a:buChar char="•"/>
            </a:pPr>
            <a:r>
              <a:rPr lang="en-US" sz="1050" dirty="0">
                <a:solidFill>
                  <a:schemeClr val="tx1"/>
                </a:solidFill>
              </a:rPr>
              <a:t>C360 view</a:t>
            </a:r>
            <a:endParaRPr lang="en-US" sz="1050" dirty="0"/>
          </a:p>
          <a:p>
            <a:pPr marL="342900" indent="-342900">
              <a:spcAft>
                <a:spcPts val="300"/>
              </a:spcAft>
              <a:buSzPct val="100000"/>
              <a:buChar char="•"/>
            </a:pPr>
            <a:r>
              <a:rPr lang="en-US" sz="1050" dirty="0">
                <a:solidFill>
                  <a:schemeClr val="tx1"/>
                </a:solidFill>
              </a:rPr>
              <a:t>Ask</a:t>
            </a:r>
            <a:endParaRPr lang="en-US" sz="1050" dirty="0"/>
          </a:p>
          <a:p>
            <a:pPr marL="342900" indent="-342900">
              <a:spcAft>
                <a:spcPts val="300"/>
              </a:spcAft>
              <a:buSzPct val="100000"/>
              <a:buChar char="•"/>
            </a:pPr>
            <a:r>
              <a:rPr lang="en-US" sz="1050" dirty="0">
                <a:solidFill>
                  <a:schemeClr val="tx1"/>
                </a:solidFill>
              </a:rPr>
              <a:t>NBA queue: approve / override</a:t>
            </a:r>
            <a:endParaRPr lang="en-US" sz="1050" dirty="0"/>
          </a:p>
          <a:p>
            <a:pPr marL="342900" indent="-342900">
              <a:spcAft>
                <a:spcPts val="300"/>
              </a:spcAft>
              <a:buSzPct val="100000"/>
              <a:buChar char="•"/>
            </a:pPr>
            <a:r>
              <a:rPr lang="en-US" sz="1050" dirty="0">
                <a:solidFill>
                  <a:schemeClr val="tx1"/>
                </a:solidFill>
              </a:rPr>
              <a:t>Governance tab</a:t>
            </a:r>
            <a:endParaRPr lang="en-US" sz="1050" dirty="0"/>
          </a:p>
        </p:txBody>
      </p:sp>
      <p:sp>
        <p:nvSpPr>
          <p:cNvPr id="21" name="Shape 19"/>
          <p:cNvSpPr/>
          <p:nvPr/>
        </p:nvSpPr>
        <p:spPr>
          <a:xfrm>
            <a:off x="2395728" y="3429000"/>
            <a:ext cx="274320" cy="0"/>
          </a:xfrm>
          <a:prstGeom prst="line">
            <a:avLst/>
          </a:prstGeom>
          <a:noFill/>
          <a:ln w="22225">
            <a:solidFill>
              <a:schemeClr val="accent4"/>
            </a:solidFill>
            <a:prstDash val="solid"/>
            <a:tailEnd type="triangle"/>
          </a:ln>
        </p:spPr>
      </p:sp>
      <p:sp>
        <p:nvSpPr>
          <p:cNvPr id="22" name="Shape 20"/>
          <p:cNvSpPr/>
          <p:nvPr/>
        </p:nvSpPr>
        <p:spPr>
          <a:xfrm>
            <a:off x="5093208" y="2331720"/>
            <a:ext cx="274320" cy="0"/>
          </a:xfrm>
          <a:prstGeom prst="line">
            <a:avLst/>
          </a:prstGeom>
          <a:noFill/>
          <a:ln w="22225">
            <a:solidFill>
              <a:schemeClr val="accent4"/>
            </a:solidFill>
            <a:prstDash val="solid"/>
            <a:tailEnd type="triangle"/>
          </a:ln>
        </p:spPr>
      </p:sp>
      <p:sp>
        <p:nvSpPr>
          <p:cNvPr id="23" name="Shape 21"/>
          <p:cNvSpPr/>
          <p:nvPr/>
        </p:nvSpPr>
        <p:spPr>
          <a:xfrm>
            <a:off x="5093208" y="4572000"/>
            <a:ext cx="274320" cy="0"/>
          </a:xfrm>
          <a:prstGeom prst="line">
            <a:avLst/>
          </a:prstGeom>
          <a:noFill/>
          <a:ln w="22225">
            <a:solidFill>
              <a:schemeClr val="accent4"/>
            </a:solidFill>
            <a:prstDash val="solid"/>
            <a:tailEnd type="triangle"/>
          </a:ln>
        </p:spPr>
      </p:sp>
      <p:sp>
        <p:nvSpPr>
          <p:cNvPr id="24" name="Shape 22"/>
          <p:cNvSpPr/>
          <p:nvPr/>
        </p:nvSpPr>
        <p:spPr>
          <a:xfrm>
            <a:off x="8430768" y="2331720"/>
            <a:ext cx="274320" cy="0"/>
          </a:xfrm>
          <a:prstGeom prst="line">
            <a:avLst/>
          </a:prstGeom>
          <a:noFill/>
          <a:ln w="22225">
            <a:solidFill>
              <a:schemeClr val="accent4"/>
            </a:solidFill>
            <a:prstDash val="solid"/>
            <a:tailEnd type="triangle"/>
          </a:ln>
        </p:spPr>
      </p:sp>
      <p:sp>
        <p:nvSpPr>
          <p:cNvPr id="25" name="Shape 23"/>
          <p:cNvSpPr/>
          <p:nvPr/>
        </p:nvSpPr>
        <p:spPr>
          <a:xfrm>
            <a:off x="8430768" y="4572000"/>
            <a:ext cx="274320" cy="0"/>
          </a:xfrm>
          <a:prstGeom prst="line">
            <a:avLst/>
          </a:prstGeom>
          <a:noFill/>
          <a:ln w="22225">
            <a:solidFill>
              <a:schemeClr val="accent4"/>
            </a:solidFill>
            <a:prstDash val="solid"/>
            <a:tailEnd type="triangle"/>
          </a:ln>
        </p:spPr>
      </p:sp>
      <p:sp>
        <p:nvSpPr>
          <p:cNvPr id="26" name="Shape 24"/>
          <p:cNvSpPr/>
          <p:nvPr/>
        </p:nvSpPr>
        <p:spPr>
          <a:xfrm>
            <a:off x="10122408" y="3429000"/>
            <a:ext cx="182880" cy="0"/>
          </a:xfrm>
          <a:prstGeom prst="line">
            <a:avLst/>
          </a:prstGeom>
          <a:noFill/>
          <a:ln w="22225">
            <a:solidFill>
              <a:schemeClr val="accent4"/>
            </a:solidFill>
            <a:prstDash val="solid"/>
            <a:tailEnd type="triangle"/>
          </a:ln>
        </p:spPr>
      </p:sp>
      <p:sp>
        <p:nvSpPr>
          <p:cNvPr id="27" name="Text 25"/>
          <p:cNvSpPr txBox="1"/>
          <p:nvPr/>
        </p:nvSpPr>
        <p:spPr>
          <a:xfrm>
            <a:off x="548640" y="5760720"/>
            <a:ext cx="11109960" cy="502920"/>
          </a:xfrm>
          <a:prstGeom prst="roundRect">
            <a:avLst>
              <a:gd name="adj" fmla="val 14545"/>
            </a:avLst>
          </a:prstGeom>
          <a:solidFill>
            <a:schemeClr val="tx2"/>
          </a:solidFill>
          <a:ln>
            <a:solidFill>
              <a:schemeClr val="tx2"/>
            </a:solidFill>
          </a:ln>
        </p:spPr>
        <p:txBody>
          <a:bodyPr wrap="square" lIns="635" tIns="635" rIns="635" bIns="635" rtlCol="0" anchor="ctr"/>
          <a:lstStyle/>
          <a:p>
            <a:pPr algn="ctr" indent="0" marL="0">
              <a:buNone/>
            </a:pPr>
            <a:r>
              <a:rPr lang="en-US" sz="1200" b="1" dirty="0">
                <a:solidFill>
                  <a:schemeClr val="bg1"/>
                </a:solidFill>
              </a:rPr>
              <a:t>Governance in every layer:  data contract  ·  PII redaction  ·  access by role  ·  no protected attributes  ·  hardship circuit breaker  ·  explanations  ·  human approve / override  ·  audit log</a:t>
            </a:r>
            <a:endParaRPr lang="en-US" sz="12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Layer 1: one customer, one ID, one trust score</a:t>
            </a:r>
            <a:endParaRPr lang="en-US" sz="3000" dirty="0"/>
          </a:p>
        </p:txBody>
      </p:sp>
      <p:sp>
        <p:nvSpPr>
          <p:cNvPr id="3" name="Text 1"/>
          <p:cNvSpPr txBox="1"/>
          <p:nvPr/>
        </p:nvSpPr>
        <p:spPr>
          <a:xfrm>
            <a:off x="548640" y="1280160"/>
            <a:ext cx="1783080" cy="822960"/>
          </a:xfrm>
          <a:prstGeom prst="chevron">
            <a:avLst/>
          </a:prstGeom>
          <a:solidFill>
            <a:schemeClr val="accent1"/>
          </a:solidFill>
          <a:ln>
            <a:solidFill>
              <a:schemeClr val="bg1"/>
            </a:solidFill>
          </a:ln>
        </p:spPr>
        <p:txBody>
          <a:bodyPr wrap="square" lIns="0" tIns="4445" rIns="3810" bIns="0" rtlCol="0" anchor="ctr"/>
          <a:lstStyle/>
          <a:p>
            <a:pPr algn="ctr" indent="0" marL="0">
              <a:buNone/>
            </a:pPr>
            <a:r>
              <a:rPr lang="en-US" sz="1300" b="1" dirty="0">
                <a:solidFill>
                  <a:schemeClr val="bg1"/>
                </a:solidFill>
              </a:rPr>
              <a:t>Raw</a:t>
            </a:r>
            <a:endParaRPr lang="en-US" sz="1300" dirty="0"/>
          </a:p>
          <a:p>
            <a:pPr algn="ctr" indent="0" marL="0">
              <a:buNone/>
            </a:pPr>
            <a:r>
              <a:rPr lang="en-US" sz="1000" dirty="0">
                <a:solidFill>
                  <a:schemeClr val="bg1"/>
                </a:solidFill>
              </a:rPr>
              <a:t>loaded as-is</a:t>
            </a:r>
            <a:endParaRPr lang="en-US" sz="1300" dirty="0"/>
          </a:p>
        </p:txBody>
      </p:sp>
      <p:sp>
        <p:nvSpPr>
          <p:cNvPr id="4" name="Text 2"/>
          <p:cNvSpPr txBox="1"/>
          <p:nvPr/>
        </p:nvSpPr>
        <p:spPr>
          <a:xfrm>
            <a:off x="2176272" y="1280160"/>
            <a:ext cx="1783080" cy="822960"/>
          </a:xfrm>
          <a:prstGeom prst="chevron">
            <a:avLst/>
          </a:prstGeom>
          <a:solidFill>
            <a:schemeClr val="accent1"/>
          </a:solidFill>
          <a:ln>
            <a:solidFill>
              <a:schemeClr val="bg1"/>
            </a:solidFill>
          </a:ln>
        </p:spPr>
        <p:txBody>
          <a:bodyPr wrap="square" lIns="0" tIns="4445" rIns="3810" bIns="0" rtlCol="0" anchor="ctr"/>
          <a:lstStyle/>
          <a:p>
            <a:pPr algn="ctr" indent="0" marL="0">
              <a:buNone/>
            </a:pPr>
            <a:r>
              <a:rPr lang="en-US" sz="1300" b="1" dirty="0">
                <a:solidFill>
                  <a:schemeClr val="bg1"/>
                </a:solidFill>
              </a:rPr>
              <a:t>Curated</a:t>
            </a:r>
            <a:endParaRPr lang="en-US" sz="1300" dirty="0"/>
          </a:p>
          <a:p>
            <a:pPr algn="ctr" indent="0" marL="0">
              <a:buNone/>
            </a:pPr>
            <a:r>
              <a:rPr lang="en-US" sz="1000" dirty="0">
                <a:solidFill>
                  <a:schemeClr val="bg1"/>
                </a:solidFill>
              </a:rPr>
              <a:t>typed, deduped, rejects logged</a:t>
            </a:r>
            <a:endParaRPr lang="en-US" sz="1300" dirty="0"/>
          </a:p>
        </p:txBody>
      </p:sp>
      <p:sp>
        <p:nvSpPr>
          <p:cNvPr id="5" name="Text 3"/>
          <p:cNvSpPr txBox="1"/>
          <p:nvPr/>
        </p:nvSpPr>
        <p:spPr>
          <a:xfrm>
            <a:off x="3803904" y="1280160"/>
            <a:ext cx="1783080" cy="822960"/>
          </a:xfrm>
          <a:prstGeom prst="chevron">
            <a:avLst/>
          </a:prstGeom>
          <a:solidFill>
            <a:schemeClr val="tx2"/>
          </a:solidFill>
          <a:ln>
            <a:solidFill>
              <a:schemeClr val="bg1"/>
            </a:solidFill>
          </a:ln>
        </p:spPr>
        <p:txBody>
          <a:bodyPr wrap="square" lIns="0" tIns="4445" rIns="3810" bIns="0" rtlCol="0" anchor="ctr"/>
          <a:lstStyle/>
          <a:p>
            <a:pPr algn="ctr" indent="0" marL="0">
              <a:buNone/>
            </a:pPr>
            <a:r>
              <a:rPr lang="en-US" sz="1300" b="1" dirty="0">
                <a:solidFill>
                  <a:schemeClr val="bg1"/>
                </a:solidFill>
              </a:rPr>
              <a:t>Golden C360</a:t>
            </a:r>
            <a:endParaRPr lang="en-US" sz="1300" dirty="0"/>
          </a:p>
          <a:p>
            <a:pPr algn="ctr" indent="0" marL="0">
              <a:buNone/>
            </a:pPr>
            <a:r>
              <a:rPr lang="en-US" sz="1000" dirty="0">
                <a:solidFill>
                  <a:schemeClr val="bg1"/>
                </a:solidFill>
              </a:rPr>
              <a:t>one row per customer</a:t>
            </a:r>
            <a:endParaRPr lang="en-US" sz="1300" dirty="0"/>
          </a:p>
        </p:txBody>
      </p:sp>
      <p:sp>
        <p:nvSpPr>
          <p:cNvPr id="6" name="Text 4"/>
          <p:cNvSpPr txBox="1"/>
          <p:nvPr/>
        </p:nvSpPr>
        <p:spPr>
          <a:xfrm>
            <a:off x="5431536" y="1280160"/>
            <a:ext cx="1783080" cy="822960"/>
          </a:xfrm>
          <a:prstGeom prst="chevron">
            <a:avLst/>
          </a:prstGeom>
          <a:solidFill>
            <a:schemeClr val="accent1"/>
          </a:solidFill>
          <a:ln>
            <a:solidFill>
              <a:schemeClr val="bg1"/>
            </a:solidFill>
          </a:ln>
        </p:spPr>
        <p:txBody>
          <a:bodyPr wrap="square" lIns="0" tIns="4445" rIns="3810" bIns="0" rtlCol="0" anchor="ctr"/>
          <a:lstStyle/>
          <a:p>
            <a:pPr algn="ctr" indent="0" marL="0">
              <a:buNone/>
            </a:pPr>
            <a:r>
              <a:rPr lang="en-US" sz="1300" b="1" dirty="0">
                <a:solidFill>
                  <a:schemeClr val="bg1"/>
                </a:solidFill>
              </a:rPr>
              <a:t>Feature-ready</a:t>
            </a:r>
            <a:endParaRPr lang="en-US" sz="1300" dirty="0"/>
          </a:p>
          <a:p>
            <a:pPr algn="ctr" indent="0" marL="0">
              <a:buNone/>
            </a:pPr>
            <a:r>
              <a:rPr lang="en-US" sz="1000" dirty="0">
                <a:solidFill>
                  <a:schemeClr val="bg1"/>
                </a:solidFill>
              </a:rPr>
              <a:t>for Ask and decisions</a:t>
            </a:r>
            <a:endParaRPr lang="en-US" sz="1300" dirty="0"/>
          </a:p>
        </p:txBody>
      </p:sp>
      <p:sp>
        <p:nvSpPr>
          <p:cNvPr id="7" name="Text 5"/>
          <p:cNvSpPr txBox="1"/>
          <p:nvPr/>
        </p:nvSpPr>
        <p:spPr>
          <a:xfrm>
            <a:off x="548640" y="2377440"/>
            <a:ext cx="6492240" cy="365760"/>
          </a:xfrm>
          <a:prstGeom prst="rect">
            <a:avLst/>
          </a:prstGeom>
          <a:noFill/>
          <a:ln/>
        </p:spPr>
        <p:txBody>
          <a:bodyPr wrap="square" lIns="635" tIns="635" rIns="635" bIns="635" rtlCol="0" anchor="t"/>
          <a:lstStyle/>
          <a:p>
            <a:pPr indent="0" marL="0">
              <a:buNone/>
            </a:pPr>
            <a:r>
              <a:rPr lang="en-US" sz="1400" b="1" dirty="0">
                <a:solidFill>
                  <a:schemeClr val="tx2"/>
                </a:solidFill>
              </a:rPr>
              <a:t>Identity resolution: exact keys first, then fuzzy matching, every link scored</a:t>
            </a:r>
            <a:endParaRPr lang="en-US" sz="1400" dirty="0"/>
          </a:p>
        </p:txBody>
      </p:sp>
      <p:sp>
        <p:nvSpPr>
          <p:cNvPr id="8" name="Text 6"/>
          <p:cNvSpPr txBox="1"/>
          <p:nvPr/>
        </p:nvSpPr>
        <p:spPr>
          <a:xfrm>
            <a:off x="548640" y="2834640"/>
            <a:ext cx="2194560" cy="411480"/>
          </a:xfrm>
          <a:prstGeom prst="roundRect">
            <a:avLst>
              <a:gd name="adj" fmla="val 13333"/>
            </a:avLst>
          </a:prstGeom>
          <a:solidFill>
            <a:schemeClr val="bg2"/>
          </a:solidFill>
          <a:ln>
            <a:solidFill>
              <a:schemeClr val="bg2"/>
            </a:solidFill>
          </a:ln>
        </p:spPr>
        <p:txBody>
          <a:bodyPr wrap="square" lIns="508" tIns="508" rIns="508" bIns="508"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cards: C-88013</a:t>
            </a:r>
            <a:endParaRPr lang="en-US" sz="1100" dirty="0"/>
          </a:p>
        </p:txBody>
      </p:sp>
      <p:sp>
        <p:nvSpPr>
          <p:cNvPr id="9" name="Shape 7"/>
          <p:cNvSpPr/>
          <p:nvPr/>
        </p:nvSpPr>
        <p:spPr>
          <a:xfrm>
            <a:off x="2761488" y="3035808"/>
            <a:ext cx="1143000" cy="1097280"/>
          </a:xfrm>
          <a:prstGeom prst="line">
            <a:avLst/>
          </a:prstGeom>
          <a:noFill/>
          <a:ln w="15875">
            <a:solidFill>
              <a:schemeClr val="accent5"/>
            </a:solidFill>
            <a:prstDash val="solid"/>
            <a:tailEnd type="triangle"/>
          </a:ln>
        </p:spPr>
      </p:sp>
      <p:sp>
        <p:nvSpPr>
          <p:cNvPr id="10" name="Text 8"/>
          <p:cNvSpPr txBox="1"/>
          <p:nvPr/>
        </p:nvSpPr>
        <p:spPr>
          <a:xfrm>
            <a:off x="548640" y="3383280"/>
            <a:ext cx="2194560" cy="411480"/>
          </a:xfrm>
          <a:prstGeom prst="roundRect">
            <a:avLst>
              <a:gd name="adj" fmla="val 13333"/>
            </a:avLst>
          </a:prstGeom>
          <a:solidFill>
            <a:schemeClr val="bg2"/>
          </a:solidFill>
          <a:ln>
            <a:solidFill>
              <a:schemeClr val="bg2"/>
            </a:solidFill>
          </a:ln>
        </p:spPr>
        <p:txBody>
          <a:bodyPr wrap="square" lIns="508" tIns="508" rIns="508" bIns="508"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loans: L-553017</a:t>
            </a:r>
            <a:endParaRPr lang="en-US" sz="1100" dirty="0"/>
          </a:p>
        </p:txBody>
      </p:sp>
      <p:sp>
        <p:nvSpPr>
          <p:cNvPr id="11" name="Shape 9"/>
          <p:cNvSpPr/>
          <p:nvPr/>
        </p:nvSpPr>
        <p:spPr>
          <a:xfrm>
            <a:off x="2761488" y="3584448"/>
            <a:ext cx="1143000" cy="548640"/>
          </a:xfrm>
          <a:prstGeom prst="line">
            <a:avLst/>
          </a:prstGeom>
          <a:noFill/>
          <a:ln w="15875">
            <a:solidFill>
              <a:schemeClr val="accent5"/>
            </a:solidFill>
            <a:prstDash val="solid"/>
            <a:tailEnd type="triangle"/>
          </a:ln>
        </p:spPr>
      </p:sp>
      <p:sp>
        <p:nvSpPr>
          <p:cNvPr id="12" name="Text 10"/>
          <p:cNvSpPr txBox="1"/>
          <p:nvPr/>
        </p:nvSpPr>
        <p:spPr>
          <a:xfrm>
            <a:off x="548640" y="3931920"/>
            <a:ext cx="2194560" cy="411480"/>
          </a:xfrm>
          <a:prstGeom prst="roundRect">
            <a:avLst>
              <a:gd name="adj" fmla="val 13333"/>
            </a:avLst>
          </a:prstGeom>
          <a:solidFill>
            <a:schemeClr val="bg2"/>
          </a:solidFill>
          <a:ln>
            <a:solidFill>
              <a:schemeClr val="bg2"/>
            </a:solidFill>
          </a:ln>
        </p:spPr>
        <p:txBody>
          <a:bodyPr wrap="square" lIns="508" tIns="508" rIns="508" bIns="508"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deposits: DEP-7711</a:t>
            </a:r>
            <a:endParaRPr lang="en-US" sz="1100" dirty="0"/>
          </a:p>
        </p:txBody>
      </p:sp>
      <p:sp>
        <p:nvSpPr>
          <p:cNvPr id="13" name="Shape 11"/>
          <p:cNvSpPr/>
          <p:nvPr/>
        </p:nvSpPr>
        <p:spPr>
          <a:xfrm>
            <a:off x="2761488" y="4133088"/>
            <a:ext cx="1143000" cy="914"/>
          </a:xfrm>
          <a:prstGeom prst="line">
            <a:avLst/>
          </a:prstGeom>
          <a:noFill/>
          <a:ln w="15875">
            <a:solidFill>
              <a:schemeClr val="accent5"/>
            </a:solidFill>
            <a:prstDash val="solid"/>
            <a:tailEnd type="triangle"/>
          </a:ln>
        </p:spPr>
      </p:sp>
      <p:sp>
        <p:nvSpPr>
          <p:cNvPr id="14" name="Text 12"/>
          <p:cNvSpPr txBox="1"/>
          <p:nvPr/>
        </p:nvSpPr>
        <p:spPr>
          <a:xfrm>
            <a:off x="548640" y="4480560"/>
            <a:ext cx="2194560" cy="411480"/>
          </a:xfrm>
          <a:prstGeom prst="roundRect">
            <a:avLst>
              <a:gd name="adj" fmla="val 13333"/>
            </a:avLst>
          </a:prstGeom>
          <a:solidFill>
            <a:schemeClr val="bg2"/>
          </a:solidFill>
          <a:ln>
            <a:solidFill>
              <a:schemeClr val="bg2"/>
            </a:solidFill>
          </a:ln>
        </p:spPr>
        <p:txBody>
          <a:bodyPr wrap="square" lIns="508" tIns="508" rIns="508" bIns="508"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crm: CRM-1107</a:t>
            </a:r>
            <a:endParaRPr lang="en-US" sz="1100" dirty="0"/>
          </a:p>
        </p:txBody>
      </p:sp>
      <p:sp>
        <p:nvSpPr>
          <p:cNvPr id="15" name="Shape 13"/>
          <p:cNvSpPr/>
          <p:nvPr/>
        </p:nvSpPr>
        <p:spPr>
          <a:xfrm flipV="1">
            <a:off x="2761488" y="4133088"/>
            <a:ext cx="1143000" cy="548640"/>
          </a:xfrm>
          <a:prstGeom prst="line">
            <a:avLst/>
          </a:prstGeom>
          <a:noFill/>
          <a:ln w="15875">
            <a:solidFill>
              <a:schemeClr val="accent5"/>
            </a:solidFill>
            <a:prstDash val="solid"/>
            <a:tailEnd type="triangle"/>
          </a:ln>
        </p:spPr>
      </p:sp>
      <p:sp>
        <p:nvSpPr>
          <p:cNvPr id="16" name="Text 14"/>
          <p:cNvSpPr txBox="1"/>
          <p:nvPr/>
        </p:nvSpPr>
        <p:spPr>
          <a:xfrm>
            <a:off x="548640" y="5029200"/>
            <a:ext cx="2194560" cy="411480"/>
          </a:xfrm>
          <a:prstGeom prst="roundRect">
            <a:avLst>
              <a:gd name="adj" fmla="val 13333"/>
            </a:avLst>
          </a:prstGeom>
          <a:solidFill>
            <a:schemeClr val="bg2"/>
          </a:solidFill>
          <a:ln>
            <a:solidFill>
              <a:schemeClr val="bg2"/>
            </a:solidFill>
          </a:ln>
        </p:spPr>
        <p:txBody>
          <a:bodyPr wrap="square" lIns="508" tIns="508" rIns="508" bIns="508" rtlCol="0" anchor="ctr"/>
          <a:lstStyle/>
          <a:p>
            <a:pPr algn="ctr" indent="0" marL="0">
              <a:buNone/>
            </a:pPr>
            <a:r>
              <a:rPr lang="en-US" sz="1100" dirty="0">
                <a:solidFill>
                  <a:schemeClr val="tx1"/>
                </a:solidFill>
                <a:latin typeface="Courier New" pitchFamily="34" charset="0"/>
                <a:ea typeface="Courier New" pitchFamily="34" charset="-122"/>
                <a:cs typeface="Courier New" pitchFamily="34" charset="-120"/>
              </a:rPr>
              <a:t>collections: COL-4019</a:t>
            </a:r>
            <a:endParaRPr lang="en-US" sz="1100" dirty="0"/>
          </a:p>
        </p:txBody>
      </p:sp>
      <p:sp>
        <p:nvSpPr>
          <p:cNvPr id="17" name="Shape 15"/>
          <p:cNvSpPr/>
          <p:nvPr/>
        </p:nvSpPr>
        <p:spPr>
          <a:xfrm flipV="1">
            <a:off x="2761488" y="4133088"/>
            <a:ext cx="1143000" cy="1097280"/>
          </a:xfrm>
          <a:prstGeom prst="line">
            <a:avLst/>
          </a:prstGeom>
          <a:noFill/>
          <a:ln w="15875">
            <a:solidFill>
              <a:schemeClr val="accent5"/>
            </a:solidFill>
            <a:prstDash val="solid"/>
            <a:tailEnd type="triangle"/>
          </a:ln>
        </p:spPr>
      </p:sp>
      <p:sp>
        <p:nvSpPr>
          <p:cNvPr id="18" name="Shape 16"/>
          <p:cNvSpPr/>
          <p:nvPr/>
        </p:nvSpPr>
        <p:spPr>
          <a:xfrm>
            <a:off x="3931920" y="3310128"/>
            <a:ext cx="1645920" cy="1645920"/>
          </a:xfrm>
          <a:prstGeom prst="ellipse">
            <a:avLst/>
          </a:prstGeom>
          <a:solidFill>
            <a:schemeClr val="tx2"/>
          </a:solidFill>
          <a:ln w="12700">
            <a:solidFill>
              <a:schemeClr val="tx2"/>
            </a:solidFill>
            <a:prstDash val="solid"/>
          </a:ln>
        </p:spPr>
      </p:sp>
      <p:sp>
        <p:nvSpPr>
          <p:cNvPr id="19" name="Text 17"/>
          <p:cNvSpPr txBox="1"/>
          <p:nvPr/>
        </p:nvSpPr>
        <p:spPr>
          <a:xfrm>
            <a:off x="3977640" y="3749040"/>
            <a:ext cx="1554480" cy="731520"/>
          </a:xfrm>
          <a:prstGeom prst="rect">
            <a:avLst/>
          </a:prstGeom>
          <a:noFill/>
          <a:ln/>
        </p:spPr>
        <p:txBody>
          <a:bodyPr wrap="square" lIns="635" tIns="635" rIns="635" bIns="635" rtlCol="0" anchor="ctr"/>
          <a:lstStyle/>
          <a:p>
            <a:pPr algn="ctr" indent="0" marL="0">
              <a:buNone/>
            </a:pPr>
            <a:r>
              <a:rPr lang="en-US" sz="1400" b="1" dirty="0">
                <a:solidFill>
                  <a:schemeClr val="bg1"/>
                </a:solidFill>
              </a:rPr>
              <a:t>G-004817</a:t>
            </a:r>
            <a:endParaRPr lang="en-US" sz="1200" dirty="0"/>
          </a:p>
          <a:p>
            <a:pPr algn="ctr" indent="0" marL="0">
              <a:buNone/>
            </a:pPr>
            <a:r>
              <a:rPr lang="en-US" sz="1200" dirty="0">
                <a:solidFill>
                  <a:schemeClr val="accent2"/>
                </a:solidFill>
              </a:rPr>
              <a:t>match 0.97</a:t>
            </a:r>
            <a:endParaRPr lang="en-US" sz="1200" dirty="0"/>
          </a:p>
        </p:txBody>
      </p:sp>
      <p:sp>
        <p:nvSpPr>
          <p:cNvPr id="20" name="Text 18"/>
          <p:cNvSpPr txBox="1"/>
          <p:nvPr/>
        </p:nvSpPr>
        <p:spPr>
          <a:xfrm>
            <a:off x="548640" y="5623560"/>
            <a:ext cx="6400800" cy="548640"/>
          </a:xfrm>
          <a:prstGeom prst="rect">
            <a:avLst/>
          </a:prstGeom>
          <a:noFill/>
          <a:ln/>
        </p:spPr>
        <p:txBody>
          <a:bodyPr wrap="square" lIns="635" tIns="635" rIns="635" bIns="635" rtlCol="0" anchor="t"/>
          <a:lstStyle/>
          <a:p>
            <a:pPr indent="0" marL="0">
              <a:buNone/>
            </a:pPr>
            <a:r>
              <a:rPr lang="en-US" sz="1100" i="1" dirty="0">
                <a:solidFill>
                  <a:schemeClr val="accent4"/>
                </a:solidFill>
              </a:rPr>
              <a:t>Matches below 0.80 go to a manual review list. Source IDs are kept as lineage, so a wrong merge can be undone.</a:t>
            </a:r>
            <a:endParaRPr lang="en-US" sz="1100" dirty="0"/>
          </a:p>
        </p:txBody>
      </p:sp>
      <p:sp>
        <p:nvSpPr>
          <p:cNvPr id="21" name="Shape 19"/>
          <p:cNvSpPr/>
          <p:nvPr/>
        </p:nvSpPr>
        <p:spPr>
          <a:xfrm>
            <a:off x="7269480" y="1280160"/>
            <a:ext cx="4389120" cy="3017520"/>
          </a:xfrm>
          <a:prstGeom prst="roundRect">
            <a:avLst>
              <a:gd name="adj" fmla="val 2424"/>
            </a:avLst>
          </a:prstGeom>
          <a:solidFill>
            <a:schemeClr val="bg2"/>
          </a:solidFill>
          <a:ln w="19050">
            <a:solidFill>
              <a:schemeClr val="accent1"/>
            </a:solidFill>
            <a:prstDash val="solid"/>
          </a:ln>
          <a:effectLst>
            <a:outerShdw sx="100000" sy="100000" kx="0" ky="0" algn="bl" rotWithShape="0" blurRad="101600" dist="25400" dir="5400000">
              <a:srgbClr val="000000">
                <a:alpha val="12000"/>
              </a:srgbClr>
            </a:outerShdw>
          </a:effectLst>
        </p:spPr>
      </p:sp>
      <p:sp>
        <p:nvSpPr>
          <p:cNvPr id="22" name="Shape 20"/>
          <p:cNvSpPr/>
          <p:nvPr/>
        </p:nvSpPr>
        <p:spPr>
          <a:xfrm>
            <a:off x="7452360" y="1444752"/>
            <a:ext cx="502920" cy="502920"/>
          </a:xfrm>
          <a:prstGeom prst="ellipse">
            <a:avLst/>
          </a:prstGeom>
          <a:solidFill>
            <a:schemeClr val="accent1"/>
          </a:solidFill>
          <a:ln w="12700">
            <a:solidFill>
              <a:schemeClr val="accent1"/>
            </a:solidFill>
            <a:prstDash val="solid"/>
          </a:ln>
        </p:spPr>
      </p:sp>
      <p:pic>
        <p:nvPicPr>
          <p:cNvPr id="23" name="Image 0" descr="preencoded.png">    </p:cNvPr>
          <p:cNvPicPr>
            <a:picLocks noChangeAspect="1"/>
          </p:cNvPicPr>
          <p:nvPr/>
        </p:nvPicPr>
        <p:blipFill>
          <a:blip r:embed="rId1"/>
          <a:stretch>
            <a:fillRect/>
          </a:stretch>
        </p:blipFill>
        <p:spPr>
          <a:xfrm>
            <a:off x="7563002" y="1555394"/>
            <a:ext cx="281635" cy="281635"/>
          </a:xfrm>
          <a:prstGeom prst="rect">
            <a:avLst/>
          </a:prstGeom>
        </p:spPr>
      </p:pic>
      <p:sp>
        <p:nvSpPr>
          <p:cNvPr id="24" name="Text 21"/>
          <p:cNvSpPr txBox="1"/>
          <p:nvPr/>
        </p:nvSpPr>
        <p:spPr>
          <a:xfrm>
            <a:off x="8092440" y="1463040"/>
            <a:ext cx="3383280" cy="411480"/>
          </a:xfrm>
          <a:prstGeom prst="rect">
            <a:avLst/>
          </a:prstGeom>
          <a:noFill/>
          <a:ln/>
        </p:spPr>
        <p:txBody>
          <a:bodyPr wrap="square" lIns="635" tIns="635" rIns="635" bIns="635" rtlCol="0" anchor="t"/>
          <a:lstStyle/>
          <a:p>
            <a:pPr indent="0" marL="0">
              <a:buNone/>
            </a:pPr>
            <a:r>
              <a:rPr lang="en-US" sz="1900" b="1" dirty="0">
                <a:solidFill>
                  <a:schemeClr val="tx2"/>
                </a:solidFill>
                <a:latin typeface="Cambria" pitchFamily="34" charset="0"/>
                <a:ea typeface="Cambria" pitchFamily="34" charset="-122"/>
                <a:cs typeface="Cambria" pitchFamily="34" charset="-120"/>
              </a:rPr>
              <a:t>Trust score</a:t>
            </a:r>
            <a:endParaRPr lang="en-US" sz="1900" dirty="0"/>
          </a:p>
        </p:txBody>
      </p:sp>
      <p:sp>
        <p:nvSpPr>
          <p:cNvPr id="25" name="Text 22"/>
          <p:cNvSpPr txBox="1"/>
          <p:nvPr/>
        </p:nvSpPr>
        <p:spPr>
          <a:xfrm>
            <a:off x="7452360" y="2011680"/>
            <a:ext cx="4023360" cy="685800"/>
          </a:xfrm>
          <a:prstGeom prst="rect">
            <a:avLst/>
          </a:prstGeom>
          <a:noFill/>
          <a:ln/>
        </p:spPr>
        <p:txBody>
          <a:bodyPr wrap="square" lIns="635" tIns="635" rIns="635" bIns="635"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trust = match confidence × freshness × (1 − share of failed checks on decision-critical fields)</a:t>
            </a:r>
            <a:endParaRPr lang="en-US" sz="1200" dirty="0"/>
          </a:p>
        </p:txBody>
      </p:sp>
      <p:sp>
        <p:nvSpPr>
          <p:cNvPr id="26" name="Text 23"/>
          <p:cNvSpPr txBox="1"/>
          <p:nvPr/>
        </p:nvSpPr>
        <p:spPr>
          <a:xfrm>
            <a:off x="7452360" y="2788920"/>
            <a:ext cx="4069080" cy="731520"/>
          </a:xfrm>
          <a:prstGeom prst="rect">
            <a:avLst/>
          </a:prstGeom>
          <a:noFill/>
          <a:ln/>
        </p:spPr>
        <p:txBody>
          <a:bodyPr wrap="square" lIns="635" tIns="635" rIns="635" bIns="635" rtlCol="0" anchor="t"/>
          <a:lstStyle/>
          <a:p>
            <a:pPr indent="0" marL="0">
              <a:buNone/>
            </a:pPr>
            <a:r>
              <a:rPr lang="en-US" sz="1200" b="1" dirty="0">
                <a:solidFill>
                  <a:schemeClr val="tx1"/>
                </a:solidFill>
              </a:rPr>
              <a:t>R. Mitchell  0.97 × 1.00 × 0.97 = 0.94  </a:t>
            </a:r>
            <a:pPr indent="0" marL="0">
              <a:buNone/>
            </a:pPr>
            <a:r>
              <a:rPr lang="en-US" sz="1200" b="1" dirty="0">
                <a:solidFill>
                  <a:schemeClr val="accent1"/>
                </a:solidFill>
              </a:rPr>
              <a:t>high trust</a:t>
            </a:r>
            <a:endParaRPr lang="en-US" sz="1200" dirty="0"/>
          </a:p>
          <a:p>
            <a:pPr indent="0" marL="0">
              <a:buNone/>
            </a:pPr>
            <a:r>
              <a:rPr lang="en-US" sz="1200" b="1" dirty="0">
                <a:solidFill>
                  <a:schemeClr val="tx1"/>
                </a:solidFill>
              </a:rPr>
              <a:t>V. Chen  0.84 × 1.00 × 0.97 = 0.81  </a:t>
            </a:r>
            <a:pPr indent="0" marL="0">
              <a:buNone/>
            </a:pPr>
            <a:r>
              <a:rPr lang="en-US" sz="1200" b="1" dirty="0">
                <a:solidFill>
                  <a:schemeClr val="accent3"/>
                </a:solidFill>
              </a:rPr>
              <a:t>verify identity first</a:t>
            </a:r>
            <a:endParaRPr lang="en-US" sz="1200" dirty="0"/>
          </a:p>
        </p:txBody>
      </p:sp>
      <p:sp>
        <p:nvSpPr>
          <p:cNvPr id="27" name="Text 24"/>
          <p:cNvSpPr txBox="1"/>
          <p:nvPr/>
        </p:nvSpPr>
        <p:spPr>
          <a:xfrm>
            <a:off x="7452360" y="3520440"/>
            <a:ext cx="4069080" cy="731520"/>
          </a:xfrm>
          <a:prstGeom prst="rect">
            <a:avLst/>
          </a:prstGeom>
          <a:noFill/>
          <a:ln/>
        </p:spPr>
        <p:txBody>
          <a:bodyPr wrap="square" lIns="635" tIns="635" rIns="635" bIns="635" rtlCol="0" anchor="t"/>
          <a:lstStyle/>
          <a:p>
            <a:pPr indent="0" marL="0">
              <a:buNone/>
            </a:pPr>
            <a:r>
              <a:rPr lang="en-US" sz="1100" dirty="0">
                <a:solidFill>
                  <a:schemeClr val="tx1"/>
                </a:solidFill>
              </a:rPr>
              <a:t>Below 0.85 the NBA tells the agent to verify identity before discussing balances. Below 0.60 no automated recommendation is made.</a:t>
            </a:r>
            <a:endParaRPr lang="en-US" sz="1100" dirty="0"/>
          </a:p>
        </p:txBody>
      </p:sp>
      <p:sp>
        <p:nvSpPr>
          <p:cNvPr id="28" name="Text 25"/>
          <p:cNvSpPr txBox="1"/>
          <p:nvPr/>
        </p:nvSpPr>
        <p:spPr>
          <a:xfrm>
            <a:off x="7269480" y="4526280"/>
            <a:ext cx="4389120" cy="365760"/>
          </a:xfrm>
          <a:prstGeom prst="rect">
            <a:avLst/>
          </a:prstGeom>
          <a:noFill/>
          <a:ln/>
        </p:spPr>
        <p:txBody>
          <a:bodyPr wrap="square" lIns="635" tIns="635" rIns="635" bIns="635" rtlCol="0" anchor="t"/>
          <a:lstStyle/>
          <a:p>
            <a:pPr indent="0" marL="0">
              <a:buNone/>
            </a:pPr>
            <a:r>
              <a:rPr lang="en-US" sz="1400" b="1" dirty="0">
                <a:solidFill>
                  <a:schemeClr val="tx2"/>
                </a:solidFill>
              </a:rPr>
              <a:t>Data contract for gold.c360</a:t>
            </a:r>
            <a:endParaRPr lang="en-US" sz="1400" dirty="0"/>
          </a:p>
        </p:txBody>
      </p:sp>
      <p:sp>
        <p:nvSpPr>
          <p:cNvPr id="29" name="Text 26"/>
          <p:cNvSpPr txBox="1"/>
          <p:nvPr/>
        </p:nvSpPr>
        <p:spPr>
          <a:xfrm>
            <a:off x="7269480" y="4956048"/>
            <a:ext cx="2148840" cy="365760"/>
          </a:xfrm>
          <a:prstGeom prst="roundRect">
            <a:avLst>
              <a:gd name="adj" fmla="val 15000"/>
            </a:avLst>
          </a:prstGeom>
          <a:solidFill>
            <a:schemeClr val="bg1"/>
          </a:solidFill>
          <a:ln>
            <a:solidFill>
              <a:schemeClr val="accent5"/>
            </a:solidFill>
          </a:ln>
        </p:spPr>
        <p:txBody>
          <a:bodyPr wrap="square" lIns="508" tIns="508" rIns="508" bIns="508" rtlCol="0" anchor="ctr"/>
          <a:lstStyle/>
          <a:p>
            <a:pPr algn="ctr" indent="0" marL="0">
              <a:buNone/>
            </a:pPr>
            <a:r>
              <a:rPr lang="en-US" sz="1050" dirty="0">
                <a:solidFill>
                  <a:schemeClr val="tx1"/>
                </a:solidFill>
              </a:rPr>
              <a:t>Owner + purpose</a:t>
            </a:r>
            <a:endParaRPr lang="en-US" sz="1050" dirty="0"/>
          </a:p>
        </p:txBody>
      </p:sp>
      <p:sp>
        <p:nvSpPr>
          <p:cNvPr id="30" name="Text 27"/>
          <p:cNvSpPr txBox="1"/>
          <p:nvPr/>
        </p:nvSpPr>
        <p:spPr>
          <a:xfrm>
            <a:off x="9509760" y="4956048"/>
            <a:ext cx="2148840" cy="365760"/>
          </a:xfrm>
          <a:prstGeom prst="roundRect">
            <a:avLst>
              <a:gd name="adj" fmla="val 15000"/>
            </a:avLst>
          </a:prstGeom>
          <a:solidFill>
            <a:schemeClr val="bg1"/>
          </a:solidFill>
          <a:ln>
            <a:solidFill>
              <a:schemeClr val="accent5"/>
            </a:solidFill>
          </a:ln>
        </p:spPr>
        <p:txBody>
          <a:bodyPr wrap="square" lIns="508" tIns="508" rIns="508" bIns="508" rtlCol="0" anchor="ctr"/>
          <a:lstStyle/>
          <a:p>
            <a:pPr algn="ctr" indent="0" marL="0">
              <a:buNone/>
            </a:pPr>
            <a:r>
              <a:rPr lang="en-US" sz="1050" dirty="0">
                <a:solidFill>
                  <a:schemeClr val="tx1"/>
                </a:solidFill>
              </a:rPr>
              <a:t>21 columns, PII class each</a:t>
            </a:r>
            <a:endParaRPr lang="en-US" sz="1050" dirty="0"/>
          </a:p>
        </p:txBody>
      </p:sp>
      <p:sp>
        <p:nvSpPr>
          <p:cNvPr id="31" name="Text 28"/>
          <p:cNvSpPr txBox="1"/>
          <p:nvPr/>
        </p:nvSpPr>
        <p:spPr>
          <a:xfrm>
            <a:off x="7269480" y="5394960"/>
            <a:ext cx="2148840" cy="365760"/>
          </a:xfrm>
          <a:prstGeom prst="roundRect">
            <a:avLst>
              <a:gd name="adj" fmla="val 15000"/>
            </a:avLst>
          </a:prstGeom>
          <a:solidFill>
            <a:schemeClr val="bg1"/>
          </a:solidFill>
          <a:ln>
            <a:solidFill>
              <a:schemeClr val="accent5"/>
            </a:solidFill>
          </a:ln>
        </p:spPr>
        <p:txBody>
          <a:bodyPr wrap="square" lIns="508" tIns="508" rIns="508" bIns="508" rtlCol="0" anchor="ctr"/>
          <a:lstStyle/>
          <a:p>
            <a:pPr algn="ctr" indent="0" marL="0">
              <a:buNone/>
            </a:pPr>
            <a:r>
              <a:rPr lang="en-US" sz="1050" dirty="0">
                <a:solidFill>
                  <a:schemeClr val="tx1"/>
                </a:solidFill>
              </a:rPr>
              <a:t>9 quality rules</a:t>
            </a:r>
            <a:endParaRPr lang="en-US" sz="1050" dirty="0"/>
          </a:p>
        </p:txBody>
      </p:sp>
      <p:sp>
        <p:nvSpPr>
          <p:cNvPr id="32" name="Text 29"/>
          <p:cNvSpPr txBox="1"/>
          <p:nvPr/>
        </p:nvSpPr>
        <p:spPr>
          <a:xfrm>
            <a:off x="9509760" y="5394960"/>
            <a:ext cx="2148840" cy="365760"/>
          </a:xfrm>
          <a:prstGeom prst="roundRect">
            <a:avLst>
              <a:gd name="adj" fmla="val 15000"/>
            </a:avLst>
          </a:prstGeom>
          <a:solidFill>
            <a:schemeClr val="bg1"/>
          </a:solidFill>
          <a:ln>
            <a:solidFill>
              <a:schemeClr val="accent5"/>
            </a:solidFill>
          </a:ln>
        </p:spPr>
        <p:txBody>
          <a:bodyPr wrap="square" lIns="508" tIns="508" rIns="508" bIns="508" rtlCol="0" anchor="ctr"/>
          <a:lstStyle/>
          <a:p>
            <a:pPr algn="ctr" indent="0" marL="0">
              <a:buNone/>
            </a:pPr>
            <a:r>
              <a:rPr lang="en-US" sz="1050" dirty="0">
                <a:solidFill>
                  <a:schemeClr val="tx1"/>
                </a:solidFill>
              </a:rPr>
              <a:t>Allowed / prohibited uses</a:t>
            </a:r>
            <a:endParaRPr lang="en-US" sz="1050" dirty="0"/>
          </a:p>
        </p:txBody>
      </p:sp>
      <p:sp>
        <p:nvSpPr>
          <p:cNvPr id="33" name="Text 30"/>
          <p:cNvSpPr txBox="1"/>
          <p:nvPr/>
        </p:nvSpPr>
        <p:spPr>
          <a:xfrm>
            <a:off x="7269480" y="5833872"/>
            <a:ext cx="2148840" cy="365760"/>
          </a:xfrm>
          <a:prstGeom prst="roundRect">
            <a:avLst>
              <a:gd name="adj" fmla="val 15000"/>
            </a:avLst>
          </a:prstGeom>
          <a:solidFill>
            <a:schemeClr val="bg1"/>
          </a:solidFill>
          <a:ln>
            <a:solidFill>
              <a:schemeClr val="accent5"/>
            </a:solidFill>
          </a:ln>
        </p:spPr>
        <p:txBody>
          <a:bodyPr wrap="square" lIns="508" tIns="508" rIns="508" bIns="508" rtlCol="0" anchor="ctr"/>
          <a:lstStyle/>
          <a:p>
            <a:pPr algn="ctr" indent="0" marL="0">
              <a:buNone/>
            </a:pPr>
            <a:r>
              <a:rPr lang="en-US" sz="1050" dirty="0">
                <a:solidFill>
                  <a:schemeClr val="tx1"/>
                </a:solidFill>
              </a:rPr>
              <a:t>Drift check every run</a:t>
            </a:r>
            <a:endParaRPr lang="en-US" sz="1050" dirty="0"/>
          </a:p>
        </p:txBody>
      </p:sp>
      <p:sp>
        <p:nvSpPr>
          <p:cNvPr id="34" name="Text 31"/>
          <p:cNvSpPr txBox="1"/>
          <p:nvPr/>
        </p:nvSpPr>
        <p:spPr>
          <a:xfrm>
            <a:off x="9509760" y="5833872"/>
            <a:ext cx="2148840" cy="365760"/>
          </a:xfrm>
          <a:prstGeom prst="roundRect">
            <a:avLst>
              <a:gd name="adj" fmla="val 15000"/>
            </a:avLst>
          </a:prstGeom>
          <a:solidFill>
            <a:schemeClr val="bg1"/>
          </a:solidFill>
          <a:ln>
            <a:solidFill>
              <a:schemeClr val="accent5"/>
            </a:solidFill>
          </a:ln>
        </p:spPr>
        <p:txBody>
          <a:bodyPr wrap="square" lIns="508" tIns="508" rIns="508" bIns="508" rtlCol="0" anchor="ctr"/>
          <a:lstStyle/>
          <a:p>
            <a:pPr algn="ctr" indent="0" marL="0">
              <a:buNone/>
            </a:pPr>
            <a:r>
              <a:rPr lang="en-US" sz="1050" dirty="0">
                <a:solidFill>
                  <a:schemeClr val="tx1"/>
                </a:solidFill>
              </a:rPr>
              <a:t>AI-drafted SQL, tests decide</a:t>
            </a:r>
            <a:endParaRPr lang="en-US" sz="105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Layer 2: Ask, with the working shown</a:t>
            </a:r>
            <a:endParaRPr lang="en-US" sz="3000" dirty="0"/>
          </a:p>
        </p:txBody>
      </p:sp>
      <p:sp>
        <p:nvSpPr>
          <p:cNvPr id="3" name="Shape 1"/>
          <p:cNvSpPr/>
          <p:nvPr/>
        </p:nvSpPr>
        <p:spPr>
          <a:xfrm>
            <a:off x="548640" y="1234440"/>
            <a:ext cx="6492240" cy="4983480"/>
          </a:xfrm>
          <a:prstGeom prst="roundRect">
            <a:avLst>
              <a:gd name="adj" fmla="val 1468"/>
            </a:avLst>
          </a:prstGeom>
          <a:solidFill>
            <a:schemeClr val="bg1"/>
          </a:solidFill>
          <a:ln w="15875">
            <a:solidFill>
              <a:schemeClr val="accent5"/>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731520" y="1417320"/>
            <a:ext cx="6126480" cy="457200"/>
          </a:xfrm>
          <a:prstGeom prst="roundRect">
            <a:avLst>
              <a:gd name="adj" fmla="val 12000"/>
            </a:avLst>
          </a:prstGeom>
          <a:solidFill>
            <a:schemeClr val="bg2"/>
          </a:solidFill>
          <a:ln>
            <a:solidFill>
              <a:schemeClr val="bg2"/>
            </a:solidFill>
          </a:ln>
        </p:spPr>
        <p:txBody>
          <a:bodyPr wrap="square" lIns="508" tIns="508" rIns="508" bIns="508" rtlCol="0" anchor="ctr"/>
          <a:lstStyle/>
          <a:p>
            <a:pPr algn="l" indent="0" marL="0">
              <a:buNone/>
            </a:pPr>
            <a:r>
              <a:rPr lang="en-US" sz="1300" dirty="0">
                <a:solidFill>
                  <a:schemeClr val="tx1"/>
                </a:solidFill>
              </a:rPr>
              <a:t>Which customers are most likely to break a promise to pay this week?</a:t>
            </a:r>
            <a:endParaRPr lang="en-US" sz="1300" dirty="0"/>
          </a:p>
        </p:txBody>
      </p:sp>
      <p:sp>
        <p:nvSpPr>
          <p:cNvPr id="5" name="Text 3"/>
          <p:cNvSpPr txBox="1"/>
          <p:nvPr/>
        </p:nvSpPr>
        <p:spPr>
          <a:xfrm>
            <a:off x="731520" y="1965960"/>
            <a:ext cx="6126480" cy="274320"/>
          </a:xfrm>
          <a:prstGeom prst="rect">
            <a:avLst/>
          </a:prstGeom>
          <a:noFill/>
          <a:ln/>
        </p:spPr>
        <p:txBody>
          <a:bodyPr wrap="square" lIns="635" tIns="635" rIns="635" bIns="635" rtlCol="0" anchor="t"/>
          <a:lstStyle/>
          <a:p>
            <a:pPr indent="0" marL="0">
              <a:buNone/>
            </a:pPr>
            <a:r>
              <a:rPr lang="en-US" sz="1000" dirty="0">
                <a:solidFill>
                  <a:schemeClr val="accent4"/>
                </a:solidFill>
              </a:rPr>
              <a:t>Understood as  (click a chip to edit it)</a:t>
            </a:r>
            <a:endParaRPr lang="en-US" sz="1000" dirty="0"/>
          </a:p>
        </p:txBody>
      </p:sp>
      <p:sp>
        <p:nvSpPr>
          <p:cNvPr id="6" name="Text 4"/>
          <p:cNvSpPr txBox="1"/>
          <p:nvPr/>
        </p:nvSpPr>
        <p:spPr>
          <a:xfrm>
            <a:off x="731520" y="2240280"/>
            <a:ext cx="1417320" cy="329184"/>
          </a:xfrm>
          <a:prstGeom prst="roundRect">
            <a:avLst>
              <a:gd name="adj" fmla="val 16667"/>
            </a:avLst>
          </a:prstGeom>
          <a:solidFill>
            <a:schemeClr val="accent1"/>
          </a:solidFill>
          <a:ln>
            <a:solidFill>
              <a:schemeClr val="accent1"/>
            </a:solidFill>
          </a:ln>
        </p:spPr>
        <p:txBody>
          <a:bodyPr wrap="square" lIns="508" tIns="508" rIns="508" bIns="508" rtlCol="0" anchor="ctr"/>
          <a:lstStyle/>
          <a:p>
            <a:pPr algn="ctr" indent="0" marL="0">
              <a:buNone/>
            </a:pPr>
            <a:r>
              <a:rPr lang="en-US" sz="1050" b="1" dirty="0">
                <a:solidFill>
                  <a:schemeClr val="bg1"/>
                </a:solidFill>
              </a:rPr>
              <a:t>open promises</a:t>
            </a:r>
            <a:endParaRPr lang="en-US" sz="1050" dirty="0"/>
          </a:p>
        </p:txBody>
      </p:sp>
      <p:sp>
        <p:nvSpPr>
          <p:cNvPr id="7" name="Text 5"/>
          <p:cNvSpPr txBox="1"/>
          <p:nvPr/>
        </p:nvSpPr>
        <p:spPr>
          <a:xfrm>
            <a:off x="2258568" y="2240280"/>
            <a:ext cx="1691640" cy="329184"/>
          </a:xfrm>
          <a:prstGeom prst="roundRect">
            <a:avLst>
              <a:gd name="adj" fmla="val 16667"/>
            </a:avLst>
          </a:prstGeom>
          <a:solidFill>
            <a:schemeClr val="accent1"/>
          </a:solidFill>
          <a:ln>
            <a:solidFill>
              <a:schemeClr val="accent1"/>
            </a:solidFill>
          </a:ln>
        </p:spPr>
        <p:txBody>
          <a:bodyPr wrap="square" lIns="508" tIns="508" rIns="508" bIns="508" rtlCol="0" anchor="ctr"/>
          <a:lstStyle/>
          <a:p>
            <a:pPr algn="ctr" indent="0" marL="0">
              <a:buNone/>
            </a:pPr>
            <a:r>
              <a:rPr lang="en-US" sz="1050" b="1" dirty="0">
                <a:solidFill>
                  <a:schemeClr val="bg1"/>
                </a:solidFill>
              </a:rPr>
              <a:t>due 28 Sep - 4 Oct</a:t>
            </a:r>
            <a:endParaRPr lang="en-US" sz="1050" dirty="0"/>
          </a:p>
        </p:txBody>
      </p:sp>
      <p:sp>
        <p:nvSpPr>
          <p:cNvPr id="8" name="Text 6"/>
          <p:cNvSpPr txBox="1"/>
          <p:nvPr/>
        </p:nvSpPr>
        <p:spPr>
          <a:xfrm>
            <a:off x="4059936" y="2240280"/>
            <a:ext cx="2103120" cy="329184"/>
          </a:xfrm>
          <a:prstGeom prst="roundRect">
            <a:avLst>
              <a:gd name="adj" fmla="val 16667"/>
            </a:avLst>
          </a:prstGeom>
          <a:solidFill>
            <a:schemeClr val="accent1"/>
          </a:solidFill>
          <a:ln>
            <a:solidFill>
              <a:schemeClr val="accent1"/>
            </a:solidFill>
          </a:ln>
        </p:spPr>
        <p:txBody>
          <a:bodyPr wrap="square" lIns="508" tIns="508" rIns="508" bIns="508" rtlCol="0" anchor="ctr"/>
          <a:lstStyle/>
          <a:p>
            <a:pPr algn="ctr" indent="0" marL="0">
              <a:buNone/>
            </a:pPr>
            <a:r>
              <a:rPr lang="en-US" sz="1050" b="1" dirty="0">
                <a:solidFill>
                  <a:schemeClr val="bg1"/>
                </a:solidFill>
              </a:rPr>
              <a:t>sort: break risk, high first</a:t>
            </a:r>
            <a:endParaRPr lang="en-US" sz="1050" dirty="0"/>
          </a:p>
        </p:txBody>
      </p:sp>
      <p:sp>
        <p:nvSpPr>
          <p:cNvPr id="9" name="Text 7"/>
          <p:cNvSpPr txBox="1"/>
          <p:nvPr/>
        </p:nvSpPr>
        <p:spPr>
          <a:xfrm>
            <a:off x="6272784" y="2240280"/>
            <a:ext cx="685800" cy="329184"/>
          </a:xfrm>
          <a:prstGeom prst="roundRect">
            <a:avLst>
              <a:gd name="adj" fmla="val 16667"/>
            </a:avLst>
          </a:prstGeom>
          <a:solidFill>
            <a:schemeClr val="accent1"/>
          </a:solidFill>
          <a:ln>
            <a:solidFill>
              <a:schemeClr val="accent1"/>
            </a:solidFill>
          </a:ln>
        </p:spPr>
        <p:txBody>
          <a:bodyPr wrap="square" lIns="508" tIns="508" rIns="508" bIns="508" rtlCol="0" anchor="ctr"/>
          <a:lstStyle/>
          <a:p>
            <a:pPr algn="ctr" indent="0" marL="0">
              <a:buNone/>
            </a:pPr>
            <a:r>
              <a:rPr lang="en-US" sz="1050" b="1" dirty="0">
                <a:solidFill>
                  <a:schemeClr val="bg1"/>
                </a:solidFill>
              </a:rPr>
              <a:t>top 8</a:t>
            </a:r>
            <a:endParaRPr lang="en-US" sz="1050" dirty="0"/>
          </a:p>
        </p:txBody>
      </p:sp>
      <p:sp>
        <p:nvSpPr>
          <p:cNvPr id="10" name="Text 8"/>
          <p:cNvSpPr txBox="1"/>
          <p:nvPr/>
        </p:nvSpPr>
        <p:spPr>
          <a:xfrm>
            <a:off x="731520" y="2697480"/>
            <a:ext cx="6126480" cy="365760"/>
          </a:xfrm>
          <a:prstGeom prst="rect">
            <a:avLst/>
          </a:prstGeom>
          <a:noFill/>
          <a:ln/>
        </p:spPr>
        <p:txBody>
          <a:bodyPr wrap="square" lIns="635" tIns="635" rIns="635" bIns="635" rtlCol="0" anchor="t"/>
          <a:lstStyle/>
          <a:p>
            <a:pPr indent="0" marL="0">
              <a:buNone/>
            </a:pPr>
            <a:r>
              <a:rPr lang="en-US" sz="1400" b="1" dirty="0">
                <a:solidFill>
                  <a:schemeClr val="tx2"/>
                </a:solidFill>
              </a:rPr>
              <a:t>8 open promises are likely to break, with $12,990 at risk.</a:t>
            </a:r>
            <a:endParaRPr lang="en-US" sz="1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 y="3108960"/>
          <a:ext cx="6126480" cy="914400"/>
        </p:xfrm>
        <a:graphic>
          <a:graphicData uri="http://schemas.openxmlformats.org/drawingml/2006/table">
            <a:tbl>
              <a:tblPr/>
              <a:tblGrid>
                <a:gridCol w="1463040"/>
                <a:gridCol w="1463040"/>
                <a:gridCol w="1005840"/>
                <a:gridCol w="914400"/>
                <a:gridCol w="1280160"/>
              </a:tblGrid>
              <a:tr h="274320">
                <a:tc>
                  <a:txBody>
                    <a:bodyPr/>
                    <a:lstStyle/>
                    <a:p>
                      <a:pPr indent="0" marL="0">
                        <a:buNone/>
                      </a:pPr>
                      <a:r>
                        <a:rPr lang="en-US" sz="1100" b="1" dirty="0">
                          <a:solidFill>
                            <a:schemeClr val="bg1"/>
                          </a:solidFill>
                        </a:rPr>
                        <a:t>Customer</a:t>
                      </a:r>
                      <a:endParaRPr lang="en-US" sz="1100" dirty="0"/>
                    </a:p>
                  </a:txBody>
                  <a:tcPr marL="36576" marR="36576" marT="36576" marB="36576">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Product</a:t>
                      </a:r>
                      <a:endParaRPr lang="en-US" sz="1100" dirty="0"/>
                    </a:p>
                  </a:txBody>
                  <a:tcPr marL="36576" marR="36576" marT="36576" marB="36576">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Promise</a:t>
                      </a:r>
                      <a:endParaRPr lang="en-US" sz="1100" dirty="0"/>
                    </a:p>
                  </a:txBody>
                  <a:tcPr marL="36576" marR="36576" marT="36576" marB="36576">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Due</a:t>
                      </a:r>
                      <a:endParaRPr lang="en-US" sz="1100" dirty="0"/>
                    </a:p>
                  </a:txBody>
                  <a:tcPr marL="36576" marR="36576" marT="36576" marB="36576">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Break risk</a:t>
                      </a:r>
                      <a:endParaRPr lang="en-US" sz="1100" dirty="0"/>
                    </a:p>
                  </a:txBody>
                  <a:tcPr marL="36576" marR="36576" marT="36576" marB="36576">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r>
              <a:tr h="274320">
                <a:tc>
                  <a:txBody>
                    <a:bodyPr/>
                    <a:lstStyle/>
                    <a:p>
                      <a:pPr indent="0" marL="0">
                        <a:buNone/>
                      </a:pPr>
                      <a:r>
                        <a:rPr lang="en-US" sz="1100" dirty="0">
                          <a:solidFill>
                            <a:schemeClr val="tx1"/>
                          </a:solidFill>
                        </a:rPr>
                        <a:t>R. Mitchell</a:t>
                      </a:r>
                      <a:endParaRPr lang="en-US" sz="1100" dirty="0"/>
                    </a:p>
                  </a:txBody>
                  <a:tcPr marL="36576" marR="36576" marT="36576" marB="36576">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Loan + card</a:t>
                      </a:r>
                      <a:endParaRPr lang="en-US" sz="1100" dirty="0"/>
                    </a:p>
                  </a:txBody>
                  <a:tcPr marL="36576" marR="36576" marT="36576" marB="36576">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$800</a:t>
                      </a:r>
                      <a:endParaRPr lang="en-US" sz="1100" dirty="0"/>
                    </a:p>
                  </a:txBody>
                  <a:tcPr marL="36576" marR="36576" marT="36576" marB="36576">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2 Oct</a:t>
                      </a:r>
                      <a:endParaRPr lang="en-US" sz="1100" dirty="0"/>
                    </a:p>
                  </a:txBody>
                  <a:tcPr marL="36576" marR="36576" marT="36576" marB="36576">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b="1" dirty="0">
                          <a:solidFill>
                            <a:schemeClr val="accent3"/>
                          </a:solidFill>
                        </a:rPr>
                        <a:t>0.81</a:t>
                      </a:r>
                      <a:endParaRPr lang="en-US" sz="1100" dirty="0"/>
                    </a:p>
                  </a:txBody>
                  <a:tcPr marL="36576" marR="36576" marT="36576" marB="36576">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274320">
                <a:tc>
                  <a:txBody>
                    <a:bodyPr/>
                    <a:lstStyle/>
                    <a:p>
                      <a:pPr indent="0" marL="0">
                        <a:buNone/>
                      </a:pPr>
                      <a:r>
                        <a:rPr lang="en-US" sz="1100" dirty="0">
                          <a:solidFill>
                            <a:schemeClr val="tx1"/>
                          </a:solidFill>
                        </a:rPr>
                        <a:t>S. Tremblay</a:t>
                      </a:r>
                      <a:endParaRPr lang="en-US" sz="1100" dirty="0"/>
                    </a:p>
                  </a:txBody>
                  <a:tcPr marL="36576" marR="36576" marT="36576" marB="36576">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Card</a:t>
                      </a:r>
                      <a:endParaRPr lang="en-US" sz="1100" dirty="0"/>
                    </a:p>
                  </a:txBody>
                  <a:tcPr marL="36576" marR="36576" marT="36576" marB="36576">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$2,250</a:t>
                      </a:r>
                      <a:endParaRPr lang="en-US" sz="1100" dirty="0"/>
                    </a:p>
                  </a:txBody>
                  <a:tcPr marL="36576" marR="36576" marT="36576" marB="36576">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30 Sep</a:t>
                      </a:r>
                      <a:endParaRPr lang="en-US" sz="1100" dirty="0"/>
                    </a:p>
                  </a:txBody>
                  <a:tcPr marL="36576" marR="36576" marT="36576" marB="36576">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b="1" dirty="0">
                          <a:solidFill>
                            <a:schemeClr val="accent3"/>
                          </a:solidFill>
                        </a:rPr>
                        <a:t>0.78</a:t>
                      </a:r>
                      <a:endParaRPr lang="en-US" sz="1100" dirty="0"/>
                    </a:p>
                  </a:txBody>
                  <a:tcPr marL="36576" marR="36576" marT="36576" marB="36576">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274320">
                <a:tc>
                  <a:txBody>
                    <a:bodyPr/>
                    <a:lstStyle/>
                    <a:p>
                      <a:pPr indent="0" marL="0">
                        <a:buNone/>
                      </a:pPr>
                      <a:r>
                        <a:rPr lang="en-US" sz="1100" dirty="0">
                          <a:solidFill>
                            <a:schemeClr val="tx1"/>
                          </a:solidFill>
                        </a:rPr>
                        <a:t>A. Nguyen</a:t>
                      </a:r>
                      <a:endParaRPr lang="en-US" sz="1100" dirty="0"/>
                    </a:p>
                  </a:txBody>
                  <a:tcPr marL="36576" marR="36576" marT="36576" marB="36576">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Personal loan</a:t>
                      </a:r>
                      <a:endParaRPr lang="en-US" sz="1100" dirty="0"/>
                    </a:p>
                  </a:txBody>
                  <a:tcPr marL="36576" marR="36576" marT="36576" marB="36576">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$1,900</a:t>
                      </a:r>
                      <a:endParaRPr lang="en-US" sz="1100" dirty="0"/>
                    </a:p>
                  </a:txBody>
                  <a:tcPr marL="36576" marR="36576" marT="36576" marB="36576">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1 Oct</a:t>
                      </a:r>
                      <a:endParaRPr lang="en-US" sz="1100" dirty="0"/>
                    </a:p>
                  </a:txBody>
                  <a:tcPr marL="36576" marR="36576" marT="36576" marB="36576">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b="1" dirty="0">
                          <a:solidFill>
                            <a:schemeClr val="accent3"/>
                          </a:solidFill>
                        </a:rPr>
                        <a:t>0.74</a:t>
                      </a:r>
                      <a:endParaRPr lang="en-US" sz="1100" dirty="0"/>
                    </a:p>
                  </a:txBody>
                  <a:tcPr marL="36576" marR="36576" marT="36576" marB="36576">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bl>
          </a:graphicData>
        </a:graphic>
      </p:graphicFrame>
      <p:sp>
        <p:nvSpPr>
          <p:cNvPr id="12" name="Text 9"/>
          <p:cNvSpPr txBox="1"/>
          <p:nvPr/>
        </p:nvSpPr>
        <p:spPr>
          <a:xfrm>
            <a:off x="731520" y="4343400"/>
            <a:ext cx="6126480" cy="1143000"/>
          </a:xfrm>
          <a:prstGeom prst="rect">
            <a:avLst/>
          </a:prstGeom>
          <a:solidFill>
            <a:schemeClr val="bg2"/>
          </a:solidFill>
          <a:ln/>
        </p:spPr>
        <p:txBody>
          <a:bodyPr wrap="square" lIns="1016" tIns="1016" rIns="1016" bIns="1016" rtlCol="0" anchor="t"/>
          <a:lstStyle/>
          <a:p>
            <a:pPr indent="0" marL="0">
              <a:buNone/>
            </a:pPr>
            <a:r>
              <a:rPr lang="en-US" sz="900" dirty="0">
                <a:solidFill>
                  <a:schemeClr val="tx2"/>
                </a:solidFill>
                <a:latin typeface="Courier New" pitchFamily="34" charset="0"/>
                <a:ea typeface="Courier New" pitchFamily="34" charset="-122"/>
                <a:cs typeface="Courier New" pitchFamily="34" charset="-120"/>
              </a:rPr>
              <a:t>SELECT c.display_name, p.product, p.ptp_amount, p.ptp_due_date, s.break_prob</a:t>
            </a:r>
            <a:endParaRPr lang="en-US" sz="900" dirty="0"/>
          </a:p>
          <a:p>
            <a:pPr indent="0" marL="0">
              <a:buNone/>
            </a:pPr>
            <a:r>
              <a:rPr lang="en-US" sz="900" dirty="0">
                <a:solidFill>
                  <a:schemeClr val="tx2"/>
                </a:solidFill>
                <a:latin typeface="Courier New" pitchFamily="34" charset="0"/>
                <a:ea typeface="Courier New" pitchFamily="34" charset="-122"/>
                <a:cs typeface="Courier New" pitchFamily="34" charset="-120"/>
              </a:rPr>
              <a:t>FROM gold.promises_to_pay p JOIN gold.model_scores s USING (golden_id)</a:t>
            </a:r>
            <a:endParaRPr lang="en-US" sz="900" dirty="0"/>
          </a:p>
          <a:p>
            <a:pPr indent="0" marL="0">
              <a:buNone/>
            </a:pPr>
            <a:r>
              <a:rPr lang="en-US" sz="900" dirty="0">
                <a:solidFill>
                  <a:schemeClr val="tx2"/>
                </a:solidFill>
                <a:latin typeface="Courier New" pitchFamily="34" charset="0"/>
                <a:ea typeface="Courier New" pitchFamily="34" charset="-122"/>
                <a:cs typeface="Courier New" pitchFamily="34" charset="-120"/>
              </a:rPr>
              <a:t>JOIN gold.c360 c USING (golden_id)</a:t>
            </a:r>
            <a:endParaRPr lang="en-US" sz="900" dirty="0"/>
          </a:p>
          <a:p>
            <a:pPr indent="0" marL="0">
              <a:buNone/>
            </a:pPr>
            <a:r>
              <a:rPr lang="en-US" sz="900" dirty="0">
                <a:solidFill>
                  <a:schemeClr val="tx2"/>
                </a:solidFill>
                <a:latin typeface="Courier New" pitchFamily="34" charset="0"/>
                <a:ea typeface="Courier New" pitchFamily="34" charset="-122"/>
                <a:cs typeface="Courier New" pitchFamily="34" charset="-120"/>
              </a:rPr>
              <a:t>WHERE p.ptp_status = 'open' AND p.ptp_due_date BETWEEN '2026-09-28' AND '2026-10-04'</a:t>
            </a:r>
            <a:endParaRPr lang="en-US" sz="900" dirty="0"/>
          </a:p>
          <a:p>
            <a:pPr indent="0" marL="0">
              <a:buNone/>
            </a:pPr>
            <a:r>
              <a:rPr lang="en-US" sz="900" dirty="0">
                <a:solidFill>
                  <a:schemeClr val="tx2"/>
                </a:solidFill>
                <a:latin typeface="Courier New" pitchFamily="34" charset="0"/>
                <a:ea typeface="Courier New" pitchFamily="34" charset="-122"/>
                <a:cs typeface="Courier New" pitchFamily="34" charset="-120"/>
              </a:rPr>
              <a:t>ORDER BY s.break_prob DESC LIMIT 8</a:t>
            </a:r>
            <a:endParaRPr lang="en-US" sz="900" dirty="0"/>
          </a:p>
        </p:txBody>
      </p:sp>
      <p:sp>
        <p:nvSpPr>
          <p:cNvPr id="13" name="Text 10"/>
          <p:cNvSpPr txBox="1"/>
          <p:nvPr/>
        </p:nvSpPr>
        <p:spPr>
          <a:xfrm>
            <a:off x="731520" y="5577840"/>
            <a:ext cx="6126480" cy="274320"/>
          </a:xfrm>
          <a:prstGeom prst="rect">
            <a:avLst/>
          </a:prstGeom>
          <a:noFill/>
          <a:ln/>
        </p:spPr>
        <p:txBody>
          <a:bodyPr wrap="square" lIns="635" tIns="635" rIns="635" bIns="635" rtlCol="0" anchor="t"/>
          <a:lstStyle/>
          <a:p>
            <a:pPr indent="0" marL="0">
              <a:buNone/>
            </a:pPr>
            <a:r>
              <a:rPr lang="en-US" sz="1000" i="1" dirty="0">
                <a:solidFill>
                  <a:schemeClr val="accent4"/>
                </a:solidFill>
              </a:rPr>
              <a:t>Data products used: gold.promises_to_pay, gold.model_scores, gold.c360</a:t>
            </a:r>
            <a:endParaRPr lang="en-US" sz="1000" dirty="0"/>
          </a:p>
        </p:txBody>
      </p:sp>
      <p:sp>
        <p:nvSpPr>
          <p:cNvPr id="14" name="Text 11"/>
          <p:cNvSpPr txBox="1"/>
          <p:nvPr/>
        </p:nvSpPr>
        <p:spPr>
          <a:xfrm>
            <a:off x="731520" y="5852160"/>
            <a:ext cx="6126480" cy="274320"/>
          </a:xfrm>
          <a:prstGeom prst="rect">
            <a:avLst/>
          </a:prstGeom>
          <a:noFill/>
          <a:ln/>
        </p:spPr>
        <p:txBody>
          <a:bodyPr wrap="square" lIns="635" tIns="635" rIns="635" bIns="635" rtlCol="0" anchor="t"/>
          <a:lstStyle/>
          <a:p>
            <a:pPr indent="0" marL="0">
              <a:buNone/>
            </a:pPr>
            <a:r>
              <a:rPr lang="en-US" sz="900" dirty="0">
                <a:solidFill>
                  <a:schemeClr val="accent4"/>
                </a:solidFill>
              </a:rPr>
              <a:t>Illustrative screen built from our mock data</a:t>
            </a:r>
            <a:endParaRPr lang="en-US" sz="900" dirty="0"/>
          </a:p>
        </p:txBody>
      </p:sp>
      <p:sp>
        <p:nvSpPr>
          <p:cNvPr id="15" name="Text 12"/>
          <p:cNvSpPr txBox="1"/>
          <p:nvPr/>
        </p:nvSpPr>
        <p:spPr>
          <a:xfrm>
            <a:off x="7269480" y="1234440"/>
            <a:ext cx="4389120" cy="365760"/>
          </a:xfrm>
          <a:prstGeom prst="rect">
            <a:avLst/>
          </a:prstGeom>
          <a:noFill/>
          <a:ln/>
        </p:spPr>
        <p:txBody>
          <a:bodyPr wrap="square" lIns="635" tIns="635" rIns="635" bIns="635" rtlCol="0" anchor="t"/>
          <a:lstStyle/>
          <a:p>
            <a:pPr indent="0" marL="0">
              <a:buNone/>
            </a:pPr>
            <a:r>
              <a:rPr lang="en-US" sz="1600" b="1" dirty="0">
                <a:solidFill>
                  <a:schemeClr val="tx2"/>
                </a:solidFill>
              </a:rPr>
              <a:t>How it works</a:t>
            </a:r>
            <a:endParaRPr lang="en-US" sz="1600" dirty="0"/>
          </a:p>
        </p:txBody>
      </p:sp>
      <p:sp>
        <p:nvSpPr>
          <p:cNvPr id="16" name="Text 13"/>
          <p:cNvSpPr txBox="1"/>
          <p:nvPr/>
        </p:nvSpPr>
        <p:spPr>
          <a:xfrm>
            <a:off x="7269480" y="1645920"/>
            <a:ext cx="4389120" cy="2926080"/>
          </a:xfrm>
          <a:prstGeom prst="rect">
            <a:avLst/>
          </a:prstGeom>
          <a:noFill/>
          <a:ln/>
        </p:spPr>
        <p:txBody>
          <a:bodyPr wrap="square" lIns="635" tIns="635" rIns="635" bIns="635" rtlCol="0" anchor="t"/>
          <a:lstStyle/>
          <a:p>
            <a:pPr marL="342900" indent="-342900">
              <a:spcAft>
                <a:spcPts val="600"/>
              </a:spcAft>
              <a:buSzPct val="100000"/>
              <a:buFont typeface="+mj-lt"/>
              <a:buAutoNum type="arabicPeriod" startAt="1"/>
            </a:pPr>
            <a:r>
              <a:rPr lang="en-US" sz="1200" dirty="0">
                <a:solidFill>
                  <a:schemeClr val="tx1"/>
                </a:solidFill>
              </a:rPr>
              <a:t>Parse: the LLM maps the question to {metric, dimensions, filters, time window, sort, limit}.</a:t>
            </a:r>
            <a:endParaRPr lang="en-US" sz="1200" dirty="0"/>
          </a:p>
          <a:p>
            <a:pPr marL="342900" indent="-342900">
              <a:spcAft>
                <a:spcPts val="600"/>
              </a:spcAft>
              <a:buSzPct val="100000"/>
              <a:buFont typeface="+mj-lt"/>
              <a:buAutoNum type="arabicPeriod" startAt="1"/>
            </a:pPr>
            <a:r>
              <a:rPr lang="en-US" sz="1200" dirty="0">
                <a:solidFill>
                  <a:schemeClr val="tx1"/>
                </a:solidFill>
              </a:rPr>
              <a:t>Validate against metrics.yaml and the column allow-list.</a:t>
            </a:r>
            <a:endParaRPr lang="en-US" sz="1200" dirty="0"/>
          </a:p>
          <a:p>
            <a:pPr marL="342900" indent="-342900">
              <a:spcAft>
                <a:spcPts val="600"/>
              </a:spcAft>
              <a:buSzPct val="100000"/>
              <a:buFont typeface="+mj-lt"/>
              <a:buAutoNum type="arabicPeriod" startAt="1"/>
            </a:pPr>
            <a:r>
              <a:rPr lang="en-US" sz="1200" dirty="0">
                <a:solidFill>
                  <a:schemeClr val="tx1"/>
                </a:solidFill>
              </a:rPr>
              <a:t>Compile: our code writes the SQL. For governed metrics the LLM never writes raw SQL.</a:t>
            </a:r>
            <a:endParaRPr lang="en-US" sz="1200" dirty="0"/>
          </a:p>
          <a:p>
            <a:pPr marL="342900" indent="-342900">
              <a:spcAft>
                <a:spcPts val="600"/>
              </a:spcAft>
              <a:buSzPct val="100000"/>
              <a:buFont typeface="+mj-lt"/>
              <a:buAutoNum type="arabicPeriod" startAt="1"/>
            </a:pPr>
            <a:r>
              <a:rPr lang="en-US" sz="1200" dirty="0">
                <a:solidFill>
                  <a:schemeClr val="tx1"/>
                </a:solidFill>
              </a:rPr>
              <a:t>Execute on read-only DuckDB, LIMIT enforced.</a:t>
            </a:r>
            <a:endParaRPr lang="en-US" sz="1200" dirty="0"/>
          </a:p>
          <a:p>
            <a:pPr marL="342900" indent="-342900">
              <a:spcAft>
                <a:spcPts val="600"/>
              </a:spcAft>
              <a:buSzPct val="100000"/>
              <a:buFont typeface="+mj-lt"/>
              <a:buAutoNum type="arabicPeriod" startAt="1"/>
            </a:pPr>
            <a:r>
              <a:rPr lang="en-US" sz="1200" dirty="0">
                <a:solidFill>
                  <a:schemeClr val="tx1"/>
                </a:solidFill>
              </a:rPr>
              <a:t>Explain: the LLM summarises only the returned rows. RAG over notes and transcripts adds cited quotes.</a:t>
            </a:r>
            <a:endParaRPr lang="en-US" sz="1200" dirty="0"/>
          </a:p>
        </p:txBody>
      </p:sp>
      <p:sp>
        <p:nvSpPr>
          <p:cNvPr id="17" name="Shape 14"/>
          <p:cNvSpPr/>
          <p:nvPr/>
        </p:nvSpPr>
        <p:spPr>
          <a:xfrm>
            <a:off x="7269480" y="4709160"/>
            <a:ext cx="4389120" cy="1508760"/>
          </a:xfrm>
          <a:prstGeom prst="roundRect">
            <a:avLst>
              <a:gd name="adj" fmla="val 4848"/>
            </a:avLst>
          </a:prstGeom>
          <a:solidFill>
            <a:schemeClr val="bg1"/>
          </a:solidFill>
          <a:ln w="19050">
            <a:solidFill>
              <a:schemeClr val="accent3"/>
            </a:solidFill>
            <a:prstDash val="solid"/>
          </a:ln>
          <a:effectLst>
            <a:outerShdw sx="100000" sy="100000" kx="0" ky="0" algn="bl" rotWithShape="0" blurRad="101600" dist="25400" dir="5400000">
              <a:srgbClr val="000000">
                <a:alpha val="12000"/>
              </a:srgbClr>
            </a:outerShdw>
          </a:effectLst>
        </p:spPr>
      </p:sp>
      <p:sp>
        <p:nvSpPr>
          <p:cNvPr id="18" name="Shape 15"/>
          <p:cNvSpPr/>
          <p:nvPr/>
        </p:nvSpPr>
        <p:spPr>
          <a:xfrm>
            <a:off x="7424928" y="4864608"/>
            <a:ext cx="457200" cy="457200"/>
          </a:xfrm>
          <a:prstGeom prst="ellipse">
            <a:avLst/>
          </a:prstGeom>
          <a:solidFill>
            <a:schemeClr val="accent3"/>
          </a:solidFill>
          <a:ln w="12700">
            <a:solidFill>
              <a:schemeClr val="accent3"/>
            </a:solidFill>
            <a:prstDash val="solid"/>
          </a:ln>
        </p:spPr>
      </p:sp>
      <p:pic>
        <p:nvPicPr>
          <p:cNvPr id="19" name="Image 0" descr="preencoded.png">    </p:cNvPr>
          <p:cNvPicPr>
            <a:picLocks noChangeAspect="1"/>
          </p:cNvPicPr>
          <p:nvPr/>
        </p:nvPicPr>
        <p:blipFill>
          <a:blip r:embed="rId1"/>
          <a:stretch>
            <a:fillRect/>
          </a:stretch>
        </p:blipFill>
        <p:spPr>
          <a:xfrm>
            <a:off x="7525512" y="4965192"/>
            <a:ext cx="256032" cy="256032"/>
          </a:xfrm>
          <a:prstGeom prst="rect">
            <a:avLst/>
          </a:prstGeom>
        </p:spPr>
      </p:pic>
      <p:sp>
        <p:nvSpPr>
          <p:cNvPr id="20" name="Text 16"/>
          <p:cNvSpPr txBox="1"/>
          <p:nvPr/>
        </p:nvSpPr>
        <p:spPr>
          <a:xfrm>
            <a:off x="8001000" y="4846320"/>
            <a:ext cx="3566160" cy="365760"/>
          </a:xfrm>
          <a:prstGeom prst="rect">
            <a:avLst/>
          </a:prstGeom>
          <a:noFill/>
          <a:ln/>
        </p:spPr>
        <p:txBody>
          <a:bodyPr wrap="square" lIns="635" tIns="635" rIns="635" bIns="635" rtlCol="0" anchor="t"/>
          <a:lstStyle/>
          <a:p>
            <a:pPr indent="0" marL="0">
              <a:buNone/>
            </a:pPr>
            <a:r>
              <a:rPr lang="en-US" sz="1200" b="1" i="1" dirty="0">
                <a:solidFill>
                  <a:schemeClr val="tx1"/>
                </a:solidFill>
              </a:rPr>
              <a:t>"What is the SIN of G-004817?"</a:t>
            </a:r>
            <a:endParaRPr lang="en-US" sz="1200" dirty="0"/>
          </a:p>
        </p:txBody>
      </p:sp>
      <p:sp>
        <p:nvSpPr>
          <p:cNvPr id="21" name="Text 17"/>
          <p:cNvSpPr txBox="1"/>
          <p:nvPr/>
        </p:nvSpPr>
        <p:spPr>
          <a:xfrm>
            <a:off x="8001000" y="5212080"/>
            <a:ext cx="3566160" cy="960120"/>
          </a:xfrm>
          <a:prstGeom prst="rect">
            <a:avLst/>
          </a:prstGeom>
          <a:noFill/>
          <a:ln/>
        </p:spPr>
        <p:txBody>
          <a:bodyPr wrap="square" lIns="635" tIns="635" rIns="635" bIns="635" rtlCol="0" anchor="t"/>
          <a:lstStyle/>
          <a:p>
            <a:pPr indent="0" marL="0">
              <a:buNone/>
            </a:pPr>
            <a:r>
              <a:rPr lang="en-US" sz="1100" dirty="0">
                <a:solidFill>
                  <a:schemeClr val="tx1"/>
                </a:solidFill>
              </a:rPr>
              <a:t>Refused: direct personal identifiers are not available through Ask. Also refused: protected attributes, write operations, off-topic questions, prompt injection.</a:t>
            </a:r>
            <a:endParaRPr lang="en-US" sz="11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Layer 3: affordability-first Next Best Action</a:t>
            </a:r>
            <a:endParaRPr lang="en-US" sz="3000" dirty="0"/>
          </a:p>
        </p:txBody>
      </p:sp>
      <p:sp>
        <p:nvSpPr>
          <p:cNvPr id="3" name="Text 1"/>
          <p:cNvSpPr txBox="1"/>
          <p:nvPr/>
        </p:nvSpPr>
        <p:spPr>
          <a:xfrm>
            <a:off x="548640" y="1280160"/>
            <a:ext cx="1645920" cy="777240"/>
          </a:xfrm>
          <a:prstGeom prst="roundRect">
            <a:avLst>
              <a:gd name="adj" fmla="val 9412"/>
            </a:avLst>
          </a:prstGeom>
          <a:solidFill>
            <a:schemeClr val="bg2"/>
          </a:solidFill>
          <a:ln>
            <a:solidFill>
              <a:schemeClr val="accent5"/>
            </a:solidFill>
          </a:ln>
        </p:spPr>
        <p:txBody>
          <a:bodyPr wrap="square" lIns="508" tIns="508" rIns="508" bIns="508" rtlCol="0" anchor="ctr"/>
          <a:lstStyle/>
          <a:p>
            <a:pPr algn="ctr" indent="0" marL="0">
              <a:buNone/>
            </a:pPr>
            <a:r>
              <a:rPr lang="en-US" sz="1300" b="1" dirty="0">
                <a:solidFill>
                  <a:schemeClr val="tx2"/>
                </a:solidFill>
              </a:rPr>
              <a:t>Feature store</a:t>
            </a:r>
            <a:endParaRPr lang="en-US" sz="1300" dirty="0"/>
          </a:p>
          <a:p>
            <a:pPr algn="ctr" indent="0" marL="0">
              <a:buNone/>
            </a:pPr>
            <a:r>
              <a:rPr lang="en-US" sz="1050" dirty="0">
                <a:solidFill>
                  <a:schemeClr val="tx2"/>
                </a:solidFill>
              </a:rPr>
              <a:t>SQL + LLM features</a:t>
            </a:r>
            <a:endParaRPr lang="en-US" sz="1300" dirty="0"/>
          </a:p>
        </p:txBody>
      </p:sp>
      <p:sp>
        <p:nvSpPr>
          <p:cNvPr id="4" name="Shape 2"/>
          <p:cNvSpPr/>
          <p:nvPr/>
        </p:nvSpPr>
        <p:spPr>
          <a:xfrm>
            <a:off x="2212848" y="1664208"/>
            <a:ext cx="192024" cy="0"/>
          </a:xfrm>
          <a:prstGeom prst="line">
            <a:avLst/>
          </a:prstGeom>
          <a:noFill/>
          <a:ln w="22225">
            <a:solidFill>
              <a:schemeClr val="accent4"/>
            </a:solidFill>
            <a:prstDash val="solid"/>
            <a:tailEnd type="triangle"/>
          </a:ln>
        </p:spPr>
      </p:sp>
      <p:sp>
        <p:nvSpPr>
          <p:cNvPr id="5" name="Text 3"/>
          <p:cNvSpPr txBox="1"/>
          <p:nvPr/>
        </p:nvSpPr>
        <p:spPr>
          <a:xfrm>
            <a:off x="2423160" y="1280160"/>
            <a:ext cx="1645920" cy="777240"/>
          </a:xfrm>
          <a:prstGeom prst="roundRect">
            <a:avLst>
              <a:gd name="adj" fmla="val 9412"/>
            </a:avLst>
          </a:prstGeom>
          <a:solidFill>
            <a:schemeClr val="bg2"/>
          </a:solidFill>
          <a:ln>
            <a:solidFill>
              <a:schemeClr val="accent5"/>
            </a:solidFill>
          </a:ln>
        </p:spPr>
        <p:txBody>
          <a:bodyPr wrap="square" lIns="508" tIns="508" rIns="508" bIns="508" rtlCol="0" anchor="ctr"/>
          <a:lstStyle/>
          <a:p>
            <a:pPr algn="ctr" indent="0" marL="0">
              <a:buNone/>
            </a:pPr>
            <a:r>
              <a:rPr lang="en-US" sz="1300" b="1" dirty="0">
                <a:solidFill>
                  <a:schemeClr val="tx2"/>
                </a:solidFill>
              </a:rPr>
              <a:t>Break risk</a:t>
            </a:r>
            <a:endParaRPr lang="en-US" sz="1300" dirty="0"/>
          </a:p>
          <a:p>
            <a:pPr algn="ctr" indent="0" marL="0">
              <a:buNone/>
            </a:pPr>
            <a:r>
              <a:rPr lang="en-US" sz="1050" dirty="0">
                <a:solidFill>
                  <a:schemeClr val="tx2"/>
                </a:solidFill>
              </a:rPr>
              <a:t>LightGBM, calibrated</a:t>
            </a:r>
            <a:endParaRPr lang="en-US" sz="1300" dirty="0"/>
          </a:p>
        </p:txBody>
      </p:sp>
      <p:sp>
        <p:nvSpPr>
          <p:cNvPr id="6" name="Shape 4"/>
          <p:cNvSpPr/>
          <p:nvPr/>
        </p:nvSpPr>
        <p:spPr>
          <a:xfrm>
            <a:off x="4087368" y="1664208"/>
            <a:ext cx="192024" cy="0"/>
          </a:xfrm>
          <a:prstGeom prst="line">
            <a:avLst/>
          </a:prstGeom>
          <a:noFill/>
          <a:ln w="22225">
            <a:solidFill>
              <a:schemeClr val="accent4"/>
            </a:solidFill>
            <a:prstDash val="solid"/>
            <a:tailEnd type="triangle"/>
          </a:ln>
        </p:spPr>
      </p:sp>
      <p:sp>
        <p:nvSpPr>
          <p:cNvPr id="7" name="Text 5"/>
          <p:cNvSpPr txBox="1"/>
          <p:nvPr/>
        </p:nvSpPr>
        <p:spPr>
          <a:xfrm>
            <a:off x="4297680" y="1280160"/>
            <a:ext cx="1645920" cy="777240"/>
          </a:xfrm>
          <a:prstGeom prst="roundRect">
            <a:avLst>
              <a:gd name="adj" fmla="val 9412"/>
            </a:avLst>
          </a:prstGeom>
          <a:solidFill>
            <a:schemeClr val="bg2"/>
          </a:solidFill>
          <a:ln>
            <a:solidFill>
              <a:schemeClr val="accent5"/>
            </a:solidFill>
          </a:ln>
        </p:spPr>
        <p:txBody>
          <a:bodyPr wrap="square" lIns="508" tIns="508" rIns="508" bIns="508" rtlCol="0" anchor="ctr"/>
          <a:lstStyle/>
          <a:p>
            <a:pPr algn="ctr" indent="0" marL="0">
              <a:buNone/>
            </a:pPr>
            <a:r>
              <a:rPr lang="en-US" sz="1300" b="1" dirty="0">
                <a:solidFill>
                  <a:schemeClr val="tx2"/>
                </a:solidFill>
              </a:rPr>
              <a:t>Hardship score</a:t>
            </a:r>
            <a:endParaRPr lang="en-US" sz="1300" dirty="0"/>
          </a:p>
          <a:p>
            <a:pPr algn="ctr" indent="0" marL="0">
              <a:buNone/>
            </a:pPr>
            <a:r>
              <a:rPr lang="en-US" sz="1050" dirty="0">
                <a:solidFill>
                  <a:schemeClr val="tx2"/>
                </a:solidFill>
              </a:rPr>
              <a:t>transparent rules</a:t>
            </a:r>
            <a:endParaRPr lang="en-US" sz="1300" dirty="0"/>
          </a:p>
        </p:txBody>
      </p:sp>
      <p:sp>
        <p:nvSpPr>
          <p:cNvPr id="8" name="Shape 6"/>
          <p:cNvSpPr/>
          <p:nvPr/>
        </p:nvSpPr>
        <p:spPr>
          <a:xfrm>
            <a:off x="5961888" y="1664208"/>
            <a:ext cx="192024" cy="0"/>
          </a:xfrm>
          <a:prstGeom prst="line">
            <a:avLst/>
          </a:prstGeom>
          <a:noFill/>
          <a:ln w="22225">
            <a:solidFill>
              <a:schemeClr val="accent4"/>
            </a:solidFill>
            <a:prstDash val="solid"/>
            <a:tailEnd type="triangle"/>
          </a:ln>
        </p:spPr>
      </p:sp>
      <p:sp>
        <p:nvSpPr>
          <p:cNvPr id="9" name="Text 7"/>
          <p:cNvSpPr txBox="1"/>
          <p:nvPr/>
        </p:nvSpPr>
        <p:spPr>
          <a:xfrm>
            <a:off x="6172200" y="1280160"/>
            <a:ext cx="1645920" cy="777240"/>
          </a:xfrm>
          <a:prstGeom prst="roundRect">
            <a:avLst>
              <a:gd name="adj" fmla="val 9412"/>
            </a:avLst>
          </a:prstGeom>
          <a:solidFill>
            <a:schemeClr val="bg2"/>
          </a:solidFill>
          <a:ln>
            <a:solidFill>
              <a:schemeClr val="accent5"/>
            </a:solidFill>
          </a:ln>
        </p:spPr>
        <p:txBody>
          <a:bodyPr wrap="square" lIns="508" tIns="508" rIns="508" bIns="508" rtlCol="0" anchor="ctr"/>
          <a:lstStyle/>
          <a:p>
            <a:pPr algn="ctr" indent="0" marL="0">
              <a:buNone/>
            </a:pPr>
            <a:r>
              <a:rPr lang="en-US" sz="1300" b="1" dirty="0">
                <a:solidFill>
                  <a:schemeClr val="tx2"/>
                </a:solidFill>
              </a:rPr>
              <a:t>Affordability</a:t>
            </a:r>
            <a:endParaRPr lang="en-US" sz="1300" dirty="0"/>
          </a:p>
          <a:p>
            <a:pPr algn="ctr" indent="0" marL="0">
              <a:buNone/>
            </a:pPr>
            <a:r>
              <a:rPr lang="en-US" sz="1050" dirty="0">
                <a:solidFill>
                  <a:schemeClr val="tx2"/>
                </a:solidFill>
              </a:rPr>
              <a:t>capacity + payday</a:t>
            </a:r>
            <a:endParaRPr lang="en-US" sz="1300" dirty="0"/>
          </a:p>
        </p:txBody>
      </p:sp>
      <p:sp>
        <p:nvSpPr>
          <p:cNvPr id="10" name="Shape 8"/>
          <p:cNvSpPr/>
          <p:nvPr/>
        </p:nvSpPr>
        <p:spPr>
          <a:xfrm>
            <a:off x="7836408" y="1664208"/>
            <a:ext cx="192024" cy="0"/>
          </a:xfrm>
          <a:prstGeom prst="line">
            <a:avLst/>
          </a:prstGeom>
          <a:noFill/>
          <a:ln w="22225">
            <a:solidFill>
              <a:schemeClr val="accent4"/>
            </a:solidFill>
            <a:prstDash val="solid"/>
            <a:tailEnd type="triangle"/>
          </a:ln>
        </p:spPr>
      </p:sp>
      <p:sp>
        <p:nvSpPr>
          <p:cNvPr id="11" name="Text 9"/>
          <p:cNvSpPr txBox="1"/>
          <p:nvPr/>
        </p:nvSpPr>
        <p:spPr>
          <a:xfrm>
            <a:off x="8046720" y="1280160"/>
            <a:ext cx="1645920" cy="777240"/>
          </a:xfrm>
          <a:prstGeom prst="roundRect">
            <a:avLst>
              <a:gd name="adj" fmla="val 9412"/>
            </a:avLst>
          </a:prstGeom>
          <a:solidFill>
            <a:schemeClr val="bg2"/>
          </a:solidFill>
          <a:ln>
            <a:solidFill>
              <a:schemeClr val="accent5"/>
            </a:solidFill>
          </a:ln>
        </p:spPr>
        <p:txBody>
          <a:bodyPr wrap="square" lIns="508" tIns="508" rIns="508" bIns="508" rtlCol="0" anchor="ctr"/>
          <a:lstStyle/>
          <a:p>
            <a:pPr algn="ctr" indent="0" marL="0">
              <a:buNone/>
            </a:pPr>
            <a:r>
              <a:rPr lang="en-US" sz="1300" b="1" dirty="0">
                <a:solidFill>
                  <a:schemeClr val="tx2"/>
                </a:solidFill>
              </a:rPr>
              <a:t>Policy engine</a:t>
            </a:r>
            <a:endParaRPr lang="en-US" sz="1300" dirty="0"/>
          </a:p>
          <a:p>
            <a:pPr algn="ctr" indent="0" marL="0">
              <a:buNone/>
            </a:pPr>
            <a:r>
              <a:rPr lang="en-US" sz="1050" dirty="0">
                <a:solidFill>
                  <a:schemeClr val="tx2"/>
                </a:solidFill>
              </a:rPr>
              <a:t>versioned YAML</a:t>
            </a:r>
            <a:endParaRPr lang="en-US" sz="1300" dirty="0"/>
          </a:p>
        </p:txBody>
      </p:sp>
      <p:sp>
        <p:nvSpPr>
          <p:cNvPr id="12" name="Shape 10"/>
          <p:cNvSpPr/>
          <p:nvPr/>
        </p:nvSpPr>
        <p:spPr>
          <a:xfrm>
            <a:off x="9710928" y="1664208"/>
            <a:ext cx="192024" cy="0"/>
          </a:xfrm>
          <a:prstGeom prst="line">
            <a:avLst/>
          </a:prstGeom>
          <a:noFill/>
          <a:ln w="22225">
            <a:solidFill>
              <a:schemeClr val="accent4"/>
            </a:solidFill>
            <a:prstDash val="solid"/>
            <a:tailEnd type="triangle"/>
          </a:ln>
        </p:spPr>
      </p:sp>
      <p:sp>
        <p:nvSpPr>
          <p:cNvPr id="13" name="Text 11"/>
          <p:cNvSpPr txBox="1"/>
          <p:nvPr/>
        </p:nvSpPr>
        <p:spPr>
          <a:xfrm>
            <a:off x="9921240" y="1280160"/>
            <a:ext cx="1645920" cy="777240"/>
          </a:xfrm>
          <a:prstGeom prst="roundRect">
            <a:avLst>
              <a:gd name="adj" fmla="val 9412"/>
            </a:avLst>
          </a:prstGeom>
          <a:solidFill>
            <a:schemeClr val="accent2"/>
          </a:solidFill>
          <a:ln>
            <a:solidFill>
              <a:schemeClr val="accent2"/>
            </a:solidFill>
          </a:ln>
        </p:spPr>
        <p:txBody>
          <a:bodyPr wrap="square" lIns="508" tIns="508" rIns="508" bIns="508" rtlCol="0" anchor="ctr"/>
          <a:lstStyle/>
          <a:p>
            <a:pPr algn="ctr" indent="0" marL="0">
              <a:buNone/>
            </a:pPr>
            <a:r>
              <a:rPr lang="en-US" sz="1300" b="1" dirty="0">
                <a:solidFill>
                  <a:schemeClr val="tx2"/>
                </a:solidFill>
              </a:rPr>
              <a:t>Action</a:t>
            </a:r>
            <a:endParaRPr lang="en-US" sz="1300" dirty="0"/>
          </a:p>
          <a:p>
            <a:pPr algn="ctr" indent="0" marL="0">
              <a:buNone/>
            </a:pPr>
            <a:r>
              <a:rPr lang="en-US" sz="1050" dirty="0">
                <a:solidFill>
                  <a:schemeClr val="tx2"/>
                </a:solidFill>
              </a:rPr>
              <a:t>with reasons</a:t>
            </a:r>
            <a:endParaRPr lang="en-US" sz="1300" dirty="0"/>
          </a:p>
        </p:txBody>
      </p:sp>
      <p:sp>
        <p:nvSpPr>
          <p:cNvPr id="14" name="Text 12"/>
          <p:cNvSpPr txBox="1"/>
          <p:nvPr/>
        </p:nvSpPr>
        <p:spPr>
          <a:xfrm>
            <a:off x="548640" y="2331720"/>
            <a:ext cx="6858000" cy="365760"/>
          </a:xfrm>
          <a:prstGeom prst="rect">
            <a:avLst/>
          </a:prstGeom>
          <a:noFill/>
          <a:ln/>
        </p:spPr>
        <p:txBody>
          <a:bodyPr wrap="square" lIns="635" tIns="635" rIns="635" bIns="635" rtlCol="0" anchor="t"/>
          <a:lstStyle/>
          <a:p>
            <a:pPr indent="0" marL="0">
              <a:buNone/>
            </a:pPr>
            <a:r>
              <a:rPr lang="en-US" sz="1400" b="1" dirty="0">
                <a:solidFill>
                  <a:schemeClr val="tx2"/>
                </a:solidFill>
              </a:rPr>
              <a:t>Policy: how risk, hardship and affordability combine</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743200"/>
          <a:ext cx="6858000" cy="914400"/>
        </p:xfrm>
        <a:graphic>
          <a:graphicData uri="http://schemas.openxmlformats.org/drawingml/2006/table">
            <a:tbl>
              <a:tblPr/>
              <a:tblGrid>
                <a:gridCol w="1097280"/>
                <a:gridCol w="1280160"/>
                <a:gridCol w="822960"/>
                <a:gridCol w="3657600"/>
              </a:tblGrid>
              <a:tr h="384048">
                <a:tc>
                  <a:txBody>
                    <a:bodyPr/>
                    <a:lstStyle/>
                    <a:p>
                      <a:pPr indent="0" marL="0">
                        <a:buNone/>
                      </a:pPr>
                      <a:r>
                        <a:rPr lang="en-US" sz="1200" b="1" dirty="0">
                          <a:solidFill>
                            <a:schemeClr val="bg1"/>
                          </a:solidFill>
                        </a:rPr>
                        <a:t>Hardship</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Affordability</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Risk</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Action</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r>
              <a:tr h="384048">
                <a:tc>
                  <a:txBody>
                    <a:bodyPr/>
                    <a:lstStyle/>
                    <a:p>
                      <a:pPr indent="0" marL="0">
                        <a:buNone/>
                      </a:pPr>
                      <a:r>
                        <a:rPr lang="en-US" sz="1200" b="1" dirty="0">
                          <a:solidFill>
                            <a:schemeClr val="accent3"/>
                          </a:solidFill>
                        </a:rPr>
                        <a:t>Severe</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00" dirty="0">
                          <a:solidFill>
                            <a:schemeClr val="tx1"/>
                          </a:solidFill>
                        </a:rPr>
                        <a:t>any</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00" dirty="0">
                          <a:solidFill>
                            <a:schemeClr val="tx1"/>
                          </a:solidFill>
                        </a:rPr>
                        <a:t>any</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00" dirty="0">
                          <a:solidFill>
                            <a:schemeClr val="tx1"/>
                          </a:solidFill>
                        </a:rPr>
                        <a:t>Specialist referral, collection pressure blocked</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384048">
                <a:tc>
                  <a:txBody>
                    <a:bodyPr/>
                    <a:lstStyle/>
                    <a:p>
                      <a:pPr indent="0" marL="0">
                        <a:buNone/>
                      </a:pPr>
                      <a:r>
                        <a:rPr lang="en-US" sz="1200" dirty="0">
                          <a:solidFill>
                            <a:schemeClr val="tx1"/>
                          </a:solidFill>
                        </a:rPr>
                        <a:t>Possible</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00" dirty="0">
                          <a:solidFill>
                            <a:schemeClr val="tx1"/>
                          </a:solidFill>
                        </a:rPr>
                        <a:t>ratio &lt; 0.3</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00" dirty="0">
                          <a:solidFill>
                            <a:schemeClr val="tx1"/>
                          </a:solidFill>
                        </a:rPr>
                        <a:t>any</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00" dirty="0">
                          <a:solidFill>
                            <a:schemeClr val="tx1"/>
                          </a:solidFill>
                        </a:rPr>
                        <a:t>Agent review, offer a reduced plan</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384048">
                <a:tc>
                  <a:txBody>
                    <a:bodyPr/>
                    <a:lstStyle/>
                    <a:p>
                      <a:pPr indent="0" marL="0">
                        <a:buNone/>
                      </a:pPr>
                      <a:r>
                        <a:rPr lang="en-US" sz="1200" dirty="0">
                          <a:solidFill>
                            <a:schemeClr val="tx1"/>
                          </a:solidFill>
                        </a:rPr>
                        <a:t>Clear</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00" dirty="0">
                          <a:solidFill>
                            <a:schemeClr val="tx1"/>
                          </a:solidFill>
                        </a:rPr>
                        <a:t>ratio ≥ 1</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00" dirty="0">
                          <a:solidFill>
                            <a:schemeClr val="tx1"/>
                          </a:solidFill>
                        </a:rPr>
                        <a:t>high</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00" dirty="0">
                          <a:solidFill>
                            <a:schemeClr val="tx1"/>
                          </a:solidFill>
                        </a:rPr>
                        <a:t>Call after payday, catch-up payment</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384048">
                <a:tc>
                  <a:txBody>
                    <a:bodyPr/>
                    <a:lstStyle/>
                    <a:p>
                      <a:pPr indent="0" marL="0">
                        <a:buNone/>
                      </a:pPr>
                      <a:r>
                        <a:rPr lang="en-US" sz="1200" dirty="0">
                          <a:solidFill>
                            <a:schemeClr val="tx1"/>
                          </a:solidFill>
                        </a:rPr>
                        <a:t>Clear</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00" dirty="0">
                          <a:solidFill>
                            <a:schemeClr val="tx1"/>
                          </a:solidFill>
                        </a:rPr>
                        <a:t>0.3 to 1</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00" dirty="0">
                          <a:solidFill>
                            <a:schemeClr val="tx1"/>
                          </a:solidFill>
                        </a:rPr>
                        <a:t>any</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00" dirty="0">
                          <a:solidFill>
                            <a:schemeClr val="tx1"/>
                          </a:solidFill>
                        </a:rPr>
                        <a:t>Payment plan timed to payday</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384048">
                <a:tc>
                  <a:txBody>
                    <a:bodyPr/>
                    <a:lstStyle/>
                    <a:p>
                      <a:pPr indent="0" marL="0">
                        <a:buNone/>
                      </a:pPr>
                      <a:r>
                        <a:rPr lang="en-US" sz="1200" dirty="0">
                          <a:solidFill>
                            <a:schemeClr val="tx1"/>
                          </a:solidFill>
                        </a:rPr>
                        <a:t>Clear</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00" dirty="0">
                          <a:solidFill>
                            <a:schemeClr val="tx1"/>
                          </a:solidFill>
                        </a:rPr>
                        <a:t>ratio ≥ 1</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00" dirty="0">
                          <a:solidFill>
                            <a:schemeClr val="tx1"/>
                          </a:solidFill>
                        </a:rPr>
                        <a:t>low</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00" dirty="0">
                          <a:solidFill>
                            <a:schemeClr val="tx1"/>
                          </a:solidFill>
                        </a:rPr>
                        <a:t>Light reminder on the best-responding channel</a:t>
                      </a:r>
                      <a:endParaRPr lang="en-US" sz="1200" dirty="0"/>
                    </a:p>
                  </a:txBody>
                  <a:tcPr marL="54864" marR="54864" marT="54864" marB="54864">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bl>
          </a:graphicData>
        </a:graphic>
      </p:graphicFrame>
      <p:sp>
        <p:nvSpPr>
          <p:cNvPr id="16" name="Text 13"/>
          <p:cNvSpPr txBox="1"/>
          <p:nvPr/>
        </p:nvSpPr>
        <p:spPr>
          <a:xfrm>
            <a:off x="548640" y="5257800"/>
            <a:ext cx="6858000" cy="548640"/>
          </a:xfrm>
          <a:prstGeom prst="rect">
            <a:avLst/>
          </a:prstGeom>
          <a:noFill/>
          <a:ln/>
        </p:spPr>
        <p:txBody>
          <a:bodyPr wrap="square" lIns="635" tIns="635" rIns="635" bIns="635" rtlCol="0" anchor="t"/>
          <a:lstStyle/>
          <a:p>
            <a:pPr indent="0" marL="0">
              <a:buNone/>
            </a:pPr>
            <a:r>
              <a:rPr lang="en-US" sz="1100" i="1" dirty="0">
                <a:solidFill>
                  <a:schemeClr val="accent4"/>
                </a:solidFill>
              </a:rPr>
              <a:t>Always constrained by consent, permitted contact hours and the trust score. Thresholds are business-owned policy, not model output.</a:t>
            </a:r>
            <a:endParaRPr lang="en-US" sz="1100" dirty="0"/>
          </a:p>
        </p:txBody>
      </p:sp>
      <p:sp>
        <p:nvSpPr>
          <p:cNvPr id="17" name="Shape 14"/>
          <p:cNvSpPr/>
          <p:nvPr/>
        </p:nvSpPr>
        <p:spPr>
          <a:xfrm>
            <a:off x="7680960" y="2331720"/>
            <a:ext cx="3977640" cy="3886200"/>
          </a:xfrm>
          <a:prstGeom prst="roundRect">
            <a:avLst>
              <a:gd name="adj" fmla="val 1882"/>
            </a:avLst>
          </a:prstGeom>
          <a:solidFill>
            <a:schemeClr val="bg1"/>
          </a:solidFill>
          <a:ln w="19050">
            <a:solidFill>
              <a:schemeClr val="accent2"/>
            </a:solidFill>
            <a:prstDash val="solid"/>
          </a:ln>
          <a:effectLst>
            <a:outerShdw sx="100000" sy="100000" kx="0" ky="0" algn="bl" rotWithShape="0" blurRad="101600" dist="25400" dir="5400000">
              <a:srgbClr val="000000">
                <a:alpha val="12000"/>
              </a:srgbClr>
            </a:outerShdw>
          </a:effectLst>
        </p:spPr>
      </p:sp>
      <p:sp>
        <p:nvSpPr>
          <p:cNvPr id="18" name="Text 15"/>
          <p:cNvSpPr txBox="1"/>
          <p:nvPr/>
        </p:nvSpPr>
        <p:spPr>
          <a:xfrm>
            <a:off x="7863840" y="2450592"/>
            <a:ext cx="3657600" cy="320040"/>
          </a:xfrm>
          <a:prstGeom prst="rect">
            <a:avLst/>
          </a:prstGeom>
          <a:noFill/>
          <a:ln/>
        </p:spPr>
        <p:txBody>
          <a:bodyPr wrap="square" lIns="635" tIns="635" rIns="635" bIns="635" rtlCol="0" anchor="t"/>
          <a:lstStyle/>
          <a:p>
            <a:pPr indent="0" marL="0">
              <a:buNone/>
            </a:pPr>
            <a:r>
              <a:rPr lang="en-US" sz="1100" b="1" dirty="0">
                <a:solidFill>
                  <a:schemeClr val="accent4"/>
                </a:solidFill>
              </a:rPr>
              <a:t>NBA-0001  ·  R. Mitchell</a:t>
            </a:r>
            <a:endParaRPr lang="en-US" sz="1100" dirty="0"/>
          </a:p>
        </p:txBody>
      </p:sp>
      <p:sp>
        <p:nvSpPr>
          <p:cNvPr id="19" name="Text 16"/>
          <p:cNvSpPr txBox="1"/>
          <p:nvPr/>
        </p:nvSpPr>
        <p:spPr>
          <a:xfrm>
            <a:off x="7863840" y="2761488"/>
            <a:ext cx="3657600" cy="640080"/>
          </a:xfrm>
          <a:prstGeom prst="rect">
            <a:avLst/>
          </a:prstGeom>
          <a:noFill/>
          <a:ln/>
        </p:spPr>
        <p:txBody>
          <a:bodyPr wrap="square" lIns="635" tIns="635" rIns="635" bIns="635" rtlCol="0" anchor="t"/>
          <a:lstStyle/>
          <a:p>
            <a:pPr indent="0" marL="0">
              <a:buNone/>
            </a:pPr>
            <a:r>
              <a:rPr lang="en-US" sz="1600" b="1" dirty="0">
                <a:solidFill>
                  <a:schemeClr val="tx2"/>
                </a:solidFill>
                <a:latin typeface="Cambria" pitchFamily="34" charset="0"/>
                <a:ea typeface="Cambria" pitchFamily="34" charset="-122"/>
                <a:cs typeface="Cambria" pitchFamily="34" charset="-120"/>
              </a:rPr>
              <a:t>Specialist referral, collection pressure blocked</a:t>
            </a:r>
            <a:endParaRPr lang="en-US" sz="1600" dirty="0"/>
          </a:p>
        </p:txBody>
      </p:sp>
      <p:sp>
        <p:nvSpPr>
          <p:cNvPr id="20" name="Text 17"/>
          <p:cNvSpPr txBox="1"/>
          <p:nvPr/>
        </p:nvSpPr>
        <p:spPr>
          <a:xfrm>
            <a:off x="7863840" y="3429000"/>
            <a:ext cx="3657600" cy="274320"/>
          </a:xfrm>
          <a:prstGeom prst="rect">
            <a:avLst/>
          </a:prstGeom>
          <a:noFill/>
          <a:ln/>
        </p:spPr>
        <p:txBody>
          <a:bodyPr wrap="square" lIns="635" tIns="635" rIns="635" bIns="635" rtlCol="0" anchor="t"/>
          <a:lstStyle/>
          <a:p>
            <a:pPr indent="0" marL="0">
              <a:buNone/>
            </a:pPr>
            <a:r>
              <a:rPr lang="en-US" sz="1100" b="1" dirty="0">
                <a:solidFill>
                  <a:schemeClr val="accent1"/>
                </a:solidFill>
              </a:rPr>
              <a:t>Top reasons</a:t>
            </a:r>
            <a:endParaRPr lang="en-US" sz="1100" dirty="0"/>
          </a:p>
        </p:txBody>
      </p:sp>
      <p:sp>
        <p:nvSpPr>
          <p:cNvPr id="21" name="Text 18"/>
          <p:cNvSpPr txBox="1"/>
          <p:nvPr/>
        </p:nvSpPr>
        <p:spPr>
          <a:xfrm>
            <a:off x="7863840" y="3703320"/>
            <a:ext cx="3657600" cy="868680"/>
          </a:xfrm>
          <a:prstGeom prst="rect">
            <a:avLst/>
          </a:prstGeom>
          <a:noFill/>
          <a:ln/>
        </p:spPr>
        <p:txBody>
          <a:bodyPr wrap="square" lIns="635" tIns="635" rIns="635" bIns="635" rtlCol="0" anchor="t"/>
          <a:lstStyle/>
          <a:p>
            <a:pPr marL="342900" indent="-342900">
              <a:spcAft>
                <a:spcPts val="200"/>
              </a:spcAft>
              <a:buSzPct val="100000"/>
              <a:buChar char="•"/>
            </a:pPr>
            <a:r>
              <a:rPr lang="en-US" sz="1100" dirty="0">
                <a:solidFill>
                  <a:schemeClr val="tx1"/>
                </a:solidFill>
              </a:rPr>
              <a:t>No payroll deposit for 29 days</a:t>
            </a:r>
            <a:endParaRPr lang="en-US" sz="1100" dirty="0"/>
          </a:p>
          <a:p>
            <a:pPr marL="342900" indent="-342900">
              <a:spcAft>
                <a:spcPts val="200"/>
              </a:spcAft>
              <a:buSzPct val="100000"/>
              <a:buChar char="•"/>
            </a:pPr>
            <a:r>
              <a:rPr lang="en-US" sz="1100" dirty="0">
                <a:solidFill>
                  <a:schemeClr val="tx1"/>
                </a:solidFill>
              </a:rPr>
              <a:t>Said shifts were cut at the plant in August</a:t>
            </a:r>
            <a:endParaRPr lang="en-US" sz="1100" dirty="0"/>
          </a:p>
          <a:p>
            <a:pPr marL="342900" indent="-342900">
              <a:spcAft>
                <a:spcPts val="200"/>
              </a:spcAft>
              <a:buSzPct val="100000"/>
              <a:buChar char="•"/>
            </a:pPr>
            <a:r>
              <a:rPr lang="en-US" sz="1100" dirty="0">
                <a:solidFill>
                  <a:schemeClr val="tx1"/>
                </a:solidFill>
              </a:rPr>
              <a:t>One promise broken in the last 90 days</a:t>
            </a:r>
            <a:endParaRPr lang="en-US" sz="1100" dirty="0"/>
          </a:p>
        </p:txBody>
      </p:sp>
      <p:sp>
        <p:nvSpPr>
          <p:cNvPr id="22" name="Text 19"/>
          <p:cNvSpPr txBox="1"/>
          <p:nvPr/>
        </p:nvSpPr>
        <p:spPr>
          <a:xfrm>
            <a:off x="7863840" y="4572000"/>
            <a:ext cx="3657600" cy="274320"/>
          </a:xfrm>
          <a:prstGeom prst="rect">
            <a:avLst/>
          </a:prstGeom>
          <a:noFill/>
          <a:ln/>
        </p:spPr>
        <p:txBody>
          <a:bodyPr wrap="square" lIns="635" tIns="635" rIns="635" bIns="635" rtlCol="0" anchor="t"/>
          <a:lstStyle/>
          <a:p>
            <a:pPr indent="0" marL="0">
              <a:buNone/>
            </a:pPr>
            <a:r>
              <a:rPr lang="en-US" sz="1100" b="1" dirty="0">
                <a:solidFill>
                  <a:schemeClr val="accent1"/>
                </a:solidFill>
              </a:rPr>
              <a:t>What would change it</a:t>
            </a:r>
            <a:endParaRPr lang="en-US" sz="1100" dirty="0"/>
          </a:p>
        </p:txBody>
      </p:sp>
      <p:sp>
        <p:nvSpPr>
          <p:cNvPr id="23" name="Text 20"/>
          <p:cNvSpPr txBox="1"/>
          <p:nvPr/>
        </p:nvSpPr>
        <p:spPr>
          <a:xfrm>
            <a:off x="7863840" y="4846320"/>
            <a:ext cx="3657600" cy="548640"/>
          </a:xfrm>
          <a:prstGeom prst="rect">
            <a:avLst/>
          </a:prstGeom>
          <a:noFill/>
          <a:ln/>
        </p:spPr>
        <p:txBody>
          <a:bodyPr wrap="square" lIns="635" tIns="635" rIns="635" bIns="635" rtlCol="0" anchor="t"/>
          <a:lstStyle/>
          <a:p>
            <a:pPr indent="0" marL="0">
              <a:buNone/>
            </a:pPr>
            <a:r>
              <a:rPr lang="en-US" sz="1100" dirty="0">
                <a:solidFill>
                  <a:schemeClr val="tx1"/>
                </a:solidFill>
              </a:rPr>
              <a:t>If payroll arrives this week: risk 0.81 → 0.42 and the action becomes a reminder.</a:t>
            </a:r>
            <a:endParaRPr lang="en-US" sz="1100" dirty="0"/>
          </a:p>
        </p:txBody>
      </p:sp>
      <p:sp>
        <p:nvSpPr>
          <p:cNvPr id="24" name="Text 21"/>
          <p:cNvSpPr txBox="1"/>
          <p:nvPr/>
        </p:nvSpPr>
        <p:spPr>
          <a:xfrm>
            <a:off x="7863840" y="5577840"/>
            <a:ext cx="1463040" cy="411480"/>
          </a:xfrm>
          <a:prstGeom prst="roundRect">
            <a:avLst>
              <a:gd name="adj" fmla="val 13333"/>
            </a:avLst>
          </a:prstGeom>
          <a:solidFill>
            <a:schemeClr val="accent1"/>
          </a:solidFill>
          <a:ln>
            <a:solidFill>
              <a:schemeClr val="accent1"/>
            </a:solidFill>
          </a:ln>
        </p:spPr>
        <p:txBody>
          <a:bodyPr wrap="square" lIns="508" tIns="508" rIns="508" bIns="508" rtlCol="0" anchor="ctr"/>
          <a:lstStyle/>
          <a:p>
            <a:pPr algn="ctr" indent="0" marL="0">
              <a:buNone/>
            </a:pPr>
            <a:r>
              <a:rPr lang="en-US" sz="1200" b="1" dirty="0">
                <a:solidFill>
                  <a:schemeClr val="bg1"/>
                </a:solidFill>
              </a:rPr>
              <a:t>Approve</a:t>
            </a:r>
            <a:endParaRPr lang="en-US" sz="1200" dirty="0"/>
          </a:p>
        </p:txBody>
      </p:sp>
      <p:sp>
        <p:nvSpPr>
          <p:cNvPr id="25" name="Text 22"/>
          <p:cNvSpPr txBox="1"/>
          <p:nvPr/>
        </p:nvSpPr>
        <p:spPr>
          <a:xfrm>
            <a:off x="9418320" y="5577840"/>
            <a:ext cx="2103120" cy="411480"/>
          </a:xfrm>
          <a:prstGeom prst="roundRect">
            <a:avLst>
              <a:gd name="adj" fmla="val 13333"/>
            </a:avLst>
          </a:prstGeom>
          <a:solidFill>
            <a:schemeClr val="bg1"/>
          </a:solidFill>
          <a:ln>
            <a:solidFill>
              <a:schemeClr val="accent1"/>
            </a:solidFill>
          </a:ln>
        </p:spPr>
        <p:txBody>
          <a:bodyPr wrap="square" lIns="508" tIns="508" rIns="508" bIns="508" rtlCol="0" anchor="ctr"/>
          <a:lstStyle/>
          <a:p>
            <a:pPr algn="ctr" indent="0" marL="0">
              <a:buNone/>
            </a:pPr>
            <a:r>
              <a:rPr lang="en-US" sz="1100" b="1" dirty="0">
                <a:solidFill>
                  <a:schemeClr val="accent1"/>
                </a:solidFill>
              </a:rPr>
              <a:t>Override (reason required)</a:t>
            </a:r>
            <a:endParaRPr lang="en-US" sz="11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Hardship score: transparent rules, not a black box</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766560" cy="914400"/>
        </p:xfrm>
        <a:graphic>
          <a:graphicData uri="http://schemas.openxmlformats.org/drawingml/2006/table">
            <a:tbl>
              <a:tblPr/>
              <a:tblGrid>
                <a:gridCol w="1417320"/>
                <a:gridCol w="1691640"/>
                <a:gridCol w="2697480"/>
                <a:gridCol w="960120"/>
              </a:tblGrid>
              <a:tr h="438912">
                <a:tc>
                  <a:txBody>
                    <a:bodyPr/>
                    <a:lstStyle/>
                    <a:p>
                      <a:pPr indent="0" marL="0">
                        <a:buNone/>
                      </a:pPr>
                      <a:r>
                        <a:rPr lang="en-US" sz="1100" b="1" dirty="0">
                          <a:solidFill>
                            <a:schemeClr val="bg1"/>
                          </a:solidFill>
                        </a:rPr>
                        <a:t>Signal</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Source</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Rule</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100" b="1" dirty="0">
                          <a:solidFill>
                            <a:schemeClr val="bg1"/>
                          </a:solidFill>
                        </a:rPr>
                        <a:t>Points</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r>
              <a:tr h="438912">
                <a:tc>
                  <a:txBody>
                    <a:bodyPr/>
                    <a:lstStyle/>
                    <a:p>
                      <a:pPr indent="0" marL="0">
                        <a:buNone/>
                      </a:pPr>
                      <a:r>
                        <a:rPr lang="en-US" sz="1100" dirty="0">
                          <a:solidFill>
                            <a:schemeClr val="tx1"/>
                          </a:solidFill>
                        </a:rPr>
                        <a:t>Stated hardship</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LLM, with quoted evidence</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high / moderate severity</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30 / 15</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438912">
                <a:tc>
                  <a:txBody>
                    <a:bodyPr/>
                    <a:lstStyle/>
                    <a:p>
                      <a:pPr indent="0" marL="0">
                        <a:buNone/>
                      </a:pPr>
                      <a:r>
                        <a:rPr lang="en-US" sz="1100" dirty="0">
                          <a:solidFill>
                            <a:schemeClr val="tx1"/>
                          </a:solidFill>
                        </a:rPr>
                        <a:t>Missed payroll</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Salary credits</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no credit for &gt; 1.5 × pay cycle</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25</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438912">
                <a:tc>
                  <a:txBody>
                    <a:bodyPr/>
                    <a:lstStyle/>
                    <a:p>
                      <a:pPr indent="0" marL="0">
                        <a:buNone/>
                      </a:pPr>
                      <a:r>
                        <a:rPr lang="en-US" sz="1100" dirty="0">
                          <a:solidFill>
                            <a:schemeClr val="tx1"/>
                          </a:solidFill>
                        </a:rPr>
                        <a:t>Income drop</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Salary credits</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last 60 days vs prior 90 down &gt; 30%</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20</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438912">
                <a:tc>
                  <a:txBody>
                    <a:bodyPr/>
                    <a:lstStyle/>
                    <a:p>
                      <a:pPr indent="0" marL="0">
                        <a:buNone/>
                      </a:pPr>
                      <a:r>
                        <a:rPr lang="en-US" sz="1100" dirty="0">
                          <a:solidFill>
                            <a:schemeClr val="tx1"/>
                          </a:solidFill>
                        </a:rPr>
                        <a:t>Willing but unable</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LLM intent + promises</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intent ≥ 0.5 and a broken promise</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10</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438912">
                <a:tc>
                  <a:txBody>
                    <a:bodyPr/>
                    <a:lstStyle/>
                    <a:p>
                      <a:pPr indent="0" marL="0">
                        <a:buNone/>
                      </a:pPr>
                      <a:r>
                        <a:rPr lang="en-US" sz="1100" dirty="0">
                          <a:solidFill>
                            <a:schemeClr val="tx1"/>
                          </a:solidFill>
                        </a:rPr>
                        <a:t>Cash stress</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Deposits</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 5 overdrawn days in 30</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10</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438912">
                <a:tc>
                  <a:txBody>
                    <a:bodyPr/>
                    <a:lstStyle/>
                    <a:p>
                      <a:pPr indent="0" marL="0">
                        <a:buNone/>
                      </a:pPr>
                      <a:r>
                        <a:rPr lang="en-US" sz="1100" dirty="0">
                          <a:solidFill>
                            <a:schemeClr val="tx1"/>
                          </a:solidFill>
                        </a:rPr>
                        <a:t>Credit stress</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Bureau + cards</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score −40 in 90 days, or utilisation &gt; 90% rising</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5 each</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438912">
                <a:tc>
                  <a:txBody>
                    <a:bodyPr/>
                    <a:lstStyle/>
                    <a:p>
                      <a:pPr indent="0" marL="0">
                        <a:buNone/>
                      </a:pPr>
                      <a:r>
                        <a:rPr lang="en-US" sz="1100" b="1" dirty="0">
                          <a:solidFill>
                            <a:schemeClr val="accent3"/>
                          </a:solidFill>
                        </a:rPr>
                        <a:t>Vulnerability</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LLM, with quoted evidence</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dirty="0">
                          <a:solidFill>
                            <a:schemeClr val="tx1"/>
                          </a:solidFill>
                        </a:rPr>
                        <a:t>illness, bereavement, distress, cognitive or language difficulty</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00" b="1" dirty="0">
                          <a:solidFill>
                            <a:schemeClr val="accent3"/>
                          </a:solidFill>
                        </a:rPr>
                        <a:t>always severe</a:t>
                      </a:r>
                      <a:endParaRPr lang="en-US" sz="110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bl>
          </a:graphicData>
        </a:graphic>
      </p:graphicFrame>
      <p:sp>
        <p:nvSpPr>
          <p:cNvPr id="4" name="Text 1"/>
          <p:cNvSpPr txBox="1"/>
          <p:nvPr/>
        </p:nvSpPr>
        <p:spPr>
          <a:xfrm>
            <a:off x="548640" y="5074920"/>
            <a:ext cx="1463040" cy="384048"/>
          </a:xfrm>
          <a:prstGeom prst="roundRect">
            <a:avLst>
              <a:gd name="adj" fmla="val 14286"/>
            </a:avLst>
          </a:prstGeom>
          <a:solidFill>
            <a:schemeClr val="accent1"/>
          </a:solidFill>
          <a:ln>
            <a:solidFill>
              <a:schemeClr val="accent1"/>
            </a:solidFill>
          </a:ln>
        </p:spPr>
        <p:txBody>
          <a:bodyPr wrap="square" lIns="508" tIns="508" rIns="508" bIns="508" rtlCol="0" anchor="ctr"/>
          <a:lstStyle/>
          <a:p>
            <a:pPr algn="ctr" indent="0" marL="0">
              <a:buNone/>
            </a:pPr>
            <a:r>
              <a:rPr lang="en-US" sz="1100" b="1" dirty="0">
                <a:solidFill>
                  <a:schemeClr val="bg1"/>
                </a:solidFill>
              </a:rPr>
              <a:t>0-29  Clear</a:t>
            </a:r>
            <a:endParaRPr lang="en-US" sz="1100" dirty="0"/>
          </a:p>
        </p:txBody>
      </p:sp>
      <p:sp>
        <p:nvSpPr>
          <p:cNvPr id="5" name="Text 2"/>
          <p:cNvSpPr txBox="1"/>
          <p:nvPr/>
        </p:nvSpPr>
        <p:spPr>
          <a:xfrm>
            <a:off x="2148840" y="5074920"/>
            <a:ext cx="2286000" cy="384048"/>
          </a:xfrm>
          <a:prstGeom prst="roundRect">
            <a:avLst>
              <a:gd name="adj" fmla="val 14286"/>
            </a:avLst>
          </a:prstGeom>
          <a:solidFill>
            <a:schemeClr val="accent2"/>
          </a:solidFill>
          <a:ln>
            <a:solidFill>
              <a:schemeClr val="accent2"/>
            </a:solidFill>
          </a:ln>
        </p:spPr>
        <p:txBody>
          <a:bodyPr wrap="square" lIns="508" tIns="508" rIns="508" bIns="508" rtlCol="0" anchor="ctr"/>
          <a:lstStyle/>
          <a:p>
            <a:pPr algn="ctr" indent="0" marL="0">
              <a:buNone/>
            </a:pPr>
            <a:r>
              <a:rPr lang="en-US" sz="1100" b="1" dirty="0">
                <a:solidFill>
                  <a:schemeClr val="tx1"/>
                </a:solidFill>
              </a:rPr>
              <a:t>30-59  Possible: agent review</a:t>
            </a:r>
            <a:endParaRPr lang="en-US" sz="1100" dirty="0"/>
          </a:p>
        </p:txBody>
      </p:sp>
      <p:sp>
        <p:nvSpPr>
          <p:cNvPr id="6" name="Text 3"/>
          <p:cNvSpPr txBox="1"/>
          <p:nvPr/>
        </p:nvSpPr>
        <p:spPr>
          <a:xfrm>
            <a:off x="4572000" y="5074920"/>
            <a:ext cx="2743200" cy="384048"/>
          </a:xfrm>
          <a:prstGeom prst="roundRect">
            <a:avLst>
              <a:gd name="adj" fmla="val 14286"/>
            </a:avLst>
          </a:prstGeom>
          <a:solidFill>
            <a:schemeClr val="accent3"/>
          </a:solidFill>
          <a:ln>
            <a:solidFill>
              <a:schemeClr val="accent3"/>
            </a:solidFill>
          </a:ln>
        </p:spPr>
        <p:txBody>
          <a:bodyPr wrap="square" lIns="508" tIns="508" rIns="508" bIns="508" rtlCol="0" anchor="ctr"/>
          <a:lstStyle/>
          <a:p>
            <a:pPr algn="ctr" indent="0" marL="0">
              <a:buNone/>
            </a:pPr>
            <a:r>
              <a:rPr lang="en-US" sz="1100" b="1" dirty="0">
                <a:solidFill>
                  <a:schemeClr val="bg1"/>
                </a:solidFill>
              </a:rPr>
              <a:t>60+  Severe: specialist only</a:t>
            </a:r>
            <a:endParaRPr lang="en-US" sz="1100" dirty="0"/>
          </a:p>
        </p:txBody>
      </p:sp>
      <p:sp>
        <p:nvSpPr>
          <p:cNvPr id="7" name="Text 4"/>
          <p:cNvSpPr txBox="1"/>
          <p:nvPr/>
        </p:nvSpPr>
        <p:spPr>
          <a:xfrm>
            <a:off x="548640" y="5577840"/>
            <a:ext cx="6766560" cy="685800"/>
          </a:xfrm>
          <a:prstGeom prst="rect">
            <a:avLst/>
          </a:prstGeom>
          <a:noFill/>
          <a:ln/>
        </p:spPr>
        <p:txBody>
          <a:bodyPr wrap="square" lIns="635" tIns="635" rIns="635" bIns="635" rtlCol="0" anchor="t"/>
          <a:lstStyle/>
          <a:p>
            <a:pPr indent="0" marL="0">
              <a:buNone/>
            </a:pPr>
            <a:r>
              <a:rPr lang="en-US" sz="1050" i="1" dirty="0">
                <a:solidFill>
                  <a:schemeClr val="accent4"/>
                </a:solidFill>
              </a:rPr>
              <a:t>Weights are versioned policy owned by the business and checked against hand-labelled cases. Health or bereavement details only ever protect the customer, are stored as a category, and protected attributes are never inputs.</a:t>
            </a:r>
            <a:endParaRPr lang="en-US" sz="1050" dirty="0"/>
          </a:p>
        </p:txBody>
      </p:sp>
      <p:sp>
        <p:nvSpPr>
          <p:cNvPr id="8" name="Text 5"/>
          <p:cNvSpPr txBox="1"/>
          <p:nvPr/>
        </p:nvSpPr>
        <p:spPr>
          <a:xfrm>
            <a:off x="7589520" y="1280160"/>
            <a:ext cx="4069080" cy="365760"/>
          </a:xfrm>
          <a:prstGeom prst="rect">
            <a:avLst/>
          </a:prstGeom>
          <a:noFill/>
          <a:ln/>
        </p:spPr>
        <p:txBody>
          <a:bodyPr wrap="square" lIns="635" tIns="635" rIns="635" bIns="635" rtlCol="0" anchor="t"/>
          <a:lstStyle/>
          <a:p>
            <a:pPr indent="0" marL="0">
              <a:buNone/>
            </a:pPr>
            <a:r>
              <a:rPr lang="en-US" sz="1500" b="1" dirty="0">
                <a:solidFill>
                  <a:schemeClr val="tx2"/>
                </a:solidFill>
              </a:rPr>
              <a:t>Worked example: R. Mitchell</a:t>
            </a:r>
            <a:endParaRPr lang="en-US" sz="1500" dirty="0"/>
          </a:p>
        </p:txBody>
      </p:sp>
      <p:graphicFrame>
        <p:nvGraphicFramePr>
          <p:cNvPr id="9" name="Chart 0" descr=""/>
          <p:cNvGraphicFramePr/>
          <p:nvPr/>
        </p:nvGraphicFramePr>
        <p:xfrm>
          <a:off x="7498080" y="1645920"/>
          <a:ext cx="4160520" cy="265176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7589520" y="4389120"/>
            <a:ext cx="2377440" cy="914400"/>
          </a:xfrm>
          <a:prstGeom prst="rect">
            <a:avLst/>
          </a:prstGeom>
          <a:noFill/>
          <a:ln/>
        </p:spPr>
        <p:txBody>
          <a:bodyPr wrap="square" lIns="635" tIns="635" rIns="635" bIns="635" rtlCol="0" anchor="ctr"/>
          <a:lstStyle/>
          <a:p>
            <a:pPr indent="0" marL="0">
              <a:buNone/>
            </a:pPr>
            <a:r>
              <a:rPr lang="en-US" sz="5400" b="1" dirty="0">
                <a:solidFill>
                  <a:schemeClr val="accent3"/>
                </a:solidFill>
                <a:latin typeface="Cambria" pitchFamily="34" charset="0"/>
                <a:ea typeface="Cambria" pitchFamily="34" charset="-122"/>
                <a:cs typeface="Cambria" pitchFamily="34" charset="-120"/>
              </a:rPr>
              <a:t>85</a:t>
            </a:r>
            <a:pPr indent="0" marL="0">
              <a:buNone/>
            </a:pPr>
            <a:r>
              <a:rPr lang="en-US" sz="2000" dirty="0">
                <a:solidFill>
                  <a:schemeClr val="accent4"/>
                </a:solidFill>
              </a:rPr>
              <a:t> / 100</a:t>
            </a:r>
            <a:endParaRPr lang="en-US" sz="1200" dirty="0"/>
          </a:p>
        </p:txBody>
      </p:sp>
      <p:sp>
        <p:nvSpPr>
          <p:cNvPr id="11" name="Text 7"/>
          <p:cNvSpPr txBox="1"/>
          <p:nvPr/>
        </p:nvSpPr>
        <p:spPr>
          <a:xfrm>
            <a:off x="9921240" y="4434840"/>
            <a:ext cx="1737360" cy="1005840"/>
          </a:xfrm>
          <a:prstGeom prst="rect">
            <a:avLst/>
          </a:prstGeom>
          <a:noFill/>
          <a:ln/>
        </p:spPr>
        <p:txBody>
          <a:bodyPr wrap="square" lIns="635" tIns="635" rIns="635" bIns="635" rtlCol="0" anchor="t"/>
          <a:lstStyle/>
          <a:p>
            <a:pPr indent="0" marL="0">
              <a:buNone/>
            </a:pPr>
            <a:r>
              <a:rPr lang="en-US" sz="1100" b="1" dirty="0">
                <a:solidFill>
                  <a:schemeClr val="tx2"/>
                </a:solidFill>
              </a:rPr>
              <a:t>Severe: routed to a hardship specialist. The explanation cites the call quote.</a:t>
            </a:r>
            <a:endParaRPr lang="en-US" sz="11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Affordability: what can they pay, and when?</a:t>
            </a:r>
            <a:endParaRPr lang="en-US" sz="3000" dirty="0"/>
          </a:p>
        </p:txBody>
      </p:sp>
      <p:sp>
        <p:nvSpPr>
          <p:cNvPr id="3" name="Shape 1"/>
          <p:cNvSpPr/>
          <p:nvPr/>
        </p:nvSpPr>
        <p:spPr>
          <a:xfrm>
            <a:off x="548640" y="1280160"/>
            <a:ext cx="420624" cy="420624"/>
          </a:xfrm>
          <a:prstGeom prst="ellipse">
            <a:avLst/>
          </a:prstGeom>
          <a:solidFill>
            <a:schemeClr val="accent1"/>
          </a:solidFill>
          <a:ln w="12700">
            <a:solidFill>
              <a:schemeClr val="accent1"/>
            </a:solidFill>
            <a:prstDash val="solid"/>
          </a:ln>
        </p:spPr>
      </p:sp>
      <p:sp>
        <p:nvSpPr>
          <p:cNvPr id="4" name="Text 2"/>
          <p:cNvSpPr txBox="1"/>
          <p:nvPr/>
        </p:nvSpPr>
        <p:spPr>
          <a:xfrm>
            <a:off x="548640" y="1298448"/>
            <a:ext cx="420624"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097280" y="1261872"/>
            <a:ext cx="4480560" cy="274320"/>
          </a:xfrm>
          <a:prstGeom prst="rect">
            <a:avLst/>
          </a:prstGeom>
          <a:noFill/>
          <a:ln/>
        </p:spPr>
        <p:txBody>
          <a:bodyPr wrap="square" lIns="635" tIns="635" rIns="635" bIns="635" rtlCol="0" anchor="t"/>
          <a:lstStyle/>
          <a:p>
            <a:pPr indent="0" marL="0">
              <a:buNone/>
            </a:pPr>
            <a:r>
              <a:rPr lang="en-US" sz="1300" b="1" dirty="0">
                <a:solidFill>
                  <a:schemeClr val="tx2"/>
                </a:solidFill>
              </a:rPr>
              <a:t>Pay cycle</a:t>
            </a:r>
            <a:endParaRPr lang="en-US" sz="1300" dirty="0"/>
          </a:p>
        </p:txBody>
      </p:sp>
      <p:sp>
        <p:nvSpPr>
          <p:cNvPr id="6" name="Text 4"/>
          <p:cNvSpPr txBox="1"/>
          <p:nvPr/>
        </p:nvSpPr>
        <p:spPr>
          <a:xfrm>
            <a:off x="1097280" y="1527048"/>
            <a:ext cx="4480560" cy="502920"/>
          </a:xfrm>
          <a:prstGeom prst="rect">
            <a:avLst/>
          </a:prstGeom>
          <a:noFill/>
          <a:ln/>
        </p:spPr>
        <p:txBody>
          <a:bodyPr wrap="square" lIns="635" tIns="635" rIns="635" bIns="635" rtlCol="0" anchor="t"/>
          <a:lstStyle/>
          <a:p>
            <a:pPr indent="0" marL="0">
              <a:buNone/>
            </a:pPr>
            <a:r>
              <a:rPr lang="en-US" sz="1100" dirty="0">
                <a:solidFill>
                  <a:schemeClr val="tx1"/>
                </a:solidFill>
              </a:rPr>
              <a:t>Median gap between salary credits: weekly, biweekly or monthly. Next payday predicted.</a:t>
            </a:r>
            <a:endParaRPr lang="en-US" sz="1100" dirty="0"/>
          </a:p>
        </p:txBody>
      </p:sp>
      <p:sp>
        <p:nvSpPr>
          <p:cNvPr id="7" name="Shape 5"/>
          <p:cNvSpPr/>
          <p:nvPr/>
        </p:nvSpPr>
        <p:spPr>
          <a:xfrm>
            <a:off x="548640" y="2066544"/>
            <a:ext cx="420624" cy="420624"/>
          </a:xfrm>
          <a:prstGeom prst="ellipse">
            <a:avLst/>
          </a:prstGeom>
          <a:solidFill>
            <a:schemeClr val="accent1"/>
          </a:solidFill>
          <a:ln w="12700">
            <a:solidFill>
              <a:schemeClr val="accent1"/>
            </a:solidFill>
            <a:prstDash val="solid"/>
          </a:ln>
        </p:spPr>
      </p:sp>
      <p:sp>
        <p:nvSpPr>
          <p:cNvPr id="8" name="Text 6"/>
          <p:cNvSpPr txBox="1"/>
          <p:nvPr/>
        </p:nvSpPr>
        <p:spPr>
          <a:xfrm>
            <a:off x="548640" y="2084832"/>
            <a:ext cx="420624"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9" name="Text 7"/>
          <p:cNvSpPr txBox="1"/>
          <p:nvPr/>
        </p:nvSpPr>
        <p:spPr>
          <a:xfrm>
            <a:off x="1097280" y="2048256"/>
            <a:ext cx="4480560" cy="274320"/>
          </a:xfrm>
          <a:prstGeom prst="rect">
            <a:avLst/>
          </a:prstGeom>
          <a:noFill/>
          <a:ln/>
        </p:spPr>
        <p:txBody>
          <a:bodyPr wrap="square" lIns="635" tIns="635" rIns="635" bIns="635" rtlCol="0" anchor="t"/>
          <a:lstStyle/>
          <a:p>
            <a:pPr indent="0" marL="0">
              <a:buNone/>
            </a:pPr>
            <a:r>
              <a:rPr lang="en-US" sz="1300" b="1" dirty="0">
                <a:solidFill>
                  <a:schemeClr val="tx2"/>
                </a:solidFill>
              </a:rPr>
              <a:t>Income</a:t>
            </a:r>
            <a:endParaRPr lang="en-US" sz="1300" dirty="0"/>
          </a:p>
        </p:txBody>
      </p:sp>
      <p:sp>
        <p:nvSpPr>
          <p:cNvPr id="10" name="Text 8"/>
          <p:cNvSpPr txBox="1"/>
          <p:nvPr/>
        </p:nvSpPr>
        <p:spPr>
          <a:xfrm>
            <a:off x="1097280" y="2313432"/>
            <a:ext cx="4480560" cy="502920"/>
          </a:xfrm>
          <a:prstGeom prst="rect">
            <a:avLst/>
          </a:prstGeom>
          <a:noFill/>
          <a:ln/>
        </p:spPr>
        <p:txBody>
          <a:bodyPr wrap="square" lIns="635" tIns="635" rIns="635" bIns="635" rtlCol="0" anchor="t"/>
          <a:lstStyle/>
          <a:p>
            <a:pPr indent="0" marL="0">
              <a:buNone/>
            </a:pPr>
            <a:r>
              <a:rPr lang="en-US" sz="1100" dirty="0">
                <a:solidFill>
                  <a:schemeClr val="tx1"/>
                </a:solidFill>
              </a:rPr>
              <a:t>Typical pay × pays per month. After an income shock, use the latest pay.</a:t>
            </a:r>
            <a:endParaRPr lang="en-US" sz="1100" dirty="0"/>
          </a:p>
        </p:txBody>
      </p:sp>
      <p:sp>
        <p:nvSpPr>
          <p:cNvPr id="11" name="Shape 9"/>
          <p:cNvSpPr/>
          <p:nvPr/>
        </p:nvSpPr>
        <p:spPr>
          <a:xfrm>
            <a:off x="548640" y="2852928"/>
            <a:ext cx="420624" cy="420624"/>
          </a:xfrm>
          <a:prstGeom prst="ellipse">
            <a:avLst/>
          </a:prstGeom>
          <a:solidFill>
            <a:schemeClr val="accent1"/>
          </a:solidFill>
          <a:ln w="12700">
            <a:solidFill>
              <a:schemeClr val="accent1"/>
            </a:solidFill>
            <a:prstDash val="solid"/>
          </a:ln>
        </p:spPr>
      </p:sp>
      <p:sp>
        <p:nvSpPr>
          <p:cNvPr id="12" name="Text 10"/>
          <p:cNvSpPr txBox="1"/>
          <p:nvPr/>
        </p:nvSpPr>
        <p:spPr>
          <a:xfrm>
            <a:off x="548640" y="2871216"/>
            <a:ext cx="420624"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1097280" y="2834640"/>
            <a:ext cx="4480560" cy="274320"/>
          </a:xfrm>
          <a:prstGeom prst="rect">
            <a:avLst/>
          </a:prstGeom>
          <a:noFill/>
          <a:ln/>
        </p:spPr>
        <p:txBody>
          <a:bodyPr wrap="square" lIns="635" tIns="635" rIns="635" bIns="635" rtlCol="0" anchor="t"/>
          <a:lstStyle/>
          <a:p>
            <a:pPr indent="0" marL="0">
              <a:buNone/>
            </a:pPr>
            <a:r>
              <a:rPr lang="en-US" sz="1300" b="1" dirty="0">
                <a:solidFill>
                  <a:schemeClr val="tx2"/>
                </a:solidFill>
              </a:rPr>
              <a:t>Obligations</a:t>
            </a:r>
            <a:endParaRPr lang="en-US" sz="1300" dirty="0"/>
          </a:p>
        </p:txBody>
      </p:sp>
      <p:sp>
        <p:nvSpPr>
          <p:cNvPr id="14" name="Text 12"/>
          <p:cNvSpPr txBox="1"/>
          <p:nvPr/>
        </p:nvSpPr>
        <p:spPr>
          <a:xfrm>
            <a:off x="1097280" y="3099816"/>
            <a:ext cx="4480560" cy="502920"/>
          </a:xfrm>
          <a:prstGeom prst="rect">
            <a:avLst/>
          </a:prstGeom>
          <a:noFill/>
          <a:ln/>
        </p:spPr>
        <p:txBody>
          <a:bodyPr wrap="square" lIns="635" tIns="635" rIns="635" bIns="635" rtlCol="0" anchor="t"/>
          <a:lstStyle/>
          <a:p>
            <a:pPr indent="0" marL="0">
              <a:buNone/>
            </a:pPr>
            <a:r>
              <a:rPr lang="en-US" sz="1100" dirty="0">
                <a:solidFill>
                  <a:schemeClr val="tx1"/>
                </a:solidFill>
              </a:rPr>
              <a:t>Loan instalments + card minimum payments.</a:t>
            </a:r>
            <a:endParaRPr lang="en-US" sz="1100" dirty="0"/>
          </a:p>
        </p:txBody>
      </p:sp>
      <p:sp>
        <p:nvSpPr>
          <p:cNvPr id="15" name="Shape 13"/>
          <p:cNvSpPr/>
          <p:nvPr/>
        </p:nvSpPr>
        <p:spPr>
          <a:xfrm>
            <a:off x="548640" y="3639312"/>
            <a:ext cx="420624" cy="420624"/>
          </a:xfrm>
          <a:prstGeom prst="ellipse">
            <a:avLst/>
          </a:prstGeom>
          <a:solidFill>
            <a:schemeClr val="accent1"/>
          </a:solidFill>
          <a:ln w="12700">
            <a:solidFill>
              <a:schemeClr val="accent1"/>
            </a:solidFill>
            <a:prstDash val="solid"/>
          </a:ln>
        </p:spPr>
      </p:sp>
      <p:sp>
        <p:nvSpPr>
          <p:cNvPr id="16" name="Text 14"/>
          <p:cNvSpPr txBox="1"/>
          <p:nvPr/>
        </p:nvSpPr>
        <p:spPr>
          <a:xfrm>
            <a:off x="548640" y="3657600"/>
            <a:ext cx="420624"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7" name="Text 15"/>
          <p:cNvSpPr txBox="1"/>
          <p:nvPr/>
        </p:nvSpPr>
        <p:spPr>
          <a:xfrm>
            <a:off x="1097280" y="3621024"/>
            <a:ext cx="4480560" cy="274320"/>
          </a:xfrm>
          <a:prstGeom prst="rect">
            <a:avLst/>
          </a:prstGeom>
          <a:noFill/>
          <a:ln/>
        </p:spPr>
        <p:txBody>
          <a:bodyPr wrap="square" lIns="635" tIns="635" rIns="635" bIns="635" rtlCol="0" anchor="t"/>
          <a:lstStyle/>
          <a:p>
            <a:pPr indent="0" marL="0">
              <a:buNone/>
            </a:pPr>
            <a:r>
              <a:rPr lang="en-US" sz="1300" b="1" dirty="0">
                <a:solidFill>
                  <a:schemeClr val="tx2"/>
                </a:solidFill>
              </a:rPr>
              <a:t>Essentials</a:t>
            </a:r>
            <a:endParaRPr lang="en-US" sz="1300" dirty="0"/>
          </a:p>
        </p:txBody>
      </p:sp>
      <p:sp>
        <p:nvSpPr>
          <p:cNvPr id="18" name="Text 16"/>
          <p:cNvSpPr txBox="1"/>
          <p:nvPr/>
        </p:nvSpPr>
        <p:spPr>
          <a:xfrm>
            <a:off x="1097280" y="3886200"/>
            <a:ext cx="4480560" cy="502920"/>
          </a:xfrm>
          <a:prstGeom prst="rect">
            <a:avLst/>
          </a:prstGeom>
          <a:noFill/>
          <a:ln/>
        </p:spPr>
        <p:txBody>
          <a:bodyPr wrap="square" lIns="635" tIns="635" rIns="635" bIns="635" rtlCol="0" anchor="t"/>
          <a:lstStyle/>
          <a:p>
            <a:pPr indent="0" marL="0">
              <a:buNone/>
            </a:pPr>
            <a:r>
              <a:rPr lang="en-US" sz="1100" dirty="0">
                <a:solidFill>
                  <a:schemeClr val="tx1"/>
                </a:solidFill>
              </a:rPr>
              <a:t>Policy allowance of 60% of income (configurable, labelled assumption).</a:t>
            </a:r>
            <a:endParaRPr lang="en-US" sz="1100" dirty="0"/>
          </a:p>
        </p:txBody>
      </p:sp>
      <p:sp>
        <p:nvSpPr>
          <p:cNvPr id="19" name="Shape 17"/>
          <p:cNvSpPr/>
          <p:nvPr/>
        </p:nvSpPr>
        <p:spPr>
          <a:xfrm>
            <a:off x="548640" y="4425696"/>
            <a:ext cx="420624" cy="420624"/>
          </a:xfrm>
          <a:prstGeom prst="ellipse">
            <a:avLst/>
          </a:prstGeom>
          <a:solidFill>
            <a:schemeClr val="accent1"/>
          </a:solidFill>
          <a:ln w="12700">
            <a:solidFill>
              <a:schemeClr val="accent1"/>
            </a:solidFill>
            <a:prstDash val="solid"/>
          </a:ln>
        </p:spPr>
      </p:sp>
      <p:sp>
        <p:nvSpPr>
          <p:cNvPr id="20" name="Text 18"/>
          <p:cNvSpPr txBox="1"/>
          <p:nvPr/>
        </p:nvSpPr>
        <p:spPr>
          <a:xfrm>
            <a:off x="548640" y="4443984"/>
            <a:ext cx="420624"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21" name="Text 19"/>
          <p:cNvSpPr txBox="1"/>
          <p:nvPr/>
        </p:nvSpPr>
        <p:spPr>
          <a:xfrm>
            <a:off x="1097280" y="4407408"/>
            <a:ext cx="4480560" cy="274320"/>
          </a:xfrm>
          <a:prstGeom prst="rect">
            <a:avLst/>
          </a:prstGeom>
          <a:noFill/>
          <a:ln/>
        </p:spPr>
        <p:txBody>
          <a:bodyPr wrap="square" lIns="635" tIns="635" rIns="635" bIns="635" rtlCol="0" anchor="t"/>
          <a:lstStyle/>
          <a:p>
            <a:pPr indent="0" marL="0">
              <a:buNone/>
            </a:pPr>
            <a:r>
              <a:rPr lang="en-US" sz="1300" b="1" dirty="0">
                <a:solidFill>
                  <a:schemeClr val="tx2"/>
                </a:solidFill>
              </a:rPr>
              <a:t>Capacity</a:t>
            </a:r>
            <a:endParaRPr lang="en-US" sz="1300" dirty="0"/>
          </a:p>
        </p:txBody>
      </p:sp>
      <p:sp>
        <p:nvSpPr>
          <p:cNvPr id="22" name="Text 20"/>
          <p:cNvSpPr txBox="1"/>
          <p:nvPr/>
        </p:nvSpPr>
        <p:spPr>
          <a:xfrm>
            <a:off x="1097280" y="4672584"/>
            <a:ext cx="4480560" cy="502920"/>
          </a:xfrm>
          <a:prstGeom prst="rect">
            <a:avLst/>
          </a:prstGeom>
          <a:noFill/>
          <a:ln/>
        </p:spPr>
        <p:txBody>
          <a:bodyPr wrap="square" lIns="635" tIns="635" rIns="635" bIns="635" rtlCol="0" anchor="t"/>
          <a:lstStyle/>
          <a:p>
            <a:pPr indent="0" marL="0">
              <a:buNone/>
            </a:pPr>
            <a:r>
              <a:rPr lang="en-US" sz="1100" dirty="0">
                <a:solidFill>
                  <a:schemeClr val="tx1"/>
                </a:solidFill>
              </a:rPr>
              <a:t>C = income − obligations − essentials. Buffer B = deposits above $500.</a:t>
            </a:r>
            <a:endParaRPr lang="en-US" sz="1100" dirty="0"/>
          </a:p>
        </p:txBody>
      </p:sp>
      <p:sp>
        <p:nvSpPr>
          <p:cNvPr id="23" name="Shape 21"/>
          <p:cNvSpPr/>
          <p:nvPr/>
        </p:nvSpPr>
        <p:spPr>
          <a:xfrm>
            <a:off x="548640" y="5212080"/>
            <a:ext cx="420624" cy="420624"/>
          </a:xfrm>
          <a:prstGeom prst="ellipse">
            <a:avLst/>
          </a:prstGeom>
          <a:solidFill>
            <a:schemeClr val="accent1"/>
          </a:solidFill>
          <a:ln w="12700">
            <a:solidFill>
              <a:schemeClr val="accent1"/>
            </a:solidFill>
            <a:prstDash val="solid"/>
          </a:ln>
        </p:spPr>
      </p:sp>
      <p:sp>
        <p:nvSpPr>
          <p:cNvPr id="24" name="Text 22"/>
          <p:cNvSpPr txBox="1"/>
          <p:nvPr/>
        </p:nvSpPr>
        <p:spPr>
          <a:xfrm>
            <a:off x="548640" y="5230368"/>
            <a:ext cx="420624" cy="384048"/>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5" name="Text 23"/>
          <p:cNvSpPr txBox="1"/>
          <p:nvPr/>
        </p:nvSpPr>
        <p:spPr>
          <a:xfrm>
            <a:off x="1097280" y="5193792"/>
            <a:ext cx="4480560" cy="274320"/>
          </a:xfrm>
          <a:prstGeom prst="rect">
            <a:avLst/>
          </a:prstGeom>
          <a:noFill/>
          <a:ln/>
        </p:spPr>
        <p:txBody>
          <a:bodyPr wrap="square" lIns="635" tIns="635" rIns="635" bIns="635" rtlCol="0" anchor="t"/>
          <a:lstStyle/>
          <a:p>
            <a:pPr indent="0" marL="0">
              <a:buNone/>
            </a:pPr>
            <a:r>
              <a:rPr lang="en-US" sz="1300" b="1" dirty="0">
                <a:solidFill>
                  <a:schemeClr val="tx2"/>
                </a:solidFill>
              </a:rPr>
              <a:t>Decide</a:t>
            </a:r>
            <a:endParaRPr lang="en-US" sz="1300" dirty="0"/>
          </a:p>
        </p:txBody>
      </p:sp>
      <p:sp>
        <p:nvSpPr>
          <p:cNvPr id="26" name="Text 24"/>
          <p:cNvSpPr txBox="1"/>
          <p:nvPr/>
        </p:nvSpPr>
        <p:spPr>
          <a:xfrm>
            <a:off x="1097280" y="5458968"/>
            <a:ext cx="4480560" cy="502920"/>
          </a:xfrm>
          <a:prstGeom prst="rect">
            <a:avLst/>
          </a:prstGeom>
          <a:noFill/>
          <a:ln/>
        </p:spPr>
        <p:txBody>
          <a:bodyPr wrap="square" lIns="635" tIns="635" rIns="635" bIns="635" rtlCol="0" anchor="t"/>
          <a:lstStyle/>
          <a:p>
            <a:pPr indent="0" marL="0">
              <a:buNone/>
            </a:pPr>
            <a:r>
              <a:rPr lang="en-US" sz="1100" dirty="0">
                <a:solidFill>
                  <a:schemeClr val="tx1"/>
                </a:solidFill>
              </a:rPr>
              <a:t>ratio = (3 × C + B) ÷ arrears.  ≥ 1 catch-up  ·  0.3-1 staged plan  ·  &lt; 0.3 or C ≤ 0 hardship pathway.</a:t>
            </a:r>
            <a:endParaRPr lang="en-US" sz="1100" dirty="0"/>
          </a:p>
        </p:txBody>
      </p:sp>
      <p:sp>
        <p:nvSpPr>
          <p:cNvPr id="27" name="Text 25"/>
          <p:cNvSpPr txBox="1"/>
          <p:nvPr/>
        </p:nvSpPr>
        <p:spPr>
          <a:xfrm>
            <a:off x="548640" y="5989320"/>
            <a:ext cx="5120640" cy="411480"/>
          </a:xfrm>
          <a:prstGeom prst="rect">
            <a:avLst/>
          </a:prstGeom>
          <a:noFill/>
          <a:ln/>
        </p:spPr>
        <p:txBody>
          <a:bodyPr wrap="square" lIns="635" tIns="635" rIns="635" bIns="635" rtlCol="0" anchor="t"/>
          <a:lstStyle/>
          <a:p>
            <a:pPr indent="0" marL="0">
              <a:buNone/>
            </a:pPr>
            <a:r>
              <a:rPr lang="en-US" sz="1000" i="1" dirty="0">
                <a:solidFill>
                  <a:schemeClr val="accent4"/>
                </a:solidFill>
              </a:rPr>
              <a:t>Plans use 80% of capacity as a safety margin and fall due the day after the predicted payday. Confidence = pay-cycle regularity × trust score.</a:t>
            </a:r>
            <a:endParaRPr lang="en-US" sz="1000" dirty="0"/>
          </a:p>
        </p:txBody>
      </p:sp>
      <p:sp>
        <p:nvSpPr>
          <p:cNvPr id="28" name="Shape 26"/>
          <p:cNvSpPr/>
          <p:nvPr/>
        </p:nvSpPr>
        <p:spPr>
          <a:xfrm>
            <a:off x="5897880" y="1280160"/>
            <a:ext cx="2788920" cy="4617720"/>
          </a:xfrm>
          <a:prstGeom prst="roundRect">
            <a:avLst>
              <a:gd name="adj" fmla="val 2623"/>
            </a:avLst>
          </a:prstGeom>
          <a:solidFill>
            <a:schemeClr val="bg1"/>
          </a:solidFill>
          <a:ln w="19050">
            <a:solidFill>
              <a:schemeClr val="accent3"/>
            </a:solidFill>
            <a:prstDash val="solid"/>
          </a:ln>
          <a:effectLst>
            <a:outerShdw sx="100000" sy="100000" kx="0" ky="0" algn="bl" rotWithShape="0" blurRad="101600" dist="25400" dir="5400000">
              <a:srgbClr val="000000">
                <a:alpha val="12000"/>
              </a:srgbClr>
            </a:outerShdw>
          </a:effectLst>
        </p:spPr>
      </p:sp>
      <p:sp>
        <p:nvSpPr>
          <p:cNvPr id="29" name="Text 27"/>
          <p:cNvSpPr txBox="1"/>
          <p:nvPr/>
        </p:nvSpPr>
        <p:spPr>
          <a:xfrm>
            <a:off x="6080760" y="1417320"/>
            <a:ext cx="2468880" cy="365760"/>
          </a:xfrm>
          <a:prstGeom prst="rect">
            <a:avLst/>
          </a:prstGeom>
          <a:noFill/>
          <a:ln/>
        </p:spPr>
        <p:txBody>
          <a:bodyPr wrap="square" lIns="635" tIns="635" rIns="635" bIns="635" rtlCol="0" anchor="t"/>
          <a:lstStyle/>
          <a:p>
            <a:pPr indent="0" marL="0">
              <a:buNone/>
            </a:pPr>
            <a:r>
              <a:rPr lang="en-US" sz="1700" b="1" dirty="0">
                <a:solidFill>
                  <a:schemeClr val="tx2"/>
                </a:solidFill>
                <a:latin typeface="Cambria" pitchFamily="34" charset="0"/>
                <a:ea typeface="Cambria" pitchFamily="34" charset="-122"/>
                <a:cs typeface="Cambria" pitchFamily="34" charset="-120"/>
              </a:rPr>
              <a:t>R. Mitchell</a:t>
            </a:r>
            <a:endParaRPr lang="en-US" sz="1700" dirty="0"/>
          </a:p>
        </p:txBody>
      </p:sp>
      <p:sp>
        <p:nvSpPr>
          <p:cNvPr id="30" name="Text 28"/>
          <p:cNvSpPr txBox="1"/>
          <p:nvPr/>
        </p:nvSpPr>
        <p:spPr>
          <a:xfrm>
            <a:off x="6080760" y="1764792"/>
            <a:ext cx="2468880" cy="274320"/>
          </a:xfrm>
          <a:prstGeom prst="rect">
            <a:avLst/>
          </a:prstGeom>
          <a:noFill/>
          <a:ln/>
        </p:spPr>
        <p:txBody>
          <a:bodyPr wrap="square" lIns="635" tIns="635" rIns="635" bIns="635" rtlCol="0" anchor="t"/>
          <a:lstStyle/>
          <a:p>
            <a:pPr indent="0" marL="0">
              <a:buNone/>
            </a:pPr>
            <a:r>
              <a:rPr lang="en-US" sz="1100" dirty="0">
                <a:solidFill>
                  <a:schemeClr val="accent4"/>
                </a:solidFill>
              </a:rPr>
              <a:t>Shifts cut, payroll late</a:t>
            </a:r>
            <a:endParaRPr lang="en-US" sz="1100" dirty="0"/>
          </a:p>
        </p:txBody>
      </p:sp>
      <p:sp>
        <p:nvSpPr>
          <p:cNvPr id="31" name="Text 29"/>
          <p:cNvSpPr txBox="1"/>
          <p:nvPr/>
        </p:nvSpPr>
        <p:spPr>
          <a:xfrm>
            <a:off x="6080760" y="2103120"/>
            <a:ext cx="2468880" cy="960120"/>
          </a:xfrm>
          <a:prstGeom prst="rect">
            <a:avLst/>
          </a:prstGeom>
          <a:noFill/>
          <a:ln/>
        </p:spPr>
        <p:txBody>
          <a:bodyPr wrap="square" lIns="635" tIns="635" rIns="635" bIns="635" rtlCol="0" anchor="t"/>
          <a:lstStyle/>
          <a:p>
            <a:pPr indent="0" marL="0">
              <a:spcAft>
                <a:spcPts val="300"/>
              </a:spcAft>
              <a:buNone/>
            </a:pPr>
            <a:r>
              <a:rPr lang="en-US" sz="1100" dirty="0">
                <a:solidFill>
                  <a:schemeClr val="tx1"/>
                </a:solidFill>
              </a:rPr>
              <a:t>Income: $2,058 / month (latest $950 biweekly)</a:t>
            </a:r>
            <a:endParaRPr lang="en-US" sz="1100" dirty="0"/>
          </a:p>
          <a:p>
            <a:pPr indent="0" marL="0">
              <a:spcAft>
                <a:spcPts val="300"/>
              </a:spcAft>
              <a:buNone/>
            </a:pPr>
            <a:r>
              <a:rPr lang="en-US" sz="1100" dirty="0">
                <a:solidFill>
                  <a:schemeClr val="tx1"/>
                </a:solidFill>
              </a:rPr>
              <a:t>Obligations: $830</a:t>
            </a:r>
            <a:endParaRPr lang="en-US" sz="1100" dirty="0"/>
          </a:p>
          <a:p>
            <a:pPr indent="0" marL="0">
              <a:spcAft>
                <a:spcPts val="300"/>
              </a:spcAft>
              <a:buNone/>
            </a:pPr>
            <a:r>
              <a:rPr lang="en-US" sz="1100" dirty="0">
                <a:solidFill>
                  <a:schemeClr val="tx1"/>
                </a:solidFill>
              </a:rPr>
              <a:t>Essentials: $1,235</a:t>
            </a:r>
            <a:endParaRPr lang="en-US" sz="1100" dirty="0"/>
          </a:p>
        </p:txBody>
      </p:sp>
      <p:sp>
        <p:nvSpPr>
          <p:cNvPr id="32" name="Text 30"/>
          <p:cNvSpPr txBox="1"/>
          <p:nvPr/>
        </p:nvSpPr>
        <p:spPr>
          <a:xfrm>
            <a:off x="6080760" y="3063240"/>
            <a:ext cx="2468880" cy="777240"/>
          </a:xfrm>
          <a:prstGeom prst="rect">
            <a:avLst/>
          </a:prstGeom>
          <a:noFill/>
          <a:ln/>
        </p:spPr>
        <p:txBody>
          <a:bodyPr wrap="square" lIns="635" tIns="635" rIns="635" bIns="635" rtlCol="0" anchor="t"/>
          <a:lstStyle/>
          <a:p>
            <a:pPr indent="0" marL="0">
              <a:buNone/>
            </a:pPr>
            <a:r>
              <a:rPr lang="en-US" sz="4400" b="1" dirty="0">
                <a:solidFill>
                  <a:schemeClr val="accent3"/>
                </a:solidFill>
                <a:latin typeface="Cambria" pitchFamily="34" charset="0"/>
                <a:ea typeface="Cambria" pitchFamily="34" charset="-122"/>
                <a:cs typeface="Cambria" pitchFamily="34" charset="-120"/>
              </a:rPr>
              <a:t>−$7</a:t>
            </a:r>
            <a:endParaRPr lang="en-US" sz="4400" dirty="0"/>
          </a:p>
        </p:txBody>
      </p:sp>
      <p:sp>
        <p:nvSpPr>
          <p:cNvPr id="33" name="Text 31"/>
          <p:cNvSpPr txBox="1"/>
          <p:nvPr/>
        </p:nvSpPr>
        <p:spPr>
          <a:xfrm>
            <a:off x="6080760" y="3840480"/>
            <a:ext cx="2468880" cy="274320"/>
          </a:xfrm>
          <a:prstGeom prst="rect">
            <a:avLst/>
          </a:prstGeom>
          <a:noFill/>
          <a:ln/>
        </p:spPr>
        <p:txBody>
          <a:bodyPr wrap="square" lIns="635" tIns="635" rIns="635" bIns="635" rtlCol="0" anchor="t"/>
          <a:lstStyle/>
          <a:p>
            <a:pPr indent="0" marL="0">
              <a:buNone/>
            </a:pPr>
            <a:r>
              <a:rPr lang="en-US" sz="1100" dirty="0">
                <a:solidFill>
                  <a:schemeClr val="accent4"/>
                </a:solidFill>
              </a:rPr>
              <a:t>capacity / month</a:t>
            </a:r>
            <a:endParaRPr lang="en-US" sz="1100" dirty="0"/>
          </a:p>
        </p:txBody>
      </p:sp>
      <p:sp>
        <p:nvSpPr>
          <p:cNvPr id="34" name="Text 32"/>
          <p:cNvSpPr txBox="1"/>
          <p:nvPr/>
        </p:nvSpPr>
        <p:spPr>
          <a:xfrm>
            <a:off x="6080760" y="4206240"/>
            <a:ext cx="2468880" cy="1554480"/>
          </a:xfrm>
          <a:prstGeom prst="rect">
            <a:avLst/>
          </a:prstGeom>
          <a:noFill/>
          <a:ln/>
        </p:spPr>
        <p:txBody>
          <a:bodyPr wrap="square" lIns="635" tIns="635" rIns="635" bIns="635" rtlCol="0" anchor="t"/>
          <a:lstStyle/>
          <a:p>
            <a:pPr indent="0" marL="0">
              <a:buNone/>
            </a:pPr>
            <a:r>
              <a:rPr lang="en-US" sz="1200" b="1" dirty="0">
                <a:solidFill>
                  <a:schemeClr val="tx2"/>
                </a:solidFill>
              </a:rPr>
              <a:t>Hardship pathway: specialist, reduced payment or payment holiday, no collection calls.</a:t>
            </a:r>
            <a:endParaRPr lang="en-US" sz="1200" dirty="0"/>
          </a:p>
        </p:txBody>
      </p:sp>
      <p:sp>
        <p:nvSpPr>
          <p:cNvPr id="35" name="Shape 33"/>
          <p:cNvSpPr/>
          <p:nvPr/>
        </p:nvSpPr>
        <p:spPr>
          <a:xfrm>
            <a:off x="8823960" y="1280160"/>
            <a:ext cx="2788920" cy="4617720"/>
          </a:xfrm>
          <a:prstGeom prst="roundRect">
            <a:avLst>
              <a:gd name="adj" fmla="val 2623"/>
            </a:avLst>
          </a:prstGeom>
          <a:solidFill>
            <a:schemeClr val="bg1"/>
          </a:solidFill>
          <a:ln w="19050">
            <a:solidFill>
              <a:schemeClr val="accent1"/>
            </a:solidFill>
            <a:prstDash val="solid"/>
          </a:ln>
          <a:effectLst>
            <a:outerShdw sx="100000" sy="100000" kx="0" ky="0" algn="bl" rotWithShape="0" blurRad="101600" dist="25400" dir="5400000">
              <a:srgbClr val="000000">
                <a:alpha val="12000"/>
              </a:srgbClr>
            </a:outerShdw>
          </a:effectLst>
        </p:spPr>
      </p:sp>
      <p:sp>
        <p:nvSpPr>
          <p:cNvPr id="36" name="Text 34"/>
          <p:cNvSpPr txBox="1"/>
          <p:nvPr/>
        </p:nvSpPr>
        <p:spPr>
          <a:xfrm>
            <a:off x="9006840" y="1417320"/>
            <a:ext cx="2468880" cy="365760"/>
          </a:xfrm>
          <a:prstGeom prst="rect">
            <a:avLst/>
          </a:prstGeom>
          <a:noFill/>
          <a:ln/>
        </p:spPr>
        <p:txBody>
          <a:bodyPr wrap="square" lIns="635" tIns="635" rIns="635" bIns="635" rtlCol="0" anchor="t"/>
          <a:lstStyle/>
          <a:p>
            <a:pPr indent="0" marL="0">
              <a:buNone/>
            </a:pPr>
            <a:r>
              <a:rPr lang="en-US" sz="1700" b="1" dirty="0">
                <a:solidFill>
                  <a:schemeClr val="tx2"/>
                </a:solidFill>
                <a:latin typeface="Cambria" pitchFamily="34" charset="0"/>
                <a:ea typeface="Cambria" pitchFamily="34" charset="-122"/>
                <a:cs typeface="Cambria" pitchFamily="34" charset="-120"/>
              </a:rPr>
              <a:t>M. Roy</a:t>
            </a:r>
            <a:endParaRPr lang="en-US" sz="1700" dirty="0"/>
          </a:p>
        </p:txBody>
      </p:sp>
      <p:sp>
        <p:nvSpPr>
          <p:cNvPr id="37" name="Text 35"/>
          <p:cNvSpPr txBox="1"/>
          <p:nvPr/>
        </p:nvSpPr>
        <p:spPr>
          <a:xfrm>
            <a:off x="9006840" y="1764792"/>
            <a:ext cx="2468880" cy="274320"/>
          </a:xfrm>
          <a:prstGeom prst="rect">
            <a:avLst/>
          </a:prstGeom>
          <a:noFill/>
          <a:ln/>
        </p:spPr>
        <p:txBody>
          <a:bodyPr wrap="square" lIns="635" tIns="635" rIns="635" bIns="635" rtlCol="0" anchor="t"/>
          <a:lstStyle/>
          <a:p>
            <a:pPr indent="0" marL="0">
              <a:buNone/>
            </a:pPr>
            <a:r>
              <a:rPr lang="en-US" sz="1100" dirty="0">
                <a:solidFill>
                  <a:schemeClr val="accent4"/>
                </a:solidFill>
              </a:rPr>
              <a:t>Stable salary, has savings</a:t>
            </a:r>
            <a:endParaRPr lang="en-US" sz="1100" dirty="0"/>
          </a:p>
        </p:txBody>
      </p:sp>
      <p:sp>
        <p:nvSpPr>
          <p:cNvPr id="38" name="Text 36"/>
          <p:cNvSpPr txBox="1"/>
          <p:nvPr/>
        </p:nvSpPr>
        <p:spPr>
          <a:xfrm>
            <a:off x="9006840" y="2103120"/>
            <a:ext cx="2468880" cy="960120"/>
          </a:xfrm>
          <a:prstGeom prst="rect">
            <a:avLst/>
          </a:prstGeom>
          <a:noFill/>
          <a:ln/>
        </p:spPr>
        <p:txBody>
          <a:bodyPr wrap="square" lIns="635" tIns="635" rIns="635" bIns="635" rtlCol="0" anchor="t"/>
          <a:lstStyle/>
          <a:p>
            <a:pPr indent="0" marL="0">
              <a:spcAft>
                <a:spcPts val="300"/>
              </a:spcAft>
              <a:buNone/>
            </a:pPr>
            <a:r>
              <a:rPr lang="en-US" sz="1100" dirty="0">
                <a:solidFill>
                  <a:schemeClr val="tx1"/>
                </a:solidFill>
              </a:rPr>
              <a:t>Income: $5,800 / month</a:t>
            </a:r>
            <a:endParaRPr lang="en-US" sz="1100" dirty="0"/>
          </a:p>
          <a:p>
            <a:pPr indent="0" marL="0">
              <a:spcAft>
                <a:spcPts val="300"/>
              </a:spcAft>
              <a:buNone/>
            </a:pPr>
            <a:r>
              <a:rPr lang="en-US" sz="1100" dirty="0">
                <a:solidFill>
                  <a:schemeClr val="tx1"/>
                </a:solidFill>
              </a:rPr>
              <a:t>Obligations: $1,550</a:t>
            </a:r>
            <a:endParaRPr lang="en-US" sz="1100" dirty="0"/>
          </a:p>
          <a:p>
            <a:pPr indent="0" marL="0">
              <a:spcAft>
                <a:spcPts val="300"/>
              </a:spcAft>
              <a:buNone/>
            </a:pPr>
            <a:r>
              <a:rPr lang="en-US" sz="1100" dirty="0">
                <a:solidFill>
                  <a:schemeClr val="tx1"/>
                </a:solidFill>
              </a:rPr>
              <a:t>Essentials: $3,480</a:t>
            </a:r>
            <a:endParaRPr lang="en-US" sz="1100" dirty="0"/>
          </a:p>
        </p:txBody>
      </p:sp>
      <p:sp>
        <p:nvSpPr>
          <p:cNvPr id="39" name="Text 37"/>
          <p:cNvSpPr txBox="1"/>
          <p:nvPr/>
        </p:nvSpPr>
        <p:spPr>
          <a:xfrm>
            <a:off x="9006840" y="3063240"/>
            <a:ext cx="2468880" cy="777240"/>
          </a:xfrm>
          <a:prstGeom prst="rect">
            <a:avLst/>
          </a:prstGeom>
          <a:noFill/>
          <a:ln/>
        </p:spPr>
        <p:txBody>
          <a:bodyPr wrap="square" lIns="635" tIns="635" rIns="635" bIns="635" rtlCol="0" anchor="t"/>
          <a:lstStyle/>
          <a:p>
            <a:pPr indent="0" marL="0">
              <a:buNone/>
            </a:pPr>
            <a:r>
              <a:rPr lang="en-US" sz="4400" b="1" dirty="0">
                <a:solidFill>
                  <a:schemeClr val="accent1"/>
                </a:solidFill>
                <a:latin typeface="Cambria" pitchFamily="34" charset="0"/>
                <a:ea typeface="Cambria" pitchFamily="34" charset="-122"/>
                <a:cs typeface="Cambria" pitchFamily="34" charset="-120"/>
              </a:rPr>
              <a:t>1.05</a:t>
            </a:r>
            <a:endParaRPr lang="en-US" sz="4400" dirty="0"/>
          </a:p>
        </p:txBody>
      </p:sp>
      <p:sp>
        <p:nvSpPr>
          <p:cNvPr id="40" name="Text 38"/>
          <p:cNvSpPr txBox="1"/>
          <p:nvPr/>
        </p:nvSpPr>
        <p:spPr>
          <a:xfrm>
            <a:off x="9006840" y="3840480"/>
            <a:ext cx="2468880" cy="274320"/>
          </a:xfrm>
          <a:prstGeom prst="rect">
            <a:avLst/>
          </a:prstGeom>
          <a:noFill/>
          <a:ln/>
        </p:spPr>
        <p:txBody>
          <a:bodyPr wrap="square" lIns="635" tIns="635" rIns="635" bIns="635" rtlCol="0" anchor="t"/>
          <a:lstStyle/>
          <a:p>
            <a:pPr indent="0" marL="0">
              <a:buNone/>
            </a:pPr>
            <a:r>
              <a:rPr lang="en-US" sz="1100" dirty="0">
                <a:solidFill>
                  <a:schemeClr val="accent4"/>
                </a:solidFill>
              </a:rPr>
              <a:t>affordability ratio</a:t>
            </a:r>
            <a:endParaRPr lang="en-US" sz="1100" dirty="0"/>
          </a:p>
        </p:txBody>
      </p:sp>
      <p:sp>
        <p:nvSpPr>
          <p:cNvPr id="41" name="Text 39"/>
          <p:cNvSpPr txBox="1"/>
          <p:nvPr/>
        </p:nvSpPr>
        <p:spPr>
          <a:xfrm>
            <a:off x="9006840" y="4206240"/>
            <a:ext cx="2468880" cy="1554480"/>
          </a:xfrm>
          <a:prstGeom prst="rect">
            <a:avLst/>
          </a:prstGeom>
          <a:noFill/>
          <a:ln/>
        </p:spPr>
        <p:txBody>
          <a:bodyPr wrap="square" lIns="635" tIns="635" rIns="635" bIns="635" rtlCol="0" anchor="t"/>
          <a:lstStyle/>
          <a:p>
            <a:pPr indent="0" marL="0">
              <a:buNone/>
            </a:pPr>
            <a:r>
              <a:rPr lang="en-US" sz="1200" b="1" dirty="0">
                <a:solidFill>
                  <a:schemeClr val="tx2"/>
                </a:solidFill>
              </a:rPr>
              <a:t>Call the day after payday: $950 from savings, then $616 / month for 4 months.</a:t>
            </a:r>
            <a:endParaRPr lang="en-US" sz="1200" dirty="0"/>
          </a:p>
        </p:txBody>
      </p:sp>
      <p:sp>
        <p:nvSpPr>
          <p:cNvPr id="42" name="Text 40"/>
          <p:cNvSpPr txBox="1"/>
          <p:nvPr/>
        </p:nvSpPr>
        <p:spPr>
          <a:xfrm>
            <a:off x="5897880" y="5989320"/>
            <a:ext cx="5760720" cy="365760"/>
          </a:xfrm>
          <a:prstGeom prst="rect">
            <a:avLst/>
          </a:prstGeom>
          <a:noFill/>
          <a:ln/>
        </p:spPr>
        <p:txBody>
          <a:bodyPr wrap="square" lIns="635" tIns="635" rIns="635" bIns="635" rtlCol="0" anchor="t"/>
          <a:lstStyle/>
          <a:p>
            <a:pPr indent="0" marL="0">
              <a:buNone/>
            </a:pPr>
            <a:r>
              <a:rPr lang="en-US" sz="1300" b="1" i="1" dirty="0">
                <a:solidFill>
                  <a:schemeClr val="accent1"/>
                </a:solidFill>
              </a:rPr>
              <a:t>Both are high-risk. The actions are opposite, and the system shows why.</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Live re-decisioning: the action changes when the call ends</a:t>
            </a:r>
            <a:endParaRPr lang="en-US" sz="3000" dirty="0"/>
          </a:p>
        </p:txBody>
      </p:sp>
      <p:sp>
        <p:nvSpPr>
          <p:cNvPr id="3" name="Text 1"/>
          <p:cNvSpPr txBox="1"/>
          <p:nvPr/>
        </p:nvSpPr>
        <p:spPr>
          <a:xfrm>
            <a:off x="548640" y="1280160"/>
            <a:ext cx="1463040" cy="777240"/>
          </a:xfrm>
          <a:prstGeom prst="roundRect">
            <a:avLst>
              <a:gd name="adj" fmla="val 9412"/>
            </a:avLst>
          </a:prstGeom>
          <a:solidFill>
            <a:schemeClr val="bg2"/>
          </a:solidFill>
          <a:ln>
            <a:solidFill>
              <a:schemeClr val="accent5"/>
            </a:solidFill>
          </a:ln>
        </p:spPr>
        <p:txBody>
          <a:bodyPr wrap="square" lIns="508" tIns="508" rIns="508" bIns="508" rtlCol="0" anchor="ctr"/>
          <a:lstStyle/>
          <a:p>
            <a:pPr algn="ctr" indent="0" marL="0">
              <a:buNone/>
            </a:pPr>
            <a:r>
              <a:rPr lang="en-US" sz="1200" b="1" dirty="0">
                <a:solidFill>
                  <a:schemeClr val="tx2"/>
                </a:solidFill>
              </a:rPr>
              <a:t>1  Event in</a:t>
            </a:r>
            <a:endParaRPr lang="en-US" sz="1200" dirty="0"/>
          </a:p>
          <a:p>
            <a:pPr algn="ctr" indent="0" marL="0">
              <a:buNone/>
            </a:pPr>
            <a:r>
              <a:rPr lang="en-US" sz="1000" dirty="0">
                <a:solidFill>
                  <a:schemeClr val="tx2"/>
                </a:solidFill>
              </a:rPr>
              <a:t>contact completed</a:t>
            </a:r>
            <a:endParaRPr lang="en-US" sz="1200" dirty="0"/>
          </a:p>
        </p:txBody>
      </p:sp>
      <p:sp>
        <p:nvSpPr>
          <p:cNvPr id="4" name="Shape 2"/>
          <p:cNvSpPr/>
          <p:nvPr/>
        </p:nvSpPr>
        <p:spPr>
          <a:xfrm>
            <a:off x="2020824" y="1664208"/>
            <a:ext cx="118872" cy="0"/>
          </a:xfrm>
          <a:prstGeom prst="line">
            <a:avLst/>
          </a:prstGeom>
          <a:noFill/>
          <a:ln w="22225">
            <a:solidFill>
              <a:schemeClr val="accent4"/>
            </a:solidFill>
            <a:prstDash val="solid"/>
            <a:tailEnd type="triangle"/>
          </a:ln>
        </p:spPr>
      </p:sp>
      <p:sp>
        <p:nvSpPr>
          <p:cNvPr id="5" name="Text 3"/>
          <p:cNvSpPr txBox="1"/>
          <p:nvPr/>
        </p:nvSpPr>
        <p:spPr>
          <a:xfrm>
            <a:off x="2148840" y="1280160"/>
            <a:ext cx="1463040" cy="777240"/>
          </a:xfrm>
          <a:prstGeom prst="roundRect">
            <a:avLst>
              <a:gd name="adj" fmla="val 9412"/>
            </a:avLst>
          </a:prstGeom>
          <a:solidFill>
            <a:schemeClr val="bg2"/>
          </a:solidFill>
          <a:ln>
            <a:solidFill>
              <a:schemeClr val="accent5"/>
            </a:solidFill>
          </a:ln>
        </p:spPr>
        <p:txBody>
          <a:bodyPr wrap="square" lIns="508" tIns="508" rIns="508" bIns="508" rtlCol="0" anchor="ctr"/>
          <a:lstStyle/>
          <a:p>
            <a:pPr algn="ctr" indent="0" marL="0">
              <a:buNone/>
            </a:pPr>
            <a:r>
              <a:rPr lang="en-US" sz="1200" b="1" dirty="0">
                <a:solidFill>
                  <a:schemeClr val="tx2"/>
                </a:solidFill>
              </a:rPr>
              <a:t>2  Redact</a:t>
            </a:r>
            <a:endParaRPr lang="en-US" sz="1200" dirty="0"/>
          </a:p>
          <a:p>
            <a:pPr algn="ctr" indent="0" marL="0">
              <a:buNone/>
            </a:pPr>
            <a:r>
              <a:rPr lang="en-US" sz="1000" dirty="0">
                <a:solidFill>
                  <a:schemeClr val="tx2"/>
                </a:solidFill>
              </a:rPr>
              <a:t>SIN, card, phone, email</a:t>
            </a:r>
            <a:endParaRPr lang="en-US" sz="1200" dirty="0"/>
          </a:p>
        </p:txBody>
      </p:sp>
      <p:sp>
        <p:nvSpPr>
          <p:cNvPr id="6" name="Shape 4"/>
          <p:cNvSpPr/>
          <p:nvPr/>
        </p:nvSpPr>
        <p:spPr>
          <a:xfrm>
            <a:off x="3621024" y="1664208"/>
            <a:ext cx="118872" cy="0"/>
          </a:xfrm>
          <a:prstGeom prst="line">
            <a:avLst/>
          </a:prstGeom>
          <a:noFill/>
          <a:ln w="22225">
            <a:solidFill>
              <a:schemeClr val="accent4"/>
            </a:solidFill>
            <a:prstDash val="solid"/>
            <a:tailEnd type="triangle"/>
          </a:ln>
        </p:spPr>
      </p:sp>
      <p:sp>
        <p:nvSpPr>
          <p:cNvPr id="7" name="Text 5"/>
          <p:cNvSpPr txBox="1"/>
          <p:nvPr/>
        </p:nvSpPr>
        <p:spPr>
          <a:xfrm>
            <a:off x="3749040" y="1280160"/>
            <a:ext cx="1463040" cy="777240"/>
          </a:xfrm>
          <a:prstGeom prst="roundRect">
            <a:avLst>
              <a:gd name="adj" fmla="val 9412"/>
            </a:avLst>
          </a:prstGeom>
          <a:solidFill>
            <a:schemeClr val="accent2"/>
          </a:solidFill>
          <a:ln>
            <a:solidFill>
              <a:schemeClr val="accent5"/>
            </a:solidFill>
          </a:ln>
        </p:spPr>
        <p:txBody>
          <a:bodyPr wrap="square" lIns="508" tIns="508" rIns="508" bIns="508" rtlCol="0" anchor="ctr"/>
          <a:lstStyle/>
          <a:p>
            <a:pPr algn="ctr" indent="0" marL="0">
              <a:buNone/>
            </a:pPr>
            <a:r>
              <a:rPr lang="en-US" sz="1200" b="1" dirty="0">
                <a:solidFill>
                  <a:schemeClr val="tx2"/>
                </a:solidFill>
              </a:rPr>
              <a:t>3  LLM extract</a:t>
            </a:r>
            <a:endParaRPr lang="en-US" sz="1200" dirty="0"/>
          </a:p>
          <a:p>
            <a:pPr algn="ctr" indent="0" marL="0">
              <a:buNone/>
            </a:pPr>
            <a:r>
              <a:rPr lang="en-US" sz="1000" dirty="0">
                <a:solidFill>
                  <a:schemeClr val="tx2"/>
                </a:solidFill>
              </a:rPr>
              <a:t>fixed JSON schema</a:t>
            </a:r>
            <a:endParaRPr lang="en-US" sz="1200" dirty="0"/>
          </a:p>
        </p:txBody>
      </p:sp>
      <p:sp>
        <p:nvSpPr>
          <p:cNvPr id="8" name="Shape 6"/>
          <p:cNvSpPr/>
          <p:nvPr/>
        </p:nvSpPr>
        <p:spPr>
          <a:xfrm>
            <a:off x="5221224" y="1664208"/>
            <a:ext cx="118872" cy="0"/>
          </a:xfrm>
          <a:prstGeom prst="line">
            <a:avLst/>
          </a:prstGeom>
          <a:noFill/>
          <a:ln w="22225">
            <a:solidFill>
              <a:schemeClr val="accent4"/>
            </a:solidFill>
            <a:prstDash val="solid"/>
            <a:tailEnd type="triangle"/>
          </a:ln>
        </p:spPr>
      </p:sp>
      <p:sp>
        <p:nvSpPr>
          <p:cNvPr id="9" name="Text 7"/>
          <p:cNvSpPr txBox="1"/>
          <p:nvPr/>
        </p:nvSpPr>
        <p:spPr>
          <a:xfrm>
            <a:off x="5349240" y="1280160"/>
            <a:ext cx="1463040" cy="777240"/>
          </a:xfrm>
          <a:prstGeom prst="roundRect">
            <a:avLst>
              <a:gd name="adj" fmla="val 9412"/>
            </a:avLst>
          </a:prstGeom>
          <a:solidFill>
            <a:schemeClr val="bg2"/>
          </a:solidFill>
          <a:ln>
            <a:solidFill>
              <a:schemeClr val="accent5"/>
            </a:solidFill>
          </a:ln>
        </p:spPr>
        <p:txBody>
          <a:bodyPr wrap="square" lIns="508" tIns="508" rIns="508" bIns="508" rtlCol="0" anchor="ctr"/>
          <a:lstStyle/>
          <a:p>
            <a:pPr algn="ctr" indent="0" marL="0">
              <a:buNone/>
            </a:pPr>
            <a:r>
              <a:rPr lang="en-US" sz="1200" b="1" dirty="0">
                <a:solidFill>
                  <a:schemeClr val="tx2"/>
                </a:solidFill>
              </a:rPr>
              <a:t>4  Validate</a:t>
            </a:r>
            <a:endParaRPr lang="en-US" sz="1200" dirty="0"/>
          </a:p>
          <a:p>
            <a:pPr algn="ctr" indent="0" marL="0">
              <a:buNone/>
            </a:pPr>
            <a:r>
              <a:rPr lang="en-US" sz="1000" dirty="0">
                <a:solidFill>
                  <a:schemeClr val="tx2"/>
                </a:solidFill>
              </a:rPr>
              <a:t>evidence must be quoted</a:t>
            </a:r>
            <a:endParaRPr lang="en-US" sz="1200" dirty="0"/>
          </a:p>
        </p:txBody>
      </p:sp>
      <p:sp>
        <p:nvSpPr>
          <p:cNvPr id="10" name="Shape 8"/>
          <p:cNvSpPr/>
          <p:nvPr/>
        </p:nvSpPr>
        <p:spPr>
          <a:xfrm>
            <a:off x="6821424" y="1664208"/>
            <a:ext cx="118872" cy="0"/>
          </a:xfrm>
          <a:prstGeom prst="line">
            <a:avLst/>
          </a:prstGeom>
          <a:noFill/>
          <a:ln w="22225">
            <a:solidFill>
              <a:schemeClr val="accent4"/>
            </a:solidFill>
            <a:prstDash val="solid"/>
            <a:tailEnd type="triangle"/>
          </a:ln>
        </p:spPr>
      </p:sp>
      <p:sp>
        <p:nvSpPr>
          <p:cNvPr id="11" name="Text 9"/>
          <p:cNvSpPr txBox="1"/>
          <p:nvPr/>
        </p:nvSpPr>
        <p:spPr>
          <a:xfrm>
            <a:off x="6949440" y="1280160"/>
            <a:ext cx="1463040" cy="777240"/>
          </a:xfrm>
          <a:prstGeom prst="roundRect">
            <a:avLst>
              <a:gd name="adj" fmla="val 9412"/>
            </a:avLst>
          </a:prstGeom>
          <a:solidFill>
            <a:schemeClr val="bg2"/>
          </a:solidFill>
          <a:ln>
            <a:solidFill>
              <a:schemeClr val="accent5"/>
            </a:solidFill>
          </a:ln>
        </p:spPr>
        <p:txBody>
          <a:bodyPr wrap="square" lIns="508" tIns="508" rIns="508" bIns="508" rtlCol="0" anchor="ctr"/>
          <a:lstStyle/>
          <a:p>
            <a:pPr algn="ctr" indent="0" marL="0">
              <a:buNone/>
            </a:pPr>
            <a:r>
              <a:rPr lang="en-US" sz="1200" b="1" dirty="0">
                <a:solidFill>
                  <a:schemeClr val="tx2"/>
                </a:solidFill>
              </a:rPr>
              <a:t>5  Update</a:t>
            </a:r>
            <a:endParaRPr lang="en-US" sz="1200" dirty="0"/>
          </a:p>
          <a:p>
            <a:pPr algn="ctr" indent="0" marL="0">
              <a:buNone/>
            </a:pPr>
            <a:r>
              <a:rPr lang="en-US" sz="1000" dirty="0">
                <a:solidFill>
                  <a:schemeClr val="tx2"/>
                </a:solidFill>
              </a:rPr>
              <a:t>online feature store</a:t>
            </a:r>
            <a:endParaRPr lang="en-US" sz="1200" dirty="0"/>
          </a:p>
        </p:txBody>
      </p:sp>
      <p:sp>
        <p:nvSpPr>
          <p:cNvPr id="12" name="Shape 10"/>
          <p:cNvSpPr/>
          <p:nvPr/>
        </p:nvSpPr>
        <p:spPr>
          <a:xfrm>
            <a:off x="8421624" y="1664208"/>
            <a:ext cx="118872" cy="0"/>
          </a:xfrm>
          <a:prstGeom prst="line">
            <a:avLst/>
          </a:prstGeom>
          <a:noFill/>
          <a:ln w="22225">
            <a:solidFill>
              <a:schemeClr val="accent4"/>
            </a:solidFill>
            <a:prstDash val="solid"/>
            <a:tailEnd type="triangle"/>
          </a:ln>
        </p:spPr>
      </p:sp>
      <p:sp>
        <p:nvSpPr>
          <p:cNvPr id="13" name="Text 11"/>
          <p:cNvSpPr txBox="1"/>
          <p:nvPr/>
        </p:nvSpPr>
        <p:spPr>
          <a:xfrm>
            <a:off x="8549640" y="1280160"/>
            <a:ext cx="1463040" cy="777240"/>
          </a:xfrm>
          <a:prstGeom prst="roundRect">
            <a:avLst>
              <a:gd name="adj" fmla="val 9412"/>
            </a:avLst>
          </a:prstGeom>
          <a:solidFill>
            <a:schemeClr val="bg2"/>
          </a:solidFill>
          <a:ln>
            <a:solidFill>
              <a:schemeClr val="accent5"/>
            </a:solidFill>
          </a:ln>
        </p:spPr>
        <p:txBody>
          <a:bodyPr wrap="square" lIns="508" tIns="508" rIns="508" bIns="508" rtlCol="0" anchor="ctr"/>
          <a:lstStyle/>
          <a:p>
            <a:pPr algn="ctr" indent="0" marL="0">
              <a:buNone/>
            </a:pPr>
            <a:r>
              <a:rPr lang="en-US" sz="1200" b="1" dirty="0">
                <a:solidFill>
                  <a:schemeClr val="tx2"/>
                </a:solidFill>
              </a:rPr>
              <a:t>6  Re-score</a:t>
            </a:r>
            <a:endParaRPr lang="en-US" sz="1200" dirty="0"/>
          </a:p>
          <a:p>
            <a:pPr algn="ctr" indent="0" marL="0">
              <a:buNone/>
            </a:pPr>
            <a:r>
              <a:rPr lang="en-US" sz="1000" dirty="0">
                <a:solidFill>
                  <a:schemeClr val="tx2"/>
                </a:solidFill>
              </a:rPr>
              <a:t>model + scores + policy</a:t>
            </a:r>
            <a:endParaRPr lang="en-US" sz="1200" dirty="0"/>
          </a:p>
        </p:txBody>
      </p:sp>
      <p:sp>
        <p:nvSpPr>
          <p:cNvPr id="14" name="Shape 12"/>
          <p:cNvSpPr/>
          <p:nvPr/>
        </p:nvSpPr>
        <p:spPr>
          <a:xfrm>
            <a:off x="10021824" y="1664208"/>
            <a:ext cx="118872" cy="0"/>
          </a:xfrm>
          <a:prstGeom prst="line">
            <a:avLst/>
          </a:prstGeom>
          <a:noFill/>
          <a:ln w="22225">
            <a:solidFill>
              <a:schemeClr val="accent4"/>
            </a:solidFill>
            <a:prstDash val="solid"/>
            <a:tailEnd type="triangle"/>
          </a:ln>
        </p:spPr>
      </p:sp>
      <p:sp>
        <p:nvSpPr>
          <p:cNvPr id="15" name="Text 13"/>
          <p:cNvSpPr txBox="1"/>
          <p:nvPr/>
        </p:nvSpPr>
        <p:spPr>
          <a:xfrm>
            <a:off x="10149840" y="1280160"/>
            <a:ext cx="1463040" cy="777240"/>
          </a:xfrm>
          <a:prstGeom prst="roundRect">
            <a:avLst>
              <a:gd name="adj" fmla="val 9412"/>
            </a:avLst>
          </a:prstGeom>
          <a:solidFill>
            <a:schemeClr val="bg2"/>
          </a:solidFill>
          <a:ln>
            <a:solidFill>
              <a:schemeClr val="accent5"/>
            </a:solidFill>
          </a:ln>
        </p:spPr>
        <p:txBody>
          <a:bodyPr wrap="square" lIns="508" tIns="508" rIns="508" bIns="508" rtlCol="0" anchor="ctr"/>
          <a:lstStyle/>
          <a:p>
            <a:pPr algn="ctr" indent="0" marL="0">
              <a:buNone/>
            </a:pPr>
            <a:r>
              <a:rPr lang="en-US" sz="1200" b="1" dirty="0">
                <a:solidFill>
                  <a:schemeClr val="tx2"/>
                </a:solidFill>
              </a:rPr>
              <a:t>7  Audit + push</a:t>
            </a:r>
            <a:endParaRPr lang="en-US" sz="1200" dirty="0"/>
          </a:p>
          <a:p>
            <a:pPr algn="ctr" indent="0" marL="0">
              <a:buNone/>
            </a:pPr>
            <a:r>
              <a:rPr lang="en-US" sz="1000" dirty="0">
                <a:solidFill>
                  <a:schemeClr val="tx2"/>
                </a:solidFill>
              </a:rPr>
              <a:t>SSE to the agent UI</a:t>
            </a:r>
            <a:endParaRPr lang="en-US" sz="1200" dirty="0"/>
          </a:p>
        </p:txBody>
      </p:sp>
      <p:sp>
        <p:nvSpPr>
          <p:cNvPr id="16" name="Shape 14"/>
          <p:cNvSpPr/>
          <p:nvPr/>
        </p:nvSpPr>
        <p:spPr>
          <a:xfrm>
            <a:off x="548640" y="2377440"/>
            <a:ext cx="3246120" cy="2514600"/>
          </a:xfrm>
          <a:prstGeom prst="roundRect">
            <a:avLst>
              <a:gd name="adj" fmla="val 2909"/>
            </a:avLst>
          </a:prstGeom>
          <a:solidFill>
            <a:schemeClr val="bg1"/>
          </a:solidFill>
          <a:ln w="19050">
            <a:solidFill>
              <a:schemeClr val="accent4"/>
            </a:solidFill>
            <a:prstDash val="solid"/>
          </a:ln>
          <a:effectLst>
            <a:outerShdw sx="100000" sy="100000" kx="0" ky="0" algn="bl" rotWithShape="0" blurRad="101600" dist="25400" dir="5400000">
              <a:srgbClr val="000000">
                <a:alpha val="12000"/>
              </a:srgbClr>
            </a:outerShdw>
          </a:effectLst>
        </p:spPr>
      </p:sp>
      <p:sp>
        <p:nvSpPr>
          <p:cNvPr id="17" name="Text 15"/>
          <p:cNvSpPr txBox="1"/>
          <p:nvPr/>
        </p:nvSpPr>
        <p:spPr>
          <a:xfrm>
            <a:off x="731520" y="2487168"/>
            <a:ext cx="2926080" cy="320040"/>
          </a:xfrm>
          <a:prstGeom prst="rect">
            <a:avLst/>
          </a:prstGeom>
          <a:noFill/>
          <a:ln/>
        </p:spPr>
        <p:txBody>
          <a:bodyPr wrap="square" lIns="635" tIns="635" rIns="635" bIns="635" rtlCol="0" anchor="t"/>
          <a:lstStyle/>
          <a:p>
            <a:pPr indent="0" marL="0">
              <a:buNone/>
            </a:pPr>
            <a:r>
              <a:rPr lang="en-US" sz="1200" b="1" dirty="0">
                <a:solidFill>
                  <a:schemeClr val="accent4"/>
                </a:solidFill>
              </a:rPr>
              <a:t>Before  ·  batch run 06:10</a:t>
            </a:r>
            <a:endParaRPr lang="en-US" sz="1200" dirty="0"/>
          </a:p>
        </p:txBody>
      </p:sp>
      <p:sp>
        <p:nvSpPr>
          <p:cNvPr id="18" name="Text 16"/>
          <p:cNvSpPr txBox="1"/>
          <p:nvPr/>
        </p:nvSpPr>
        <p:spPr>
          <a:xfrm>
            <a:off x="731520" y="2880360"/>
            <a:ext cx="2926080" cy="256032"/>
          </a:xfrm>
          <a:prstGeom prst="rect">
            <a:avLst/>
          </a:prstGeom>
          <a:noFill/>
          <a:ln/>
        </p:spPr>
        <p:txBody>
          <a:bodyPr wrap="square" lIns="635" tIns="635" rIns="635" bIns="635" rtlCol="0" anchor="t"/>
          <a:lstStyle/>
          <a:p>
            <a:pPr indent="0" marL="0">
              <a:buNone/>
            </a:pPr>
            <a:r>
              <a:rPr lang="en-US" sz="1000" dirty="0">
                <a:solidFill>
                  <a:schemeClr val="accent4"/>
                </a:solidFill>
              </a:rPr>
              <a:t>Hardship</a:t>
            </a:r>
            <a:endParaRPr lang="en-US" sz="1000" dirty="0"/>
          </a:p>
        </p:txBody>
      </p:sp>
      <p:sp>
        <p:nvSpPr>
          <p:cNvPr id="19" name="Text 17"/>
          <p:cNvSpPr txBox="1"/>
          <p:nvPr/>
        </p:nvSpPr>
        <p:spPr>
          <a:xfrm>
            <a:off x="731520" y="3108960"/>
            <a:ext cx="2926080" cy="347472"/>
          </a:xfrm>
          <a:prstGeom prst="rect">
            <a:avLst/>
          </a:prstGeom>
          <a:noFill/>
          <a:ln/>
        </p:spPr>
        <p:txBody>
          <a:bodyPr wrap="square" lIns="635" tIns="635" rIns="635" bIns="635" rtlCol="0" anchor="t"/>
          <a:lstStyle/>
          <a:p>
            <a:pPr indent="0" marL="0">
              <a:buNone/>
            </a:pPr>
            <a:r>
              <a:rPr lang="en-US" sz="1400" b="1" dirty="0">
                <a:solidFill>
                  <a:schemeClr val="tx2"/>
                </a:solidFill>
              </a:rPr>
              <a:t>45  possible</a:t>
            </a:r>
            <a:endParaRPr lang="en-US" sz="1400" dirty="0"/>
          </a:p>
        </p:txBody>
      </p:sp>
      <p:sp>
        <p:nvSpPr>
          <p:cNvPr id="20" name="Text 18"/>
          <p:cNvSpPr txBox="1"/>
          <p:nvPr/>
        </p:nvSpPr>
        <p:spPr>
          <a:xfrm>
            <a:off x="731520" y="3502152"/>
            <a:ext cx="2926080" cy="256032"/>
          </a:xfrm>
          <a:prstGeom prst="rect">
            <a:avLst/>
          </a:prstGeom>
          <a:noFill/>
          <a:ln/>
        </p:spPr>
        <p:txBody>
          <a:bodyPr wrap="square" lIns="635" tIns="635" rIns="635" bIns="635" rtlCol="0" anchor="t"/>
          <a:lstStyle/>
          <a:p>
            <a:pPr indent="0" marL="0">
              <a:buNone/>
            </a:pPr>
            <a:r>
              <a:rPr lang="en-US" sz="1000" dirty="0">
                <a:solidFill>
                  <a:schemeClr val="accent4"/>
                </a:solidFill>
              </a:rPr>
              <a:t>Break risk</a:t>
            </a:r>
            <a:endParaRPr lang="en-US" sz="1000" dirty="0"/>
          </a:p>
        </p:txBody>
      </p:sp>
      <p:sp>
        <p:nvSpPr>
          <p:cNvPr id="21" name="Text 19"/>
          <p:cNvSpPr txBox="1"/>
          <p:nvPr/>
        </p:nvSpPr>
        <p:spPr>
          <a:xfrm>
            <a:off x="731520" y="3730752"/>
            <a:ext cx="2926080" cy="347472"/>
          </a:xfrm>
          <a:prstGeom prst="rect">
            <a:avLst/>
          </a:prstGeom>
          <a:noFill/>
          <a:ln/>
        </p:spPr>
        <p:txBody>
          <a:bodyPr wrap="square" lIns="635" tIns="635" rIns="635" bIns="635" rtlCol="0" anchor="t"/>
          <a:lstStyle/>
          <a:p>
            <a:pPr indent="0" marL="0">
              <a:buNone/>
            </a:pPr>
            <a:r>
              <a:rPr lang="en-US" sz="1400" b="1" dirty="0">
                <a:solidFill>
                  <a:schemeClr val="tx2"/>
                </a:solidFill>
              </a:rPr>
              <a:t>0.58</a:t>
            </a:r>
            <a:endParaRPr lang="en-US" sz="1400" dirty="0"/>
          </a:p>
        </p:txBody>
      </p:sp>
      <p:sp>
        <p:nvSpPr>
          <p:cNvPr id="22" name="Text 20"/>
          <p:cNvSpPr txBox="1"/>
          <p:nvPr/>
        </p:nvSpPr>
        <p:spPr>
          <a:xfrm>
            <a:off x="731520" y="4123944"/>
            <a:ext cx="2926080" cy="256032"/>
          </a:xfrm>
          <a:prstGeom prst="rect">
            <a:avLst/>
          </a:prstGeom>
          <a:noFill/>
          <a:ln/>
        </p:spPr>
        <p:txBody>
          <a:bodyPr wrap="square" lIns="635" tIns="635" rIns="635" bIns="635" rtlCol="0" anchor="t"/>
          <a:lstStyle/>
          <a:p>
            <a:pPr indent="0" marL="0">
              <a:buNone/>
            </a:pPr>
            <a:r>
              <a:rPr lang="en-US" sz="1000" dirty="0">
                <a:solidFill>
                  <a:schemeClr val="accent4"/>
                </a:solidFill>
              </a:rPr>
              <a:t>Action</a:t>
            </a:r>
            <a:endParaRPr lang="en-US" sz="1000" dirty="0"/>
          </a:p>
        </p:txBody>
      </p:sp>
      <p:sp>
        <p:nvSpPr>
          <p:cNvPr id="23" name="Text 21"/>
          <p:cNvSpPr txBox="1"/>
          <p:nvPr/>
        </p:nvSpPr>
        <p:spPr>
          <a:xfrm>
            <a:off x="731520" y="4352544"/>
            <a:ext cx="2926080" cy="347472"/>
          </a:xfrm>
          <a:prstGeom prst="rect">
            <a:avLst/>
          </a:prstGeom>
          <a:noFill/>
          <a:ln/>
        </p:spPr>
        <p:txBody>
          <a:bodyPr wrap="square" lIns="635" tIns="635" rIns="635" bIns="635" rtlCol="0" anchor="t"/>
          <a:lstStyle/>
          <a:p>
            <a:pPr indent="0" marL="0">
              <a:buNone/>
            </a:pPr>
            <a:r>
              <a:rPr lang="en-US" sz="1400" b="1" dirty="0">
                <a:solidFill>
                  <a:schemeClr val="tx2"/>
                </a:solidFill>
              </a:rPr>
              <a:t>Call after payday</a:t>
            </a:r>
            <a:endParaRPr lang="en-US" sz="1400" dirty="0"/>
          </a:p>
        </p:txBody>
      </p:sp>
      <p:sp>
        <p:nvSpPr>
          <p:cNvPr id="24" name="Shape 22"/>
          <p:cNvSpPr/>
          <p:nvPr/>
        </p:nvSpPr>
        <p:spPr>
          <a:xfrm>
            <a:off x="4160520" y="2377440"/>
            <a:ext cx="3246120" cy="2514600"/>
          </a:xfrm>
          <a:prstGeom prst="roundRect">
            <a:avLst>
              <a:gd name="adj" fmla="val 2909"/>
            </a:avLst>
          </a:prstGeom>
          <a:solidFill>
            <a:schemeClr val="bg1"/>
          </a:solidFill>
          <a:ln w="19050">
            <a:solidFill>
              <a:schemeClr val="accent3"/>
            </a:solidFill>
            <a:prstDash val="solid"/>
          </a:ln>
          <a:effectLst>
            <a:outerShdw sx="100000" sy="100000" kx="0" ky="0" algn="bl" rotWithShape="0" blurRad="101600" dist="25400" dir="5400000">
              <a:srgbClr val="000000">
                <a:alpha val="12000"/>
              </a:srgbClr>
            </a:outerShdw>
          </a:effectLst>
        </p:spPr>
      </p:sp>
      <p:sp>
        <p:nvSpPr>
          <p:cNvPr id="25" name="Text 23"/>
          <p:cNvSpPr txBox="1"/>
          <p:nvPr/>
        </p:nvSpPr>
        <p:spPr>
          <a:xfrm>
            <a:off x="4343400" y="2487168"/>
            <a:ext cx="2926080" cy="320040"/>
          </a:xfrm>
          <a:prstGeom prst="rect">
            <a:avLst/>
          </a:prstGeom>
          <a:noFill/>
          <a:ln/>
        </p:spPr>
        <p:txBody>
          <a:bodyPr wrap="square" lIns="635" tIns="635" rIns="635" bIns="635" rtlCol="0" anchor="t"/>
          <a:lstStyle/>
          <a:p>
            <a:pPr indent="0" marL="0">
              <a:buNone/>
            </a:pPr>
            <a:r>
              <a:rPr lang="en-US" sz="1200" b="1" dirty="0">
                <a:solidFill>
                  <a:schemeClr val="accent3"/>
                </a:solidFill>
              </a:rPr>
              <a:t>After  ·  call ends 14:12, decision 3 s later</a:t>
            </a:r>
            <a:endParaRPr lang="en-US" sz="1200" dirty="0"/>
          </a:p>
        </p:txBody>
      </p:sp>
      <p:sp>
        <p:nvSpPr>
          <p:cNvPr id="26" name="Text 24"/>
          <p:cNvSpPr txBox="1"/>
          <p:nvPr/>
        </p:nvSpPr>
        <p:spPr>
          <a:xfrm>
            <a:off x="4343400" y="2880360"/>
            <a:ext cx="2926080" cy="256032"/>
          </a:xfrm>
          <a:prstGeom prst="rect">
            <a:avLst/>
          </a:prstGeom>
          <a:noFill/>
          <a:ln/>
        </p:spPr>
        <p:txBody>
          <a:bodyPr wrap="square" lIns="635" tIns="635" rIns="635" bIns="635" rtlCol="0" anchor="t"/>
          <a:lstStyle/>
          <a:p>
            <a:pPr indent="0" marL="0">
              <a:buNone/>
            </a:pPr>
            <a:r>
              <a:rPr lang="en-US" sz="1000" dirty="0">
                <a:solidFill>
                  <a:schemeClr val="accent4"/>
                </a:solidFill>
              </a:rPr>
              <a:t>Hardship</a:t>
            </a:r>
            <a:endParaRPr lang="en-US" sz="1000" dirty="0"/>
          </a:p>
        </p:txBody>
      </p:sp>
      <p:sp>
        <p:nvSpPr>
          <p:cNvPr id="27" name="Text 25"/>
          <p:cNvSpPr txBox="1"/>
          <p:nvPr/>
        </p:nvSpPr>
        <p:spPr>
          <a:xfrm>
            <a:off x="4343400" y="3108960"/>
            <a:ext cx="2926080" cy="347472"/>
          </a:xfrm>
          <a:prstGeom prst="rect">
            <a:avLst/>
          </a:prstGeom>
          <a:noFill/>
          <a:ln/>
        </p:spPr>
        <p:txBody>
          <a:bodyPr wrap="square" lIns="635" tIns="635" rIns="635" bIns="635" rtlCol="0" anchor="t"/>
          <a:lstStyle/>
          <a:p>
            <a:pPr indent="0" marL="0">
              <a:buNone/>
            </a:pPr>
            <a:r>
              <a:rPr lang="en-US" sz="1400" b="1" dirty="0">
                <a:solidFill>
                  <a:schemeClr val="tx2"/>
                </a:solidFill>
              </a:rPr>
              <a:t>85  severe</a:t>
            </a:r>
            <a:endParaRPr lang="en-US" sz="1400" dirty="0"/>
          </a:p>
        </p:txBody>
      </p:sp>
      <p:sp>
        <p:nvSpPr>
          <p:cNvPr id="28" name="Text 26"/>
          <p:cNvSpPr txBox="1"/>
          <p:nvPr/>
        </p:nvSpPr>
        <p:spPr>
          <a:xfrm>
            <a:off x="4343400" y="3502152"/>
            <a:ext cx="2926080" cy="256032"/>
          </a:xfrm>
          <a:prstGeom prst="rect">
            <a:avLst/>
          </a:prstGeom>
          <a:noFill/>
          <a:ln/>
        </p:spPr>
        <p:txBody>
          <a:bodyPr wrap="square" lIns="635" tIns="635" rIns="635" bIns="635" rtlCol="0" anchor="t"/>
          <a:lstStyle/>
          <a:p>
            <a:pPr indent="0" marL="0">
              <a:buNone/>
            </a:pPr>
            <a:r>
              <a:rPr lang="en-US" sz="1000" dirty="0">
                <a:solidFill>
                  <a:schemeClr val="accent4"/>
                </a:solidFill>
              </a:rPr>
              <a:t>Break risk</a:t>
            </a:r>
            <a:endParaRPr lang="en-US" sz="1000" dirty="0"/>
          </a:p>
        </p:txBody>
      </p:sp>
      <p:sp>
        <p:nvSpPr>
          <p:cNvPr id="29" name="Text 27"/>
          <p:cNvSpPr txBox="1"/>
          <p:nvPr/>
        </p:nvSpPr>
        <p:spPr>
          <a:xfrm>
            <a:off x="4343400" y="3730752"/>
            <a:ext cx="2926080" cy="347472"/>
          </a:xfrm>
          <a:prstGeom prst="rect">
            <a:avLst/>
          </a:prstGeom>
          <a:noFill/>
          <a:ln/>
        </p:spPr>
        <p:txBody>
          <a:bodyPr wrap="square" lIns="635" tIns="635" rIns="635" bIns="635" rtlCol="0" anchor="t"/>
          <a:lstStyle/>
          <a:p>
            <a:pPr indent="0" marL="0">
              <a:buNone/>
            </a:pPr>
            <a:r>
              <a:rPr lang="en-US" sz="1400" b="1" dirty="0">
                <a:solidFill>
                  <a:schemeClr val="tx2"/>
                </a:solidFill>
              </a:rPr>
              <a:t>0.81</a:t>
            </a:r>
            <a:endParaRPr lang="en-US" sz="1400" dirty="0"/>
          </a:p>
        </p:txBody>
      </p:sp>
      <p:sp>
        <p:nvSpPr>
          <p:cNvPr id="30" name="Text 28"/>
          <p:cNvSpPr txBox="1"/>
          <p:nvPr/>
        </p:nvSpPr>
        <p:spPr>
          <a:xfrm>
            <a:off x="4343400" y="4123944"/>
            <a:ext cx="2926080" cy="256032"/>
          </a:xfrm>
          <a:prstGeom prst="rect">
            <a:avLst/>
          </a:prstGeom>
          <a:noFill/>
          <a:ln/>
        </p:spPr>
        <p:txBody>
          <a:bodyPr wrap="square" lIns="635" tIns="635" rIns="635" bIns="635" rtlCol="0" anchor="t"/>
          <a:lstStyle/>
          <a:p>
            <a:pPr indent="0" marL="0">
              <a:buNone/>
            </a:pPr>
            <a:r>
              <a:rPr lang="en-US" sz="1000" dirty="0">
                <a:solidFill>
                  <a:schemeClr val="accent4"/>
                </a:solidFill>
              </a:rPr>
              <a:t>Action</a:t>
            </a:r>
            <a:endParaRPr lang="en-US" sz="1000" dirty="0"/>
          </a:p>
        </p:txBody>
      </p:sp>
      <p:sp>
        <p:nvSpPr>
          <p:cNvPr id="31" name="Text 29"/>
          <p:cNvSpPr txBox="1"/>
          <p:nvPr/>
        </p:nvSpPr>
        <p:spPr>
          <a:xfrm>
            <a:off x="4343400" y="4352544"/>
            <a:ext cx="2926080" cy="347472"/>
          </a:xfrm>
          <a:prstGeom prst="rect">
            <a:avLst/>
          </a:prstGeom>
          <a:noFill/>
          <a:ln/>
        </p:spPr>
        <p:txBody>
          <a:bodyPr wrap="square" lIns="635" tIns="635" rIns="635" bIns="635" rtlCol="0" anchor="t"/>
          <a:lstStyle/>
          <a:p>
            <a:pPr indent="0" marL="0">
              <a:buNone/>
            </a:pPr>
            <a:r>
              <a:rPr lang="en-US" sz="1400" b="1" dirty="0">
                <a:solidFill>
                  <a:schemeClr val="tx2"/>
                </a:solidFill>
              </a:rPr>
              <a:t>Specialist referral, pressure blocked</a:t>
            </a:r>
            <a:endParaRPr lang="en-US" sz="1400" dirty="0"/>
          </a:p>
        </p:txBody>
      </p:sp>
      <p:sp>
        <p:nvSpPr>
          <p:cNvPr id="32" name="Shape 30"/>
          <p:cNvSpPr/>
          <p:nvPr/>
        </p:nvSpPr>
        <p:spPr>
          <a:xfrm>
            <a:off x="3822192" y="3611880"/>
            <a:ext cx="310896" cy="0"/>
          </a:xfrm>
          <a:prstGeom prst="line">
            <a:avLst/>
          </a:prstGeom>
          <a:noFill/>
          <a:ln w="22225">
            <a:solidFill>
              <a:schemeClr val="accent3"/>
            </a:solidFill>
            <a:prstDash val="solid"/>
            <a:tailEnd type="triangle"/>
          </a:ln>
        </p:spPr>
      </p:sp>
      <p:sp>
        <p:nvSpPr>
          <p:cNvPr id="33" name="Text 31"/>
          <p:cNvSpPr txBox="1"/>
          <p:nvPr/>
        </p:nvSpPr>
        <p:spPr>
          <a:xfrm>
            <a:off x="548640" y="4983480"/>
            <a:ext cx="6858000" cy="548640"/>
          </a:xfrm>
          <a:prstGeom prst="rect">
            <a:avLst/>
          </a:prstGeom>
          <a:noFill/>
          <a:ln/>
        </p:spPr>
        <p:txBody>
          <a:bodyPr wrap="square" lIns="635" tIns="635" rIns="635" bIns="635" rtlCol="0" anchor="t"/>
          <a:lstStyle/>
          <a:p>
            <a:pPr indent="0" marL="0">
              <a:buNone/>
            </a:pPr>
            <a:r>
              <a:rPr lang="en-US" sz="1100" i="1" dirty="0">
                <a:solidFill>
                  <a:schemeClr val="tx1"/>
                </a:solidFill>
              </a:rPr>
              <a:t>Evidence: "I still have no full shifts. I can do $800 by October 2nd."  Audit: features_updated, rescored, decision_changed, hardship_routed.</a:t>
            </a:r>
            <a:endParaRPr lang="en-US" sz="1100" dirty="0"/>
          </a:p>
        </p:txBody>
      </p:sp>
      <p:sp>
        <p:nvSpPr>
          <p:cNvPr id="34" name="Text 32"/>
          <p:cNvSpPr txBox="1"/>
          <p:nvPr/>
        </p:nvSpPr>
        <p:spPr>
          <a:xfrm>
            <a:off x="548640" y="5623560"/>
            <a:ext cx="6858000" cy="548640"/>
          </a:xfrm>
          <a:prstGeom prst="rect">
            <a:avLst/>
          </a:prstGeom>
          <a:noFill/>
          <a:ln/>
        </p:spPr>
        <p:txBody>
          <a:bodyPr wrap="square" lIns="635" tIns="635" rIns="635" bIns="635" rtlCol="0" anchor="t"/>
          <a:lstStyle/>
          <a:p>
            <a:pPr indent="0" marL="0">
              <a:buNone/>
            </a:pPr>
            <a:r>
              <a:rPr lang="en-US" sz="1100" dirty="0">
                <a:solidFill>
                  <a:schemeClr val="accent4"/>
                </a:solidFill>
              </a:rPr>
              <a:t>Production: Kafka / Event Hubs  →  stream processor  →  online feature store (Redis / Feast)  →  model endpoint. Same logic, different runtime.</a:t>
            </a:r>
            <a:endParaRPr lang="en-US" sz="1100" dirty="0"/>
          </a:p>
        </p:txBody>
      </p:sp>
      <p:sp>
        <p:nvSpPr>
          <p:cNvPr id="35" name="Shape 33"/>
          <p:cNvSpPr/>
          <p:nvPr/>
        </p:nvSpPr>
        <p:spPr>
          <a:xfrm>
            <a:off x="7726680" y="2377440"/>
            <a:ext cx="457200" cy="457200"/>
          </a:xfrm>
          <a:prstGeom prst="ellipse">
            <a:avLst/>
          </a:prstGeom>
          <a:solidFill>
            <a:schemeClr val="accent1"/>
          </a:solidFill>
          <a:ln w="12700">
            <a:solidFill>
              <a:schemeClr val="accent1"/>
            </a:solidFill>
            <a:prstDash val="solid"/>
          </a:ln>
        </p:spPr>
      </p:sp>
      <p:pic>
        <p:nvPicPr>
          <p:cNvPr id="36" name="Image 0" descr="preencoded.png">    </p:cNvPr>
          <p:cNvPicPr>
            <a:picLocks noChangeAspect="1"/>
          </p:cNvPicPr>
          <p:nvPr/>
        </p:nvPicPr>
        <p:blipFill>
          <a:blip r:embed="rId1"/>
          <a:stretch>
            <a:fillRect/>
          </a:stretch>
        </p:blipFill>
        <p:spPr>
          <a:xfrm>
            <a:off x="7827264" y="2478024"/>
            <a:ext cx="256032" cy="256032"/>
          </a:xfrm>
          <a:prstGeom prst="rect">
            <a:avLst/>
          </a:prstGeom>
        </p:spPr>
      </p:pic>
      <p:sp>
        <p:nvSpPr>
          <p:cNvPr id="37" name="Text 34"/>
          <p:cNvSpPr txBox="1"/>
          <p:nvPr/>
        </p:nvSpPr>
        <p:spPr>
          <a:xfrm>
            <a:off x="8321040" y="2331720"/>
            <a:ext cx="3337560" cy="320040"/>
          </a:xfrm>
          <a:prstGeom prst="rect">
            <a:avLst/>
          </a:prstGeom>
          <a:noFill/>
          <a:ln/>
        </p:spPr>
        <p:txBody>
          <a:bodyPr wrap="square" lIns="635" tIns="635" rIns="635" bIns="635" rtlCol="0" anchor="t"/>
          <a:lstStyle/>
          <a:p>
            <a:pPr indent="0" marL="0">
              <a:buNone/>
            </a:pPr>
            <a:r>
              <a:rPr lang="en-US" sz="1300" b="1" dirty="0">
                <a:solidFill>
                  <a:schemeClr val="tx2"/>
                </a:solidFill>
              </a:rPr>
              <a:t>The LLM never decides</a:t>
            </a:r>
            <a:endParaRPr lang="en-US" sz="1300" dirty="0"/>
          </a:p>
        </p:txBody>
      </p:sp>
      <p:sp>
        <p:nvSpPr>
          <p:cNvPr id="38" name="Text 35"/>
          <p:cNvSpPr txBox="1"/>
          <p:nvPr/>
        </p:nvSpPr>
        <p:spPr>
          <a:xfrm>
            <a:off x="8321040" y="2651760"/>
            <a:ext cx="3337560" cy="548640"/>
          </a:xfrm>
          <a:prstGeom prst="rect">
            <a:avLst/>
          </a:prstGeom>
          <a:noFill/>
          <a:ln/>
        </p:spPr>
        <p:txBody>
          <a:bodyPr wrap="square" lIns="635" tIns="635" rIns="635" bIns="635" rtlCol="0" anchor="t"/>
          <a:lstStyle/>
          <a:p>
            <a:pPr indent="0" marL="0">
              <a:buNone/>
            </a:pPr>
            <a:r>
              <a:rPr lang="en-US" sz="1100" dirty="0">
                <a:solidFill>
                  <a:schemeClr val="tx1"/>
                </a:solidFill>
              </a:rPr>
              <a:t>It turns text into structured facts. Code does the rest.</a:t>
            </a:r>
            <a:endParaRPr lang="en-US" sz="1100" dirty="0"/>
          </a:p>
        </p:txBody>
      </p:sp>
      <p:sp>
        <p:nvSpPr>
          <p:cNvPr id="39" name="Shape 36"/>
          <p:cNvSpPr/>
          <p:nvPr/>
        </p:nvSpPr>
        <p:spPr>
          <a:xfrm>
            <a:off x="7726680" y="3364992"/>
            <a:ext cx="457200" cy="457200"/>
          </a:xfrm>
          <a:prstGeom prst="ellipse">
            <a:avLst/>
          </a:prstGeom>
          <a:solidFill>
            <a:schemeClr val="accent1"/>
          </a:solidFill>
          <a:ln w="12700">
            <a:solidFill>
              <a:schemeClr val="accent1"/>
            </a:solidFill>
            <a:prstDash val="solid"/>
          </a:ln>
        </p:spPr>
      </p:sp>
      <p:pic>
        <p:nvPicPr>
          <p:cNvPr id="40" name="Image 1" descr="preencoded.png">    </p:cNvPr>
          <p:cNvPicPr>
            <a:picLocks noChangeAspect="1"/>
          </p:cNvPicPr>
          <p:nvPr/>
        </p:nvPicPr>
        <p:blipFill>
          <a:blip r:embed="rId2"/>
          <a:stretch>
            <a:fillRect/>
          </a:stretch>
        </p:blipFill>
        <p:spPr>
          <a:xfrm>
            <a:off x="7827264" y="3465576"/>
            <a:ext cx="256032" cy="256032"/>
          </a:xfrm>
          <a:prstGeom prst="rect">
            <a:avLst/>
          </a:prstGeom>
        </p:spPr>
      </p:pic>
      <p:sp>
        <p:nvSpPr>
          <p:cNvPr id="41" name="Text 37"/>
          <p:cNvSpPr txBox="1"/>
          <p:nvPr/>
        </p:nvSpPr>
        <p:spPr>
          <a:xfrm>
            <a:off x="8321040" y="3319272"/>
            <a:ext cx="3337560" cy="320040"/>
          </a:xfrm>
          <a:prstGeom prst="rect">
            <a:avLst/>
          </a:prstGeom>
          <a:noFill/>
          <a:ln/>
        </p:spPr>
        <p:txBody>
          <a:bodyPr wrap="square" lIns="635" tIns="635" rIns="635" bIns="635" rtlCol="0" anchor="t"/>
          <a:lstStyle/>
          <a:p>
            <a:pPr indent="0" marL="0">
              <a:buNone/>
            </a:pPr>
            <a:r>
              <a:rPr lang="en-US" sz="1300" b="1" dirty="0">
                <a:solidFill>
                  <a:schemeClr val="tx2"/>
                </a:solidFill>
              </a:rPr>
              <a:t>Evidence or it didn't happen</a:t>
            </a:r>
            <a:endParaRPr lang="en-US" sz="1300" dirty="0"/>
          </a:p>
        </p:txBody>
      </p:sp>
      <p:sp>
        <p:nvSpPr>
          <p:cNvPr id="42" name="Text 38"/>
          <p:cNvSpPr txBox="1"/>
          <p:nvPr/>
        </p:nvSpPr>
        <p:spPr>
          <a:xfrm>
            <a:off x="8321040" y="3639312"/>
            <a:ext cx="3337560" cy="548640"/>
          </a:xfrm>
          <a:prstGeom prst="rect">
            <a:avLst/>
          </a:prstGeom>
          <a:noFill/>
          <a:ln/>
        </p:spPr>
        <p:txBody>
          <a:bodyPr wrap="square" lIns="635" tIns="635" rIns="635" bIns="635" rtlCol="0" anchor="t"/>
          <a:lstStyle/>
          <a:p>
            <a:pPr indent="0" marL="0">
              <a:buNone/>
            </a:pPr>
            <a:r>
              <a:rPr lang="en-US" sz="1100" dirty="0">
                <a:solidFill>
                  <a:schemeClr val="tx1"/>
                </a:solidFill>
              </a:rPr>
              <a:t>A claim without a verbatim quote is dropped.</a:t>
            </a:r>
            <a:endParaRPr lang="en-US" sz="1100" dirty="0"/>
          </a:p>
        </p:txBody>
      </p:sp>
      <p:sp>
        <p:nvSpPr>
          <p:cNvPr id="43" name="Shape 39"/>
          <p:cNvSpPr/>
          <p:nvPr/>
        </p:nvSpPr>
        <p:spPr>
          <a:xfrm>
            <a:off x="7726680" y="4352544"/>
            <a:ext cx="457200" cy="457200"/>
          </a:xfrm>
          <a:prstGeom prst="ellipse">
            <a:avLst/>
          </a:prstGeom>
          <a:solidFill>
            <a:schemeClr val="accent1"/>
          </a:solidFill>
          <a:ln w="12700">
            <a:solidFill>
              <a:schemeClr val="accent1"/>
            </a:solidFill>
            <a:prstDash val="solid"/>
          </a:ln>
        </p:spPr>
      </p:sp>
      <p:pic>
        <p:nvPicPr>
          <p:cNvPr id="44" name="Image 2" descr="preencoded.png">    </p:cNvPr>
          <p:cNvPicPr>
            <a:picLocks noChangeAspect="1"/>
          </p:cNvPicPr>
          <p:nvPr/>
        </p:nvPicPr>
        <p:blipFill>
          <a:blip r:embed="rId3"/>
          <a:stretch>
            <a:fillRect/>
          </a:stretch>
        </p:blipFill>
        <p:spPr>
          <a:xfrm>
            <a:off x="7827264" y="4453128"/>
            <a:ext cx="256032" cy="256032"/>
          </a:xfrm>
          <a:prstGeom prst="rect">
            <a:avLst/>
          </a:prstGeom>
        </p:spPr>
      </p:pic>
      <p:sp>
        <p:nvSpPr>
          <p:cNvPr id="45" name="Text 40"/>
          <p:cNvSpPr txBox="1"/>
          <p:nvPr/>
        </p:nvSpPr>
        <p:spPr>
          <a:xfrm>
            <a:off x="8321040" y="4306824"/>
            <a:ext cx="3337560" cy="320040"/>
          </a:xfrm>
          <a:prstGeom prst="rect">
            <a:avLst/>
          </a:prstGeom>
          <a:noFill/>
          <a:ln/>
        </p:spPr>
        <p:txBody>
          <a:bodyPr wrap="square" lIns="635" tIns="635" rIns="635" bIns="635" rtlCol="0" anchor="t"/>
          <a:lstStyle/>
          <a:p>
            <a:pPr indent="0" marL="0">
              <a:buNone/>
            </a:pPr>
            <a:r>
              <a:rPr lang="en-US" sz="1300" b="1" dirty="0">
                <a:solidFill>
                  <a:schemeClr val="tx2"/>
                </a:solidFill>
              </a:rPr>
              <a:t>Safe failure</a:t>
            </a:r>
            <a:endParaRPr lang="en-US" sz="1300" dirty="0"/>
          </a:p>
        </p:txBody>
      </p:sp>
      <p:sp>
        <p:nvSpPr>
          <p:cNvPr id="46" name="Text 41"/>
          <p:cNvSpPr txBox="1"/>
          <p:nvPr/>
        </p:nvSpPr>
        <p:spPr>
          <a:xfrm>
            <a:off x="8321040" y="4626864"/>
            <a:ext cx="3337560" cy="548640"/>
          </a:xfrm>
          <a:prstGeom prst="rect">
            <a:avLst/>
          </a:prstGeom>
          <a:noFill/>
          <a:ln/>
        </p:spPr>
        <p:txBody>
          <a:bodyPr wrap="square" lIns="635" tIns="635" rIns="635" bIns="635" rtlCol="0" anchor="t"/>
          <a:lstStyle/>
          <a:p>
            <a:pPr indent="0" marL="0">
              <a:buNone/>
            </a:pPr>
            <a:r>
              <a:rPr lang="en-US" sz="1100" dirty="0">
                <a:solidFill>
                  <a:schemeClr val="tx1"/>
                </a:solidFill>
              </a:rPr>
              <a:t>On timeout or invalid output: keep the previous decision, flag for review.</a:t>
            </a:r>
            <a:endParaRPr lang="en-US" sz="1100" dirty="0"/>
          </a:p>
        </p:txBody>
      </p:sp>
      <p:sp>
        <p:nvSpPr>
          <p:cNvPr id="47" name="Shape 42"/>
          <p:cNvSpPr/>
          <p:nvPr/>
        </p:nvSpPr>
        <p:spPr>
          <a:xfrm>
            <a:off x="7726680" y="5340096"/>
            <a:ext cx="457200" cy="457200"/>
          </a:xfrm>
          <a:prstGeom prst="ellipse">
            <a:avLst/>
          </a:prstGeom>
          <a:solidFill>
            <a:schemeClr val="accent1"/>
          </a:solidFill>
          <a:ln w="12700">
            <a:solidFill>
              <a:schemeClr val="accent1"/>
            </a:solidFill>
            <a:prstDash val="solid"/>
          </a:ln>
        </p:spPr>
      </p:sp>
      <p:pic>
        <p:nvPicPr>
          <p:cNvPr id="48" name="Image 3" descr="preencoded.png">    </p:cNvPr>
          <p:cNvPicPr>
            <a:picLocks noChangeAspect="1"/>
          </p:cNvPicPr>
          <p:nvPr/>
        </p:nvPicPr>
        <p:blipFill>
          <a:blip r:embed="rId4"/>
          <a:stretch>
            <a:fillRect/>
          </a:stretch>
        </p:blipFill>
        <p:spPr>
          <a:xfrm>
            <a:off x="7827264" y="5440680"/>
            <a:ext cx="256032" cy="256032"/>
          </a:xfrm>
          <a:prstGeom prst="rect">
            <a:avLst/>
          </a:prstGeom>
        </p:spPr>
      </p:pic>
      <p:sp>
        <p:nvSpPr>
          <p:cNvPr id="49" name="Text 43"/>
          <p:cNvSpPr txBox="1"/>
          <p:nvPr/>
        </p:nvSpPr>
        <p:spPr>
          <a:xfrm>
            <a:off x="8321040" y="5294376"/>
            <a:ext cx="3337560" cy="320040"/>
          </a:xfrm>
          <a:prstGeom prst="rect">
            <a:avLst/>
          </a:prstGeom>
          <a:noFill/>
          <a:ln/>
        </p:spPr>
        <p:txBody>
          <a:bodyPr wrap="square" lIns="635" tIns="635" rIns="635" bIns="635" rtlCol="0" anchor="t"/>
          <a:lstStyle/>
          <a:p>
            <a:pPr indent="0" marL="0">
              <a:buNone/>
            </a:pPr>
            <a:r>
              <a:rPr lang="en-US" sz="1300" b="1" dirty="0">
                <a:solidFill>
                  <a:schemeClr val="tx2"/>
                </a:solidFill>
              </a:rPr>
              <a:t>Idempotent and fast</a:t>
            </a:r>
            <a:endParaRPr lang="en-US" sz="1300" dirty="0"/>
          </a:p>
        </p:txBody>
      </p:sp>
      <p:sp>
        <p:nvSpPr>
          <p:cNvPr id="50" name="Text 44"/>
          <p:cNvSpPr txBox="1"/>
          <p:nvPr/>
        </p:nvSpPr>
        <p:spPr>
          <a:xfrm>
            <a:off x="8321040" y="5614416"/>
            <a:ext cx="3337560" cy="548640"/>
          </a:xfrm>
          <a:prstGeom prst="rect">
            <a:avLst/>
          </a:prstGeom>
          <a:noFill/>
          <a:ln/>
        </p:spPr>
        <p:txBody>
          <a:bodyPr wrap="square" lIns="635" tIns="635" rIns="635" bIns="635" rtlCol="0" anchor="t"/>
          <a:lstStyle/>
          <a:p>
            <a:pPr indent="0" marL="0">
              <a:buNone/>
            </a:pPr>
            <a:r>
              <a:rPr lang="en-US" sz="1100" dirty="0">
                <a:solidFill>
                  <a:schemeClr val="tx1"/>
                </a:solidFill>
              </a:rPr>
              <a:t>Same event_id changes nothing. About 2-4 s end to end.</a:t>
            </a:r>
            <a:endParaRPr lang="en-US" sz="11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How the AI is powered: the LLM proposes, code decides</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7315200" cy="914400"/>
        </p:xfrm>
        <a:graphic>
          <a:graphicData uri="http://schemas.openxmlformats.org/drawingml/2006/table">
            <a:tbl>
              <a:tblPr/>
              <a:tblGrid>
                <a:gridCol w="2651760"/>
                <a:gridCol w="2377440"/>
                <a:gridCol w="2286000"/>
              </a:tblGrid>
              <a:tr h="566928">
                <a:tc>
                  <a:txBody>
                    <a:bodyPr/>
                    <a:lstStyle/>
                    <a:p>
                      <a:pPr indent="0" marL="0">
                        <a:buNone/>
                      </a:pPr>
                      <a:r>
                        <a:rPr lang="en-US" sz="1250" b="1" dirty="0">
                          <a:solidFill>
                            <a:schemeClr val="bg1"/>
                          </a:solidFill>
                        </a:rPr>
                        <a:t>Job</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Engine</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250" b="1" dirty="0">
                          <a:solidFill>
                            <a:schemeClr val="bg1"/>
                          </a:solidFill>
                        </a:rPr>
                        <a:t>Why</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r>
              <a:tr h="566928">
                <a:tc>
                  <a:txBody>
                    <a:bodyPr/>
                    <a:lstStyle/>
                    <a:p>
                      <a:pPr indent="0" marL="0">
                        <a:buNone/>
                      </a:pPr>
                      <a:r>
                        <a:rPr lang="en-US" sz="1250" dirty="0">
                          <a:solidFill>
                            <a:schemeClr val="tx1"/>
                          </a:solidFill>
                        </a:rPr>
                        <a:t>Extract features from notes and transcripts</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50" dirty="0">
                          <a:solidFill>
                            <a:schemeClr val="tx1"/>
                          </a:solidFill>
                        </a:rPr>
                        <a:t>Hosted LLM, fast tier, JSON schema output</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50" dirty="0">
                          <a:solidFill>
                            <a:schemeClr val="tx1"/>
                          </a:solidFill>
                        </a:rPr>
                        <a:t>High volume, cheap, structured</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566928">
                <a:tc>
                  <a:txBody>
                    <a:bodyPr/>
                    <a:lstStyle/>
                    <a:p>
                      <a:pPr indent="0" marL="0">
                        <a:buNone/>
                      </a:pPr>
                      <a:r>
                        <a:rPr lang="en-US" sz="1250" dirty="0">
                          <a:solidFill>
                            <a:schemeClr val="tx1"/>
                          </a:solidFill>
                        </a:rPr>
                        <a:t>Question → semantic query (Ask)</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50" dirty="0">
                          <a:solidFill>
                            <a:schemeClr val="tx1"/>
                          </a:solidFill>
                        </a:rPr>
                        <a:t>Stronger LLM</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50" dirty="0">
                          <a:solidFill>
                            <a:schemeClr val="tx1"/>
                          </a:solidFill>
                        </a:rPr>
                        <a:t>Reasoning over metrics and time windows</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566928">
                <a:tc>
                  <a:txBody>
                    <a:bodyPr/>
                    <a:lstStyle/>
                    <a:p>
                      <a:pPr indent="0" marL="0">
                        <a:buNone/>
                      </a:pPr>
                      <a:r>
                        <a:rPr lang="en-US" sz="1250" dirty="0">
                          <a:solidFill>
                            <a:schemeClr val="tx1"/>
                          </a:solidFill>
                        </a:rPr>
                        <a:t>RAG answers, summaries, override insights</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50" dirty="0">
                          <a:solidFill>
                            <a:schemeClr val="tx1"/>
                          </a:solidFill>
                        </a:rPr>
                        <a:t>Stronger LLM</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50" dirty="0">
                          <a:solidFill>
                            <a:schemeClr val="tx1"/>
                          </a:solidFill>
                        </a:rPr>
                        <a:t>Writing quality; numbers always from SQL</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566928">
                <a:tc>
                  <a:txBody>
                    <a:bodyPr/>
                    <a:lstStyle/>
                    <a:p>
                      <a:pPr indent="0" marL="0">
                        <a:buNone/>
                      </a:pPr>
                      <a:r>
                        <a:rPr lang="en-US" sz="1250" dirty="0">
                          <a:solidFill>
                            <a:schemeClr val="tx1"/>
                          </a:solidFill>
                        </a:rPr>
                        <a:t>Embeddings for RAG</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50" dirty="0">
                          <a:solidFill>
                            <a:schemeClr val="tx1"/>
                          </a:solidFill>
                        </a:rPr>
                        <a:t>Local sentence-transformers</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50" dirty="0">
                          <a:solidFill>
                            <a:schemeClr val="tx1"/>
                          </a:solidFill>
                        </a:rPr>
                        <a:t>Customer text never leaves for indexing</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566928">
                <a:tc>
                  <a:txBody>
                    <a:bodyPr/>
                    <a:lstStyle/>
                    <a:p>
                      <a:pPr indent="0" marL="0">
                        <a:buNone/>
                      </a:pPr>
                      <a:r>
                        <a:rPr lang="en-US" sz="1250" dirty="0">
                          <a:solidFill>
                            <a:schemeClr val="tx1"/>
                          </a:solidFill>
                        </a:rPr>
                        <a:t>Promise-break risk</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50" dirty="0">
                          <a:solidFill>
                            <a:schemeClr val="tx1"/>
                          </a:solidFill>
                        </a:rPr>
                        <a:t>LightGBM + calibration + SHAP</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50" dirty="0">
                          <a:solidFill>
                            <a:schemeClr val="tx1"/>
                          </a:solidFill>
                        </a:rPr>
                        <a:t>Accurate on tables, explainable, real probabilities</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566928">
                <a:tc>
                  <a:txBody>
                    <a:bodyPr/>
                    <a:lstStyle/>
                    <a:p>
                      <a:pPr indent="0" marL="0">
                        <a:buNone/>
                      </a:pPr>
                      <a:r>
                        <a:rPr lang="en-US" sz="1250" dirty="0">
                          <a:solidFill>
                            <a:schemeClr val="tx1"/>
                          </a:solidFill>
                        </a:rPr>
                        <a:t>Channel and timing</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50" dirty="0">
                          <a:solidFill>
                            <a:schemeClr val="tx1"/>
                          </a:solidFill>
                        </a:rPr>
                        <a:t>Response rates by channel and hour</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50" dirty="0">
                          <a:solidFill>
                            <a:schemeClr val="tx1"/>
                          </a:solidFill>
                        </a:rPr>
                        <a:t>Simple, transparent, enough signal</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566928">
                <a:tc>
                  <a:txBody>
                    <a:bodyPr/>
                    <a:lstStyle/>
                    <a:p>
                      <a:pPr indent="0" marL="0">
                        <a:buNone/>
                      </a:pPr>
                      <a:r>
                        <a:rPr lang="en-US" sz="1250" dirty="0">
                          <a:solidFill>
                            <a:schemeClr val="tx1"/>
                          </a:solidFill>
                        </a:rPr>
                        <a:t>Decision policy</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50" dirty="0">
                          <a:solidFill>
                            <a:schemeClr val="tx1"/>
                          </a:solidFill>
                        </a:rPr>
                        <a:t>Deterministic rules in versioned YAML</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250" dirty="0">
                          <a:solidFill>
                            <a:schemeClr val="tx1"/>
                          </a:solidFill>
                        </a:rPr>
                        <a:t>Auditable, owned by the business</a:t>
                      </a:r>
                      <a:endParaRPr lang="en-US" sz="12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bl>
          </a:graphicData>
        </a:graphic>
      </p:graphicFrame>
      <p:sp>
        <p:nvSpPr>
          <p:cNvPr id="4" name="Shape 1"/>
          <p:cNvSpPr/>
          <p:nvPr/>
        </p:nvSpPr>
        <p:spPr>
          <a:xfrm>
            <a:off x="8138160" y="1280160"/>
            <a:ext cx="3520440" cy="4663440"/>
          </a:xfrm>
          <a:prstGeom prst="roundRect">
            <a:avLst>
              <a:gd name="adj" fmla="val 2078"/>
            </a:avLst>
          </a:prstGeom>
          <a:solidFill>
            <a:schemeClr val="bg2"/>
          </a:solidFill>
          <a:ln w="12700">
            <a:solidFill>
              <a:schemeClr val="accent5"/>
            </a:solidFill>
            <a:prstDash val="solid"/>
          </a:ln>
          <a:effectLst>
            <a:outerShdw sx="100000" sy="100000" kx="0" ky="0" algn="bl" rotWithShape="0" blurRad="101600" dist="25400" dir="5400000">
              <a:srgbClr val="000000">
                <a:alpha val="12000"/>
              </a:srgbClr>
            </a:outerShdw>
          </a:effectLst>
        </p:spPr>
      </p:sp>
      <p:sp>
        <p:nvSpPr>
          <p:cNvPr id="5" name="Shape 2"/>
          <p:cNvSpPr/>
          <p:nvPr/>
        </p:nvSpPr>
        <p:spPr>
          <a:xfrm>
            <a:off x="8321040" y="1444752"/>
            <a:ext cx="457200" cy="457200"/>
          </a:xfrm>
          <a:prstGeom prst="ellipse">
            <a:avLst/>
          </a:prstGeom>
          <a:solidFill>
            <a:schemeClr val="accent1"/>
          </a:solidFill>
          <a:ln w="12700">
            <a:solidFill>
              <a:schemeClr val="accent1"/>
            </a:solidFill>
            <a:prstDash val="solid"/>
          </a:ln>
        </p:spPr>
      </p:sp>
      <p:pic>
        <p:nvPicPr>
          <p:cNvPr id="6" name="Image 0" descr="preencoded.png">    </p:cNvPr>
          <p:cNvPicPr>
            <a:picLocks noChangeAspect="1"/>
          </p:cNvPicPr>
          <p:nvPr/>
        </p:nvPicPr>
        <p:blipFill>
          <a:blip r:embed="rId1"/>
          <a:stretch>
            <a:fillRect/>
          </a:stretch>
        </p:blipFill>
        <p:spPr>
          <a:xfrm>
            <a:off x="8421624" y="1545336"/>
            <a:ext cx="256032" cy="256032"/>
          </a:xfrm>
          <a:prstGeom prst="rect">
            <a:avLst/>
          </a:prstGeom>
        </p:spPr>
      </p:pic>
      <p:sp>
        <p:nvSpPr>
          <p:cNvPr id="7" name="Text 3"/>
          <p:cNvSpPr txBox="1"/>
          <p:nvPr/>
        </p:nvSpPr>
        <p:spPr>
          <a:xfrm>
            <a:off x="8869680" y="1463040"/>
            <a:ext cx="2697480" cy="457200"/>
          </a:xfrm>
          <a:prstGeom prst="rect">
            <a:avLst/>
          </a:prstGeom>
          <a:noFill/>
          <a:ln/>
        </p:spPr>
        <p:txBody>
          <a:bodyPr wrap="square" lIns="635" tIns="635" rIns="635" bIns="635" rtlCol="0" anchor="t"/>
          <a:lstStyle/>
          <a:p>
            <a:pPr indent="0" marL="0">
              <a:buNone/>
            </a:pPr>
            <a:r>
              <a:rPr lang="en-US" sz="1400" b="1" dirty="0">
                <a:solidFill>
                  <a:schemeClr val="tx2"/>
                </a:solidFill>
              </a:rPr>
              <a:t>Controls around every model</a:t>
            </a:r>
            <a:endParaRPr lang="en-US" sz="1400" dirty="0"/>
          </a:p>
        </p:txBody>
      </p:sp>
      <p:sp>
        <p:nvSpPr>
          <p:cNvPr id="8" name="Text 4"/>
          <p:cNvSpPr txBox="1"/>
          <p:nvPr/>
        </p:nvSpPr>
        <p:spPr>
          <a:xfrm>
            <a:off x="8321040" y="2011680"/>
            <a:ext cx="3200400" cy="3840480"/>
          </a:xfrm>
          <a:prstGeom prst="rect">
            <a:avLst/>
          </a:prstGeom>
          <a:noFill/>
          <a:ln/>
        </p:spPr>
        <p:txBody>
          <a:bodyPr wrap="square" lIns="635" tIns="635" rIns="635" bIns="635" rtlCol="0" anchor="t"/>
          <a:lstStyle/>
          <a:p>
            <a:pPr marL="342900" indent="-342900">
              <a:spcAft>
                <a:spcPts val="800"/>
              </a:spcAft>
              <a:buSzPct val="100000"/>
              <a:buChar char="•"/>
            </a:pPr>
            <a:r>
              <a:rPr lang="en-US" sz="1250" dirty="0">
                <a:solidFill>
                  <a:schemeClr val="tx1"/>
                </a:solidFill>
              </a:rPr>
              <a:t>One client wrapper: swap providers, or run a local Llama / Qwen where data residency matters</a:t>
            </a:r>
            <a:endParaRPr lang="en-US" sz="1250" dirty="0"/>
          </a:p>
          <a:p>
            <a:pPr marL="342900" indent="-342900">
              <a:spcAft>
                <a:spcPts val="800"/>
              </a:spcAft>
              <a:buSzPct val="100000"/>
              <a:buChar char="•"/>
            </a:pPr>
            <a:r>
              <a:rPr lang="en-US" sz="1250" dirty="0">
                <a:solidFill>
                  <a:schemeClr val="tx1"/>
                </a:solidFill>
              </a:rPr>
              <a:t>PII redacted before every LLM call</a:t>
            </a:r>
            <a:endParaRPr lang="en-US" sz="1250" dirty="0"/>
          </a:p>
          <a:p>
            <a:pPr marL="342900" indent="-342900">
              <a:spcAft>
                <a:spcPts val="800"/>
              </a:spcAft>
              <a:buSzPct val="100000"/>
              <a:buChar char="•"/>
            </a:pPr>
            <a:r>
              <a:rPr lang="en-US" sz="1250" dirty="0">
                <a:solidFill>
                  <a:schemeClr val="tx1"/>
                </a:solidFill>
              </a:rPr>
              <a:t>Cache by text hash + prompt version; spend cap; limited retries</a:t>
            </a:r>
            <a:endParaRPr lang="en-US" sz="1250" dirty="0"/>
          </a:p>
          <a:p>
            <a:pPr marL="342900" indent="-342900">
              <a:spcAft>
                <a:spcPts val="800"/>
              </a:spcAft>
              <a:buSzPct val="100000"/>
              <a:buChar char="•"/>
            </a:pPr>
            <a:r>
              <a:rPr lang="en-US" sz="1250" dirty="0">
                <a:solidFill>
                  <a:schemeClr val="tx1"/>
                </a:solidFill>
              </a:rPr>
              <a:t>Every LLM feature has a prompt version and an evaluation against hand labels</a:t>
            </a:r>
            <a:endParaRPr lang="en-US" sz="1250" dirty="0"/>
          </a:p>
          <a:p>
            <a:pPr marL="342900" indent="-342900">
              <a:spcAft>
                <a:spcPts val="800"/>
              </a:spcAft>
              <a:buSzPct val="100000"/>
              <a:buChar char="•"/>
            </a:pPr>
            <a:r>
              <a:rPr lang="en-US" sz="1250" dirty="0">
                <a:solidFill>
                  <a:schemeClr val="tx1"/>
                </a:solidFill>
              </a:rPr>
              <a:t>Strictest target: recall on severe hardship</a:t>
            </a:r>
            <a:endParaRPr lang="en-US" sz="1250" dirty="0"/>
          </a:p>
          <a:p>
            <a:pPr marL="342900" indent="-342900">
              <a:spcAft>
                <a:spcPts val="800"/>
              </a:spcAft>
              <a:buSzPct val="100000"/>
              <a:buChar char="•"/>
            </a:pPr>
            <a:r>
              <a:rPr lang="en-US" sz="1250" dirty="0">
                <a:solidFill>
                  <a:schemeClr val="tx1"/>
                </a:solidFill>
              </a:rPr>
              <a:t>Model trained on a time split, calibrated, promoted only after human approval</a:t>
            </a:r>
            <a:endParaRPr lang="en-US" sz="125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Governance you can see in the product</a:t>
            </a:r>
            <a:endParaRPr lang="en-US" sz="3000" dirty="0"/>
          </a:p>
        </p:txBody>
      </p:sp>
      <p:sp>
        <p:nvSpPr>
          <p:cNvPr id="3" name="Shape 1"/>
          <p:cNvSpPr/>
          <p:nvPr/>
        </p:nvSpPr>
        <p:spPr>
          <a:xfrm>
            <a:off x="548640" y="1280160"/>
            <a:ext cx="3291840" cy="2377440"/>
          </a:xfrm>
          <a:prstGeom prst="roundRect">
            <a:avLst>
              <a:gd name="adj" fmla="val 3077"/>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Shape 2"/>
          <p:cNvSpPr/>
          <p:nvPr/>
        </p:nvSpPr>
        <p:spPr>
          <a:xfrm>
            <a:off x="731520" y="1463040"/>
            <a:ext cx="457200" cy="457200"/>
          </a:xfrm>
          <a:prstGeom prst="ellipse">
            <a:avLst/>
          </a:prstGeom>
          <a:solidFill>
            <a:schemeClr val="accent1"/>
          </a:solidFill>
          <a:ln w="12700">
            <a:solidFill>
              <a:schemeClr val="accent1"/>
            </a:solidFill>
            <a:prstDash val="solid"/>
          </a:ln>
        </p:spPr>
      </p:sp>
      <p:pic>
        <p:nvPicPr>
          <p:cNvPr id="5" name="Image 0" descr="preencoded.png">    </p:cNvPr>
          <p:cNvPicPr>
            <a:picLocks noChangeAspect="1"/>
          </p:cNvPicPr>
          <p:nvPr/>
        </p:nvPicPr>
        <p:blipFill>
          <a:blip r:embed="rId1"/>
          <a:stretch>
            <a:fillRect/>
          </a:stretch>
        </p:blipFill>
        <p:spPr>
          <a:xfrm>
            <a:off x="832104" y="1563624"/>
            <a:ext cx="256032" cy="256032"/>
          </a:xfrm>
          <a:prstGeom prst="rect">
            <a:avLst/>
          </a:prstGeom>
        </p:spPr>
      </p:pic>
      <p:sp>
        <p:nvSpPr>
          <p:cNvPr id="6" name="Text 3"/>
          <p:cNvSpPr txBox="1"/>
          <p:nvPr/>
        </p:nvSpPr>
        <p:spPr>
          <a:xfrm>
            <a:off x="1280160" y="1499616"/>
            <a:ext cx="2468880" cy="365760"/>
          </a:xfrm>
          <a:prstGeom prst="rect">
            <a:avLst/>
          </a:prstGeom>
          <a:noFill/>
          <a:ln/>
        </p:spPr>
        <p:txBody>
          <a:bodyPr wrap="square" lIns="635" tIns="635" rIns="635" bIns="635" rtlCol="0" anchor="t"/>
          <a:lstStyle/>
          <a:p>
            <a:pPr indent="0" marL="0">
              <a:buNone/>
            </a:pPr>
            <a:r>
              <a:rPr lang="en-US" sz="1400" b="1" dirty="0">
                <a:solidFill>
                  <a:schemeClr val="tx2"/>
                </a:solidFill>
              </a:rPr>
              <a:t>Data (Layer 1)</a:t>
            </a:r>
            <a:endParaRPr lang="en-US" sz="1400" dirty="0"/>
          </a:p>
        </p:txBody>
      </p:sp>
      <p:sp>
        <p:nvSpPr>
          <p:cNvPr id="7" name="Text 4"/>
          <p:cNvSpPr txBox="1"/>
          <p:nvPr/>
        </p:nvSpPr>
        <p:spPr>
          <a:xfrm>
            <a:off x="731520" y="2057400"/>
            <a:ext cx="2971800" cy="1508760"/>
          </a:xfrm>
          <a:prstGeom prst="rect">
            <a:avLst/>
          </a:prstGeom>
          <a:noFill/>
          <a:ln/>
        </p:spPr>
        <p:txBody>
          <a:bodyPr wrap="square" lIns="635" tIns="635" rIns="635" bIns="635" rtlCol="0" anchor="t"/>
          <a:lstStyle/>
          <a:p>
            <a:pPr marL="342900" indent="-342900">
              <a:spcAft>
                <a:spcPts val="600"/>
              </a:spcAft>
              <a:buSzPct val="100000"/>
              <a:buChar char="•"/>
            </a:pPr>
            <a:r>
              <a:rPr lang="en-US" sz="1250" dirty="0">
                <a:solidFill>
                  <a:schemeClr val="tx1"/>
                </a:solidFill>
              </a:rPr>
              <a:t>Published data contract</a:t>
            </a:r>
            <a:endParaRPr lang="en-US" sz="1250" dirty="0"/>
          </a:p>
          <a:p>
            <a:pPr marL="342900" indent="-342900">
              <a:spcAft>
                <a:spcPts val="600"/>
              </a:spcAft>
              <a:buSzPct val="100000"/>
              <a:buChar char="•"/>
            </a:pPr>
            <a:r>
              <a:rPr lang="en-US" sz="1250" dirty="0">
                <a:solidFill>
                  <a:schemeClr val="tx1"/>
                </a:solidFill>
              </a:rPr>
              <a:t>9 quality rules, drift check</a:t>
            </a:r>
            <a:endParaRPr lang="en-US" sz="1250" dirty="0"/>
          </a:p>
          <a:p>
            <a:pPr marL="342900" indent="-342900">
              <a:spcAft>
                <a:spcPts val="600"/>
              </a:spcAft>
              <a:buSzPct val="100000"/>
              <a:buChar char="•"/>
            </a:pPr>
            <a:r>
              <a:rPr lang="en-US" sz="1250" dirty="0">
                <a:solidFill>
                  <a:schemeClr val="tx1"/>
                </a:solidFill>
              </a:rPr>
              <a:t>PII class per column, lineage</a:t>
            </a:r>
            <a:endParaRPr lang="en-US" sz="1250" dirty="0"/>
          </a:p>
          <a:p>
            <a:pPr marL="342900" indent="-342900">
              <a:spcAft>
                <a:spcPts val="600"/>
              </a:spcAft>
              <a:buSzPct val="100000"/>
              <a:buChar char="•"/>
            </a:pPr>
            <a:r>
              <a:rPr lang="en-US" sz="1250" dirty="0">
                <a:solidFill>
                  <a:schemeClr val="tx1"/>
                </a:solidFill>
              </a:rPr>
              <a:t>Trust score per customer</a:t>
            </a:r>
            <a:endParaRPr lang="en-US" sz="1250" dirty="0"/>
          </a:p>
        </p:txBody>
      </p:sp>
      <p:sp>
        <p:nvSpPr>
          <p:cNvPr id="8" name="Shape 5"/>
          <p:cNvSpPr/>
          <p:nvPr/>
        </p:nvSpPr>
        <p:spPr>
          <a:xfrm>
            <a:off x="3977640" y="1280160"/>
            <a:ext cx="3291840" cy="2377440"/>
          </a:xfrm>
          <a:prstGeom prst="roundRect">
            <a:avLst>
              <a:gd name="adj" fmla="val 3077"/>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9" name="Shape 6"/>
          <p:cNvSpPr/>
          <p:nvPr/>
        </p:nvSpPr>
        <p:spPr>
          <a:xfrm>
            <a:off x="4160520" y="1463040"/>
            <a:ext cx="457200" cy="457200"/>
          </a:xfrm>
          <a:prstGeom prst="ellipse">
            <a:avLst/>
          </a:prstGeom>
          <a:solidFill>
            <a:schemeClr val="accent1"/>
          </a:solidFill>
          <a:ln w="12700">
            <a:solidFill>
              <a:schemeClr val="accent1"/>
            </a:solidFill>
            <a:prstDash val="solid"/>
          </a:ln>
        </p:spPr>
      </p:sp>
      <p:pic>
        <p:nvPicPr>
          <p:cNvPr id="10" name="Image 1" descr="preencoded.png">    </p:cNvPr>
          <p:cNvPicPr>
            <a:picLocks noChangeAspect="1"/>
          </p:cNvPicPr>
          <p:nvPr/>
        </p:nvPicPr>
        <p:blipFill>
          <a:blip r:embed="rId2"/>
          <a:stretch>
            <a:fillRect/>
          </a:stretch>
        </p:blipFill>
        <p:spPr>
          <a:xfrm>
            <a:off x="4261104" y="1563624"/>
            <a:ext cx="256032" cy="256032"/>
          </a:xfrm>
          <a:prstGeom prst="rect">
            <a:avLst/>
          </a:prstGeom>
        </p:spPr>
      </p:pic>
      <p:sp>
        <p:nvSpPr>
          <p:cNvPr id="11" name="Text 7"/>
          <p:cNvSpPr txBox="1"/>
          <p:nvPr/>
        </p:nvSpPr>
        <p:spPr>
          <a:xfrm>
            <a:off x="4709160" y="1499616"/>
            <a:ext cx="2468880" cy="365760"/>
          </a:xfrm>
          <a:prstGeom prst="rect">
            <a:avLst/>
          </a:prstGeom>
          <a:noFill/>
          <a:ln/>
        </p:spPr>
        <p:txBody>
          <a:bodyPr wrap="square" lIns="635" tIns="635" rIns="635" bIns="635" rtlCol="0" anchor="t"/>
          <a:lstStyle/>
          <a:p>
            <a:pPr indent="0" marL="0">
              <a:buNone/>
            </a:pPr>
            <a:r>
              <a:rPr lang="en-US" sz="1400" b="1" dirty="0">
                <a:solidFill>
                  <a:schemeClr val="tx2"/>
                </a:solidFill>
              </a:rPr>
              <a:t>Ask (Layer 2)</a:t>
            </a:r>
            <a:endParaRPr lang="en-US" sz="1400" dirty="0"/>
          </a:p>
        </p:txBody>
      </p:sp>
      <p:sp>
        <p:nvSpPr>
          <p:cNvPr id="12" name="Text 8"/>
          <p:cNvSpPr txBox="1"/>
          <p:nvPr/>
        </p:nvSpPr>
        <p:spPr>
          <a:xfrm>
            <a:off x="4160520" y="2057400"/>
            <a:ext cx="2971800" cy="1508760"/>
          </a:xfrm>
          <a:prstGeom prst="rect">
            <a:avLst/>
          </a:prstGeom>
          <a:noFill/>
          <a:ln/>
        </p:spPr>
        <p:txBody>
          <a:bodyPr wrap="square" lIns="635" tIns="635" rIns="635" bIns="635" rtlCol="0" anchor="t"/>
          <a:lstStyle/>
          <a:p>
            <a:pPr marL="342900" indent="-342900">
              <a:spcAft>
                <a:spcPts val="600"/>
              </a:spcAft>
              <a:buSzPct val="100000"/>
              <a:buChar char="•"/>
            </a:pPr>
            <a:r>
              <a:rPr lang="en-US" sz="1250" dirty="0">
                <a:solidFill>
                  <a:schemeClr val="tx1"/>
                </a:solidFill>
              </a:rPr>
              <a:t>SELECT-only, allow-list, LIMIT</a:t>
            </a:r>
            <a:endParaRPr lang="en-US" sz="1250" dirty="0"/>
          </a:p>
          <a:p>
            <a:pPr marL="342900" indent="-342900">
              <a:spcAft>
                <a:spcPts val="600"/>
              </a:spcAft>
              <a:buSzPct val="100000"/>
              <a:buChar char="•"/>
            </a:pPr>
            <a:r>
              <a:rPr lang="en-US" sz="1250" dirty="0">
                <a:solidFill>
                  <a:schemeClr val="tx1"/>
                </a:solidFill>
              </a:rPr>
              <a:t>PII and protected columns blocked</a:t>
            </a:r>
            <a:endParaRPr lang="en-US" sz="1250" dirty="0"/>
          </a:p>
          <a:p>
            <a:pPr marL="342900" indent="-342900">
              <a:spcAft>
                <a:spcPts val="600"/>
              </a:spcAft>
              <a:buSzPct val="100000"/>
              <a:buChar char="•"/>
            </a:pPr>
            <a:r>
              <a:rPr lang="en-US" sz="1250" dirty="0">
                <a:solidFill>
                  <a:schemeClr val="tx1"/>
                </a:solidFill>
              </a:rPr>
              <a:t>SQL and sources on every answer</a:t>
            </a:r>
            <a:endParaRPr lang="en-US" sz="1250" dirty="0"/>
          </a:p>
          <a:p>
            <a:pPr marL="342900" indent="-342900">
              <a:spcAft>
                <a:spcPts val="600"/>
              </a:spcAft>
              <a:buSzPct val="100000"/>
              <a:buChar char="•"/>
            </a:pPr>
            <a:r>
              <a:rPr lang="en-US" sz="1250" dirty="0">
                <a:solidFill>
                  <a:schemeClr val="tx1"/>
                </a:solidFill>
              </a:rPr>
              <a:t>Refusals with reasons</a:t>
            </a:r>
            <a:endParaRPr lang="en-US" sz="1250" dirty="0"/>
          </a:p>
        </p:txBody>
      </p:sp>
      <p:sp>
        <p:nvSpPr>
          <p:cNvPr id="13" name="Shape 9"/>
          <p:cNvSpPr/>
          <p:nvPr/>
        </p:nvSpPr>
        <p:spPr>
          <a:xfrm>
            <a:off x="548640" y="3794760"/>
            <a:ext cx="3291840" cy="2377440"/>
          </a:xfrm>
          <a:prstGeom prst="roundRect">
            <a:avLst>
              <a:gd name="adj" fmla="val 3077"/>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4" name="Shape 10"/>
          <p:cNvSpPr/>
          <p:nvPr/>
        </p:nvSpPr>
        <p:spPr>
          <a:xfrm>
            <a:off x="731520" y="3977640"/>
            <a:ext cx="457200" cy="457200"/>
          </a:xfrm>
          <a:prstGeom prst="ellipse">
            <a:avLst/>
          </a:prstGeom>
          <a:solidFill>
            <a:schemeClr val="accent1"/>
          </a:solidFill>
          <a:ln w="12700">
            <a:solidFill>
              <a:schemeClr val="accent1"/>
            </a:solidFill>
            <a:prstDash val="solid"/>
          </a:ln>
        </p:spPr>
      </p:sp>
      <p:pic>
        <p:nvPicPr>
          <p:cNvPr id="15" name="Image 2" descr="preencoded.png">    </p:cNvPr>
          <p:cNvPicPr>
            <a:picLocks noChangeAspect="1"/>
          </p:cNvPicPr>
          <p:nvPr/>
        </p:nvPicPr>
        <p:blipFill>
          <a:blip r:embed="rId3"/>
          <a:stretch>
            <a:fillRect/>
          </a:stretch>
        </p:blipFill>
        <p:spPr>
          <a:xfrm>
            <a:off x="832104" y="4078224"/>
            <a:ext cx="256032" cy="256032"/>
          </a:xfrm>
          <a:prstGeom prst="rect">
            <a:avLst/>
          </a:prstGeom>
        </p:spPr>
      </p:pic>
      <p:sp>
        <p:nvSpPr>
          <p:cNvPr id="16" name="Text 11"/>
          <p:cNvSpPr txBox="1"/>
          <p:nvPr/>
        </p:nvSpPr>
        <p:spPr>
          <a:xfrm>
            <a:off x="1280160" y="4014216"/>
            <a:ext cx="2468880" cy="365760"/>
          </a:xfrm>
          <a:prstGeom prst="rect">
            <a:avLst/>
          </a:prstGeom>
          <a:noFill/>
          <a:ln/>
        </p:spPr>
        <p:txBody>
          <a:bodyPr wrap="square" lIns="635" tIns="635" rIns="635" bIns="635" rtlCol="0" anchor="t"/>
          <a:lstStyle/>
          <a:p>
            <a:pPr indent="0" marL="0">
              <a:buNone/>
            </a:pPr>
            <a:r>
              <a:rPr lang="en-US" sz="1400" b="1" dirty="0">
                <a:solidFill>
                  <a:schemeClr val="tx2"/>
                </a:solidFill>
              </a:rPr>
              <a:t>Decisions (Layer 3)</a:t>
            </a:r>
            <a:endParaRPr lang="en-US" sz="1400" dirty="0"/>
          </a:p>
        </p:txBody>
      </p:sp>
      <p:sp>
        <p:nvSpPr>
          <p:cNvPr id="17" name="Text 12"/>
          <p:cNvSpPr txBox="1"/>
          <p:nvPr/>
        </p:nvSpPr>
        <p:spPr>
          <a:xfrm>
            <a:off x="731520" y="4572000"/>
            <a:ext cx="2971800" cy="1508760"/>
          </a:xfrm>
          <a:prstGeom prst="rect">
            <a:avLst/>
          </a:prstGeom>
          <a:noFill/>
          <a:ln/>
        </p:spPr>
        <p:txBody>
          <a:bodyPr wrap="square" lIns="635" tIns="635" rIns="635" bIns="635" rtlCol="0" anchor="t"/>
          <a:lstStyle/>
          <a:p>
            <a:pPr marL="342900" indent="-342900">
              <a:spcAft>
                <a:spcPts val="600"/>
              </a:spcAft>
              <a:buSzPct val="100000"/>
              <a:buChar char="•"/>
            </a:pPr>
            <a:r>
              <a:rPr lang="en-US" sz="1250" dirty="0">
                <a:solidFill>
                  <a:schemeClr val="tx1"/>
                </a:solidFill>
              </a:rPr>
              <a:t>No protected attributes, proven by a test</a:t>
            </a:r>
            <a:endParaRPr lang="en-US" sz="1250" dirty="0"/>
          </a:p>
          <a:p>
            <a:pPr marL="342900" indent="-342900">
              <a:spcAft>
                <a:spcPts val="600"/>
              </a:spcAft>
              <a:buSzPct val="100000"/>
              <a:buChar char="•"/>
            </a:pPr>
            <a:r>
              <a:rPr lang="en-US" sz="1250" dirty="0">
                <a:solidFill>
                  <a:schemeClr val="tx1"/>
                </a:solidFill>
              </a:rPr>
              <a:t>Hardship circuit breaker enforced in the API</a:t>
            </a:r>
            <a:endParaRPr lang="en-US" sz="1250" dirty="0"/>
          </a:p>
          <a:p>
            <a:pPr marL="342900" indent="-342900">
              <a:spcAft>
                <a:spcPts val="600"/>
              </a:spcAft>
              <a:buSzPct val="100000"/>
              <a:buChar char="•"/>
            </a:pPr>
            <a:r>
              <a:rPr lang="en-US" sz="1250" dirty="0">
                <a:solidFill>
                  <a:schemeClr val="tx1"/>
                </a:solidFill>
              </a:rPr>
              <a:t>Consent and contact hours respected</a:t>
            </a:r>
            <a:endParaRPr lang="en-US" sz="1250" dirty="0"/>
          </a:p>
          <a:p>
            <a:pPr marL="342900" indent="-342900">
              <a:spcAft>
                <a:spcPts val="600"/>
              </a:spcAft>
              <a:buSzPct val="100000"/>
              <a:buChar char="•"/>
            </a:pPr>
            <a:r>
              <a:rPr lang="en-US" sz="1250" dirty="0">
                <a:solidFill>
                  <a:schemeClr val="tx1"/>
                </a:solidFill>
              </a:rPr>
              <a:t>Reasons + counterfactual per decision</a:t>
            </a:r>
            <a:endParaRPr lang="en-US" sz="1250" dirty="0"/>
          </a:p>
        </p:txBody>
      </p:sp>
      <p:sp>
        <p:nvSpPr>
          <p:cNvPr id="18" name="Shape 13"/>
          <p:cNvSpPr/>
          <p:nvPr/>
        </p:nvSpPr>
        <p:spPr>
          <a:xfrm>
            <a:off x="3977640" y="3794760"/>
            <a:ext cx="3291840" cy="2377440"/>
          </a:xfrm>
          <a:prstGeom prst="roundRect">
            <a:avLst>
              <a:gd name="adj" fmla="val 3077"/>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9" name="Shape 14"/>
          <p:cNvSpPr/>
          <p:nvPr/>
        </p:nvSpPr>
        <p:spPr>
          <a:xfrm>
            <a:off x="4160520" y="3977640"/>
            <a:ext cx="457200" cy="457200"/>
          </a:xfrm>
          <a:prstGeom prst="ellipse">
            <a:avLst/>
          </a:prstGeom>
          <a:solidFill>
            <a:schemeClr val="accent1"/>
          </a:solidFill>
          <a:ln w="12700">
            <a:solidFill>
              <a:schemeClr val="accent1"/>
            </a:solidFill>
            <a:prstDash val="solid"/>
          </a:ln>
        </p:spPr>
      </p:sp>
      <p:pic>
        <p:nvPicPr>
          <p:cNvPr id="20" name="Image 3" descr="preencoded.png">    </p:cNvPr>
          <p:cNvPicPr>
            <a:picLocks noChangeAspect="1"/>
          </p:cNvPicPr>
          <p:nvPr/>
        </p:nvPicPr>
        <p:blipFill>
          <a:blip r:embed="rId4"/>
          <a:stretch>
            <a:fillRect/>
          </a:stretch>
        </p:blipFill>
        <p:spPr>
          <a:xfrm>
            <a:off x="4261104" y="4078224"/>
            <a:ext cx="256032" cy="256032"/>
          </a:xfrm>
          <a:prstGeom prst="rect">
            <a:avLst/>
          </a:prstGeom>
        </p:spPr>
      </p:pic>
      <p:sp>
        <p:nvSpPr>
          <p:cNvPr id="21" name="Text 15"/>
          <p:cNvSpPr txBox="1"/>
          <p:nvPr/>
        </p:nvSpPr>
        <p:spPr>
          <a:xfrm>
            <a:off x="4709160" y="4014216"/>
            <a:ext cx="2468880" cy="365760"/>
          </a:xfrm>
          <a:prstGeom prst="rect">
            <a:avLst/>
          </a:prstGeom>
          <a:noFill/>
          <a:ln/>
        </p:spPr>
        <p:txBody>
          <a:bodyPr wrap="square" lIns="635" tIns="635" rIns="635" bIns="635" rtlCol="0" anchor="t"/>
          <a:lstStyle/>
          <a:p>
            <a:pPr indent="0" marL="0">
              <a:buNone/>
            </a:pPr>
            <a:r>
              <a:rPr lang="en-US" sz="1400" b="1" dirty="0">
                <a:solidFill>
                  <a:schemeClr val="tx2"/>
                </a:solidFill>
              </a:rPr>
              <a:t>Human oversight</a:t>
            </a:r>
            <a:endParaRPr lang="en-US" sz="1400" dirty="0"/>
          </a:p>
        </p:txBody>
      </p:sp>
      <p:sp>
        <p:nvSpPr>
          <p:cNvPr id="22" name="Text 16"/>
          <p:cNvSpPr txBox="1"/>
          <p:nvPr/>
        </p:nvSpPr>
        <p:spPr>
          <a:xfrm>
            <a:off x="4160520" y="4572000"/>
            <a:ext cx="2971800" cy="1508760"/>
          </a:xfrm>
          <a:prstGeom prst="rect">
            <a:avLst/>
          </a:prstGeom>
          <a:noFill/>
          <a:ln/>
        </p:spPr>
        <p:txBody>
          <a:bodyPr wrap="square" lIns="635" tIns="635" rIns="635" bIns="635" rtlCol="0" anchor="t"/>
          <a:lstStyle/>
          <a:p>
            <a:pPr marL="342900" indent="-342900">
              <a:spcAft>
                <a:spcPts val="600"/>
              </a:spcAft>
              <a:buSzPct val="100000"/>
              <a:buChar char="•"/>
            </a:pPr>
            <a:r>
              <a:rPr lang="en-US" sz="1250" dirty="0">
                <a:solidFill>
                  <a:schemeClr val="tx1"/>
                </a:solidFill>
              </a:rPr>
              <a:t>Approve or override, reason code required</a:t>
            </a:r>
            <a:endParaRPr lang="en-US" sz="1250" dirty="0"/>
          </a:p>
          <a:p>
            <a:pPr marL="342900" indent="-342900">
              <a:spcAft>
                <a:spcPts val="600"/>
              </a:spcAft>
              <a:buSzPct val="100000"/>
              <a:buChar char="•"/>
            </a:pPr>
            <a:r>
              <a:rPr lang="en-US" sz="1250" dirty="0">
                <a:solidFill>
                  <a:schemeClr val="tx1"/>
                </a:solidFill>
              </a:rPr>
              <a:t>Specialist-only hardship approvals</a:t>
            </a:r>
            <a:endParaRPr lang="en-US" sz="1250" dirty="0"/>
          </a:p>
          <a:p>
            <a:pPr marL="342900" indent="-342900">
              <a:spcAft>
                <a:spcPts val="600"/>
              </a:spcAft>
              <a:buSzPct val="100000"/>
              <a:buChar char="•"/>
            </a:pPr>
            <a:r>
              <a:rPr lang="en-US" sz="1250" dirty="0">
                <a:solidFill>
                  <a:schemeClr val="tx1"/>
                </a:solidFill>
              </a:rPr>
              <a:t>Audit log of every event</a:t>
            </a:r>
            <a:endParaRPr lang="en-US" sz="1250" dirty="0"/>
          </a:p>
          <a:p>
            <a:pPr marL="342900" indent="-342900">
              <a:spcAft>
                <a:spcPts val="600"/>
              </a:spcAft>
              <a:buSzPct val="100000"/>
              <a:buChar char="•"/>
            </a:pPr>
            <a:r>
              <a:rPr lang="en-US" sz="1250" dirty="0">
                <a:solidFill>
                  <a:schemeClr val="tx1"/>
                </a:solidFill>
              </a:rPr>
              <a:t>Outcomes compared across segments</a:t>
            </a:r>
            <a:endParaRPr lang="en-US" sz="1250" dirty="0"/>
          </a:p>
        </p:txBody>
      </p:sp>
      <p:sp>
        <p:nvSpPr>
          <p:cNvPr id="23" name="Shape 17"/>
          <p:cNvSpPr/>
          <p:nvPr/>
        </p:nvSpPr>
        <p:spPr>
          <a:xfrm>
            <a:off x="7543800" y="1280160"/>
            <a:ext cx="4114800" cy="4892040"/>
          </a:xfrm>
          <a:prstGeom prst="roundRect">
            <a:avLst>
              <a:gd name="adj" fmla="val 1778"/>
            </a:avLst>
          </a:prstGeom>
          <a:solidFill>
            <a:schemeClr val="bg2"/>
          </a:solidFill>
          <a:ln w="19050">
            <a:solidFill>
              <a:schemeClr val="accent1"/>
            </a:solidFill>
            <a:prstDash val="solid"/>
          </a:ln>
          <a:effectLst>
            <a:outerShdw sx="100000" sy="100000" kx="0" ky="0" algn="bl" rotWithShape="0" blurRad="101600" dist="25400" dir="5400000">
              <a:srgbClr val="000000">
                <a:alpha val="12000"/>
              </a:srgbClr>
            </a:outerShdw>
          </a:effectLst>
        </p:spPr>
      </p:sp>
      <p:sp>
        <p:nvSpPr>
          <p:cNvPr id="24" name="Shape 18"/>
          <p:cNvSpPr/>
          <p:nvPr/>
        </p:nvSpPr>
        <p:spPr>
          <a:xfrm>
            <a:off x="7726680" y="1444752"/>
            <a:ext cx="502920" cy="502920"/>
          </a:xfrm>
          <a:prstGeom prst="ellipse">
            <a:avLst/>
          </a:prstGeom>
          <a:solidFill>
            <a:schemeClr val="accent2"/>
          </a:solidFill>
          <a:ln w="12700">
            <a:solidFill>
              <a:schemeClr val="accent2"/>
            </a:solidFill>
            <a:prstDash val="solid"/>
          </a:ln>
        </p:spPr>
      </p:sp>
      <p:pic>
        <p:nvPicPr>
          <p:cNvPr id="25" name="Image 4" descr="preencoded.png">    </p:cNvPr>
          <p:cNvPicPr>
            <a:picLocks noChangeAspect="1"/>
          </p:cNvPicPr>
          <p:nvPr/>
        </p:nvPicPr>
        <p:blipFill>
          <a:blip r:embed="rId5"/>
          <a:stretch>
            <a:fillRect/>
          </a:stretch>
        </p:blipFill>
        <p:spPr>
          <a:xfrm>
            <a:off x="7837322" y="1555394"/>
            <a:ext cx="281635" cy="281635"/>
          </a:xfrm>
          <a:prstGeom prst="rect">
            <a:avLst/>
          </a:prstGeom>
        </p:spPr>
      </p:pic>
      <p:sp>
        <p:nvSpPr>
          <p:cNvPr id="26" name="Text 19"/>
          <p:cNvSpPr txBox="1"/>
          <p:nvPr/>
        </p:nvSpPr>
        <p:spPr>
          <a:xfrm>
            <a:off x="8321040" y="1481328"/>
            <a:ext cx="3200400" cy="411480"/>
          </a:xfrm>
          <a:prstGeom prst="rect">
            <a:avLst/>
          </a:prstGeom>
          <a:noFill/>
          <a:ln/>
        </p:spPr>
        <p:txBody>
          <a:bodyPr wrap="square" lIns="635" tIns="635" rIns="635" bIns="635" rtlCol="0" anchor="t"/>
          <a:lstStyle/>
          <a:p>
            <a:pPr indent="0" marL="0">
              <a:buNone/>
            </a:pPr>
            <a:r>
              <a:rPr lang="en-US" sz="1800" b="1" dirty="0">
                <a:solidFill>
                  <a:schemeClr val="tx2"/>
                </a:solidFill>
                <a:latin typeface="Cambria" pitchFamily="34" charset="0"/>
                <a:ea typeface="Cambria" pitchFamily="34" charset="-122"/>
                <a:cs typeface="Cambria" pitchFamily="34" charset="-120"/>
              </a:rPr>
              <a:t>Override intelligence</a:t>
            </a:r>
            <a:endParaRPr lang="en-US" sz="1800" dirty="0"/>
          </a:p>
        </p:txBody>
      </p:sp>
      <p:sp>
        <p:nvSpPr>
          <p:cNvPr id="27" name="Text 20"/>
          <p:cNvSpPr txBox="1"/>
          <p:nvPr/>
        </p:nvSpPr>
        <p:spPr>
          <a:xfrm>
            <a:off x="7726680" y="2148840"/>
            <a:ext cx="3749040" cy="365760"/>
          </a:xfrm>
          <a:prstGeom prst="roundRect">
            <a:avLst>
              <a:gd name="adj" fmla="val 15000"/>
            </a:avLst>
          </a:prstGeom>
          <a:solidFill>
            <a:schemeClr val="bg1"/>
          </a:solidFill>
          <a:ln>
            <a:solidFill>
              <a:schemeClr val="bg1"/>
            </a:solidFill>
          </a:ln>
        </p:spPr>
        <p:txBody>
          <a:bodyPr wrap="square" lIns="508" tIns="508" rIns="508" bIns="508" rtlCol="0" anchor="ctr"/>
          <a:lstStyle/>
          <a:p>
            <a:pPr algn="l" indent="0" marL="0">
              <a:buNone/>
            </a:pPr>
            <a:r>
              <a:rPr lang="en-US" sz="1100" b="1" dirty="0">
                <a:solidFill>
                  <a:schemeClr val="tx2"/>
                </a:solidFill>
              </a:rPr>
              <a:t>1  Override with reason code</a:t>
            </a:r>
            <a:endParaRPr lang="en-US" sz="1100" dirty="0"/>
          </a:p>
        </p:txBody>
      </p:sp>
      <p:sp>
        <p:nvSpPr>
          <p:cNvPr id="28" name="Text 21"/>
          <p:cNvSpPr txBox="1"/>
          <p:nvPr/>
        </p:nvSpPr>
        <p:spPr>
          <a:xfrm>
            <a:off x="7726680" y="2606040"/>
            <a:ext cx="3749040" cy="365760"/>
          </a:xfrm>
          <a:prstGeom prst="roundRect">
            <a:avLst>
              <a:gd name="adj" fmla="val 15000"/>
            </a:avLst>
          </a:prstGeom>
          <a:solidFill>
            <a:schemeClr val="bg1"/>
          </a:solidFill>
          <a:ln>
            <a:solidFill>
              <a:schemeClr val="bg1"/>
            </a:solidFill>
          </a:ln>
        </p:spPr>
        <p:txBody>
          <a:bodyPr wrap="square" lIns="508" tIns="508" rIns="508" bIns="508" rtlCol="0" anchor="ctr"/>
          <a:lstStyle/>
          <a:p>
            <a:pPr algn="l" indent="0" marL="0">
              <a:buNone/>
            </a:pPr>
            <a:r>
              <a:rPr lang="en-US" sz="1100" b="1" dirty="0">
                <a:solidFill>
                  <a:schemeClr val="tx2"/>
                </a:solidFill>
              </a:rPr>
              <a:t>2  Track the outcome</a:t>
            </a:r>
            <a:endParaRPr lang="en-US" sz="1100" dirty="0"/>
          </a:p>
        </p:txBody>
      </p:sp>
      <p:sp>
        <p:nvSpPr>
          <p:cNvPr id="29" name="Text 22"/>
          <p:cNvSpPr txBox="1"/>
          <p:nvPr/>
        </p:nvSpPr>
        <p:spPr>
          <a:xfrm>
            <a:off x="7726680" y="3063240"/>
            <a:ext cx="3749040" cy="365760"/>
          </a:xfrm>
          <a:prstGeom prst="roundRect">
            <a:avLst>
              <a:gd name="adj" fmla="val 15000"/>
            </a:avLst>
          </a:prstGeom>
          <a:solidFill>
            <a:schemeClr val="bg1"/>
          </a:solidFill>
          <a:ln>
            <a:solidFill>
              <a:schemeClr val="bg1"/>
            </a:solidFill>
          </a:ln>
        </p:spPr>
        <p:txBody>
          <a:bodyPr wrap="square" lIns="508" tIns="508" rIns="508" bIns="508" rtlCol="0" anchor="ctr"/>
          <a:lstStyle/>
          <a:p>
            <a:pPr algn="l" indent="0" marL="0">
              <a:buNone/>
            </a:pPr>
            <a:r>
              <a:rPr lang="en-US" sz="1100" b="1" dirty="0">
                <a:solidFill>
                  <a:schemeClr val="tx2"/>
                </a:solidFill>
              </a:rPr>
              <a:t>3  Spot the pattern</a:t>
            </a:r>
            <a:endParaRPr lang="en-US" sz="1100" dirty="0"/>
          </a:p>
        </p:txBody>
      </p:sp>
      <p:sp>
        <p:nvSpPr>
          <p:cNvPr id="30" name="Text 23"/>
          <p:cNvSpPr txBox="1"/>
          <p:nvPr/>
        </p:nvSpPr>
        <p:spPr>
          <a:xfrm>
            <a:off x="7726680" y="3520440"/>
            <a:ext cx="3749040" cy="365760"/>
          </a:xfrm>
          <a:prstGeom prst="roundRect">
            <a:avLst>
              <a:gd name="adj" fmla="val 15000"/>
            </a:avLst>
          </a:prstGeom>
          <a:solidFill>
            <a:schemeClr val="bg1"/>
          </a:solidFill>
          <a:ln>
            <a:solidFill>
              <a:schemeClr val="bg1"/>
            </a:solidFill>
          </a:ln>
        </p:spPr>
        <p:txBody>
          <a:bodyPr wrap="square" lIns="508" tIns="508" rIns="508" bIns="508" rtlCol="0" anchor="ctr"/>
          <a:lstStyle/>
          <a:p>
            <a:pPr algn="l" indent="0" marL="0">
              <a:buNone/>
            </a:pPr>
            <a:r>
              <a:rPr lang="en-US" sz="1100" b="1" dirty="0">
                <a:solidFill>
                  <a:schemeClr val="tx2"/>
                </a:solidFill>
              </a:rPr>
              <a:t>4  Propose a policy change</a:t>
            </a:r>
            <a:endParaRPr lang="en-US" sz="1100" dirty="0"/>
          </a:p>
        </p:txBody>
      </p:sp>
      <p:sp>
        <p:nvSpPr>
          <p:cNvPr id="31" name="Text 24"/>
          <p:cNvSpPr txBox="1"/>
          <p:nvPr/>
        </p:nvSpPr>
        <p:spPr>
          <a:xfrm>
            <a:off x="7726680" y="3977640"/>
            <a:ext cx="3749040" cy="365760"/>
          </a:xfrm>
          <a:prstGeom prst="roundRect">
            <a:avLst>
              <a:gd name="adj" fmla="val 15000"/>
            </a:avLst>
          </a:prstGeom>
          <a:solidFill>
            <a:schemeClr val="accent1"/>
          </a:solidFill>
          <a:ln>
            <a:solidFill>
              <a:schemeClr val="accent1"/>
            </a:solidFill>
          </a:ln>
        </p:spPr>
        <p:txBody>
          <a:bodyPr wrap="square" lIns="508" tIns="508" rIns="508" bIns="508" rtlCol="0" anchor="ctr"/>
          <a:lstStyle/>
          <a:p>
            <a:pPr algn="l" indent="0" marL="0">
              <a:buNone/>
            </a:pPr>
            <a:r>
              <a:rPr lang="en-US" sz="1100" b="1" dirty="0">
                <a:solidFill>
                  <a:schemeClr val="bg1"/>
                </a:solidFill>
              </a:rPr>
              <a:t>5  Human approves</a:t>
            </a:r>
            <a:endParaRPr lang="en-US" sz="1100" dirty="0"/>
          </a:p>
        </p:txBody>
      </p:sp>
      <p:sp>
        <p:nvSpPr>
          <p:cNvPr id="32" name="Text 25"/>
          <p:cNvSpPr txBox="1"/>
          <p:nvPr/>
        </p:nvSpPr>
        <p:spPr>
          <a:xfrm>
            <a:off x="7726680" y="4526280"/>
            <a:ext cx="3749040" cy="1188720"/>
          </a:xfrm>
          <a:prstGeom prst="rect">
            <a:avLst/>
          </a:prstGeom>
          <a:noFill/>
          <a:ln/>
        </p:spPr>
        <p:txBody>
          <a:bodyPr wrap="square" lIns="635" tIns="635" rIns="635" bIns="635" rtlCol="0" anchor="t"/>
          <a:lstStyle/>
          <a:p>
            <a:pPr indent="0" marL="0">
              <a:buNone/>
            </a:pPr>
            <a:r>
              <a:rPr lang="en-US" sz="1150" i="1" dirty="0">
                <a:solidFill>
                  <a:schemeClr val="tx1"/>
                </a:solidFill>
              </a:rPr>
              <a:t>"Agents changed call to payment plan for self-employed customers in 7 of 10 cases, and those plans were kept more often. Proposed: payment plan by default for this group. Awaiting approval."</a:t>
            </a:r>
            <a:endParaRPr lang="en-US" sz="1150" dirty="0"/>
          </a:p>
        </p:txBody>
      </p:sp>
      <p:sp>
        <p:nvSpPr>
          <p:cNvPr id="33" name="Text 26"/>
          <p:cNvSpPr txBox="1"/>
          <p:nvPr/>
        </p:nvSpPr>
        <p:spPr>
          <a:xfrm>
            <a:off x="7726680" y="5742432"/>
            <a:ext cx="3749040" cy="320040"/>
          </a:xfrm>
          <a:prstGeom prst="rect">
            <a:avLst/>
          </a:prstGeom>
          <a:noFill/>
          <a:ln/>
        </p:spPr>
        <p:txBody>
          <a:bodyPr wrap="square" lIns="635" tIns="635" rIns="635" bIns="635" rtlCol="0" anchor="t"/>
          <a:lstStyle/>
          <a:p>
            <a:pPr indent="0" marL="0">
              <a:buNone/>
            </a:pPr>
            <a:r>
              <a:rPr lang="en-US" sz="950" dirty="0">
                <a:solidFill>
                  <a:schemeClr val="accent4"/>
                </a:solidFill>
              </a:rPr>
              <a:t>Illustrative insight. The model never retrains itself silently.</a:t>
            </a:r>
            <a:endParaRPr lang="en-US" sz="95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Implementation plan: 36 hours, two people, contract-first</a:t>
            </a:r>
            <a:endParaRPr lang="en-US" sz="3000" dirty="0"/>
          </a:p>
        </p:txBody>
      </p:sp>
      <p:sp>
        <p:nvSpPr>
          <p:cNvPr id="3" name="Text 1"/>
          <p:cNvSpPr txBox="1"/>
          <p:nvPr/>
        </p:nvSpPr>
        <p:spPr>
          <a:xfrm>
            <a:off x="2194560" y="1234440"/>
            <a:ext cx="1801368" cy="365760"/>
          </a:xfrm>
          <a:prstGeom prst="roundRect">
            <a:avLst>
              <a:gd name="adj" fmla="val 15000"/>
            </a:avLst>
          </a:prstGeom>
          <a:solidFill>
            <a:schemeClr val="tx2"/>
          </a:solidFill>
          <a:ln>
            <a:solidFill>
              <a:schemeClr val="tx2"/>
            </a:solidFill>
          </a:ln>
        </p:spPr>
        <p:txBody>
          <a:bodyPr wrap="square" lIns="508" tIns="508" rIns="508" bIns="508" rtlCol="0" anchor="ctr"/>
          <a:lstStyle/>
          <a:p>
            <a:pPr algn="ctr" indent="0" marL="0">
              <a:buNone/>
            </a:pPr>
            <a:r>
              <a:rPr lang="en-US" sz="1100" b="1" dirty="0">
                <a:solidFill>
                  <a:schemeClr val="bg1"/>
                </a:solidFill>
              </a:rPr>
              <a:t>Day 1 morning</a:t>
            </a:r>
            <a:endParaRPr lang="en-US" sz="1100" dirty="0"/>
          </a:p>
        </p:txBody>
      </p:sp>
      <p:sp>
        <p:nvSpPr>
          <p:cNvPr id="4" name="Text 2"/>
          <p:cNvSpPr txBox="1"/>
          <p:nvPr/>
        </p:nvSpPr>
        <p:spPr>
          <a:xfrm>
            <a:off x="4087368" y="1234440"/>
            <a:ext cx="1801368" cy="365760"/>
          </a:xfrm>
          <a:prstGeom prst="roundRect">
            <a:avLst>
              <a:gd name="adj" fmla="val 15000"/>
            </a:avLst>
          </a:prstGeom>
          <a:solidFill>
            <a:schemeClr val="tx2"/>
          </a:solidFill>
          <a:ln>
            <a:solidFill>
              <a:schemeClr val="tx2"/>
            </a:solidFill>
          </a:ln>
        </p:spPr>
        <p:txBody>
          <a:bodyPr wrap="square" lIns="508" tIns="508" rIns="508" bIns="508" rtlCol="0" anchor="ctr"/>
          <a:lstStyle/>
          <a:p>
            <a:pPr algn="ctr" indent="0" marL="0">
              <a:buNone/>
            </a:pPr>
            <a:r>
              <a:rPr lang="en-US" sz="1100" b="1" dirty="0">
                <a:solidFill>
                  <a:schemeClr val="bg1"/>
                </a:solidFill>
              </a:rPr>
              <a:t>Day 1 afternoon</a:t>
            </a:r>
            <a:endParaRPr lang="en-US" sz="1100" dirty="0"/>
          </a:p>
        </p:txBody>
      </p:sp>
      <p:sp>
        <p:nvSpPr>
          <p:cNvPr id="5" name="Text 3"/>
          <p:cNvSpPr txBox="1"/>
          <p:nvPr/>
        </p:nvSpPr>
        <p:spPr>
          <a:xfrm>
            <a:off x="5980176" y="1234440"/>
            <a:ext cx="1801368" cy="365760"/>
          </a:xfrm>
          <a:prstGeom prst="roundRect">
            <a:avLst>
              <a:gd name="adj" fmla="val 15000"/>
            </a:avLst>
          </a:prstGeom>
          <a:solidFill>
            <a:schemeClr val="tx2"/>
          </a:solidFill>
          <a:ln>
            <a:solidFill>
              <a:schemeClr val="tx2"/>
            </a:solidFill>
          </a:ln>
        </p:spPr>
        <p:txBody>
          <a:bodyPr wrap="square" lIns="508" tIns="508" rIns="508" bIns="508" rtlCol="0" anchor="ctr"/>
          <a:lstStyle/>
          <a:p>
            <a:pPr algn="ctr" indent="0" marL="0">
              <a:buNone/>
            </a:pPr>
            <a:r>
              <a:rPr lang="en-US" sz="1100" b="1" dirty="0">
                <a:solidFill>
                  <a:schemeClr val="bg1"/>
                </a:solidFill>
              </a:rPr>
              <a:t>Day 1 evening</a:t>
            </a:r>
            <a:endParaRPr lang="en-US" sz="1100" dirty="0"/>
          </a:p>
        </p:txBody>
      </p:sp>
      <p:sp>
        <p:nvSpPr>
          <p:cNvPr id="6" name="Text 4"/>
          <p:cNvSpPr txBox="1"/>
          <p:nvPr/>
        </p:nvSpPr>
        <p:spPr>
          <a:xfrm>
            <a:off x="7872984" y="1234440"/>
            <a:ext cx="1801368" cy="365760"/>
          </a:xfrm>
          <a:prstGeom prst="roundRect">
            <a:avLst>
              <a:gd name="adj" fmla="val 15000"/>
            </a:avLst>
          </a:prstGeom>
          <a:solidFill>
            <a:schemeClr val="tx2"/>
          </a:solidFill>
          <a:ln>
            <a:solidFill>
              <a:schemeClr val="tx2"/>
            </a:solidFill>
          </a:ln>
        </p:spPr>
        <p:txBody>
          <a:bodyPr wrap="square" lIns="508" tIns="508" rIns="508" bIns="508" rtlCol="0" anchor="ctr"/>
          <a:lstStyle/>
          <a:p>
            <a:pPr algn="ctr" indent="0" marL="0">
              <a:buNone/>
            </a:pPr>
            <a:r>
              <a:rPr lang="en-US" sz="1100" b="1" dirty="0">
                <a:solidFill>
                  <a:schemeClr val="bg1"/>
                </a:solidFill>
              </a:rPr>
              <a:t>Day 2 morning</a:t>
            </a:r>
            <a:endParaRPr lang="en-US" sz="1100" dirty="0"/>
          </a:p>
        </p:txBody>
      </p:sp>
      <p:sp>
        <p:nvSpPr>
          <p:cNvPr id="7" name="Text 5"/>
          <p:cNvSpPr txBox="1"/>
          <p:nvPr/>
        </p:nvSpPr>
        <p:spPr>
          <a:xfrm>
            <a:off x="9765792" y="1234440"/>
            <a:ext cx="1801368" cy="365760"/>
          </a:xfrm>
          <a:prstGeom prst="roundRect">
            <a:avLst>
              <a:gd name="adj" fmla="val 15000"/>
            </a:avLst>
          </a:prstGeom>
          <a:solidFill>
            <a:schemeClr val="tx2"/>
          </a:solidFill>
          <a:ln>
            <a:solidFill>
              <a:schemeClr val="tx2"/>
            </a:solidFill>
          </a:ln>
        </p:spPr>
        <p:txBody>
          <a:bodyPr wrap="square" lIns="508" tIns="508" rIns="508" bIns="508" rtlCol="0" anchor="ctr"/>
          <a:lstStyle/>
          <a:p>
            <a:pPr algn="ctr" indent="0" marL="0">
              <a:buNone/>
            </a:pPr>
            <a:r>
              <a:rPr lang="en-US" sz="1100" b="1" dirty="0">
                <a:solidFill>
                  <a:schemeClr val="bg1"/>
                </a:solidFill>
              </a:rPr>
              <a:t>Day 2 afternoon</a:t>
            </a:r>
            <a:endParaRPr lang="en-US" sz="1100" dirty="0"/>
          </a:p>
        </p:txBody>
      </p:sp>
      <p:sp>
        <p:nvSpPr>
          <p:cNvPr id="8" name="Text 6"/>
          <p:cNvSpPr txBox="1"/>
          <p:nvPr/>
        </p:nvSpPr>
        <p:spPr>
          <a:xfrm>
            <a:off x="548640" y="1828800"/>
            <a:ext cx="1554480" cy="320040"/>
          </a:xfrm>
          <a:prstGeom prst="rect">
            <a:avLst/>
          </a:prstGeom>
          <a:noFill/>
          <a:ln/>
        </p:spPr>
        <p:txBody>
          <a:bodyPr wrap="square" lIns="635" tIns="635" rIns="635" bIns="635" rtlCol="0" anchor="t"/>
          <a:lstStyle/>
          <a:p>
            <a:pPr indent="0" marL="0">
              <a:buNone/>
            </a:pPr>
            <a:r>
              <a:rPr lang="en-US" sz="1400" b="1" dirty="0">
                <a:solidFill>
                  <a:schemeClr val="tx2"/>
                </a:solidFill>
              </a:rPr>
              <a:t>Person A</a:t>
            </a:r>
            <a:endParaRPr lang="en-US" sz="1400" dirty="0"/>
          </a:p>
        </p:txBody>
      </p:sp>
      <p:sp>
        <p:nvSpPr>
          <p:cNvPr id="9" name="Text 7"/>
          <p:cNvSpPr txBox="1"/>
          <p:nvPr/>
        </p:nvSpPr>
        <p:spPr>
          <a:xfrm>
            <a:off x="548640" y="2148840"/>
            <a:ext cx="1554480" cy="548640"/>
          </a:xfrm>
          <a:prstGeom prst="rect">
            <a:avLst/>
          </a:prstGeom>
          <a:noFill/>
          <a:ln/>
        </p:spPr>
        <p:txBody>
          <a:bodyPr wrap="square" lIns="635" tIns="635" rIns="635" bIns="635" rtlCol="0" anchor="t"/>
          <a:lstStyle/>
          <a:p>
            <a:pPr indent="0" marL="0">
              <a:buNone/>
            </a:pPr>
            <a:r>
              <a:rPr lang="en-US" sz="1000" dirty="0">
                <a:solidFill>
                  <a:schemeClr val="accent4"/>
                </a:solidFill>
              </a:rPr>
              <a:t>pipeline, decisioning, API</a:t>
            </a:r>
            <a:endParaRPr lang="en-US" sz="1000" dirty="0"/>
          </a:p>
        </p:txBody>
      </p:sp>
      <p:sp>
        <p:nvSpPr>
          <p:cNvPr id="10" name="Shape 8"/>
          <p:cNvSpPr/>
          <p:nvPr/>
        </p:nvSpPr>
        <p:spPr>
          <a:xfrm>
            <a:off x="2194560" y="1737360"/>
            <a:ext cx="1801368" cy="1097280"/>
          </a:xfrm>
          <a:prstGeom prst="roundRect">
            <a:avLst>
              <a:gd name="adj" fmla="val 6667"/>
            </a:avLst>
          </a:prstGeom>
          <a:solidFill>
            <a:schemeClr val="bg2"/>
          </a:solidFill>
          <a:ln w="12700">
            <a:solidFill>
              <a:schemeClr val="accent5"/>
            </a:solidFill>
            <a:prstDash val="solid"/>
          </a:ln>
        </p:spPr>
      </p:sp>
      <p:sp>
        <p:nvSpPr>
          <p:cNvPr id="11" name="Text 9"/>
          <p:cNvSpPr txBox="1"/>
          <p:nvPr/>
        </p:nvSpPr>
        <p:spPr>
          <a:xfrm>
            <a:off x="2267712" y="1792224"/>
            <a:ext cx="1664208" cy="1005840"/>
          </a:xfrm>
          <a:prstGeom prst="rect">
            <a:avLst/>
          </a:prstGeom>
          <a:noFill/>
          <a:ln/>
        </p:spPr>
        <p:txBody>
          <a:bodyPr wrap="square" lIns="635" tIns="635" rIns="635" bIns="635" rtlCol="0" anchor="ctr"/>
          <a:lstStyle/>
          <a:p>
            <a:pPr indent="0" marL="0">
              <a:buNone/>
            </a:pPr>
            <a:r>
              <a:rPr lang="en-US" sz="1050" dirty="0">
                <a:solidFill>
                  <a:schemeClr val="tx1"/>
                </a:solidFill>
              </a:rPr>
              <a:t>Load data; raw → curated; identity resolution</a:t>
            </a:r>
            <a:endParaRPr lang="en-US" sz="1050" dirty="0"/>
          </a:p>
        </p:txBody>
      </p:sp>
      <p:sp>
        <p:nvSpPr>
          <p:cNvPr id="12" name="Shape 10"/>
          <p:cNvSpPr/>
          <p:nvPr/>
        </p:nvSpPr>
        <p:spPr>
          <a:xfrm>
            <a:off x="4087368" y="1737360"/>
            <a:ext cx="1801368" cy="1097280"/>
          </a:xfrm>
          <a:prstGeom prst="roundRect">
            <a:avLst>
              <a:gd name="adj" fmla="val 6667"/>
            </a:avLst>
          </a:prstGeom>
          <a:solidFill>
            <a:schemeClr val="bg2"/>
          </a:solidFill>
          <a:ln w="12700">
            <a:solidFill>
              <a:schemeClr val="accent5"/>
            </a:solidFill>
            <a:prstDash val="solid"/>
          </a:ln>
        </p:spPr>
      </p:sp>
      <p:sp>
        <p:nvSpPr>
          <p:cNvPr id="13" name="Text 11"/>
          <p:cNvSpPr txBox="1"/>
          <p:nvPr/>
        </p:nvSpPr>
        <p:spPr>
          <a:xfrm>
            <a:off x="4160520" y="1792224"/>
            <a:ext cx="1664208" cy="1005840"/>
          </a:xfrm>
          <a:prstGeom prst="rect">
            <a:avLst/>
          </a:prstGeom>
          <a:noFill/>
          <a:ln/>
        </p:spPr>
        <p:txBody>
          <a:bodyPr wrap="square" lIns="635" tIns="635" rIns="635" bIns="635" rtlCol="0" anchor="ctr"/>
          <a:lstStyle/>
          <a:p>
            <a:pPr indent="0" marL="0">
              <a:buNone/>
            </a:pPr>
            <a:r>
              <a:rPr lang="en-US" sz="1050" dirty="0">
                <a:solidFill>
                  <a:schemeClr val="tx1"/>
                </a:solidFill>
              </a:rPr>
              <a:t>Golden C360, trust score, contract + DQ report</a:t>
            </a:r>
            <a:endParaRPr lang="en-US" sz="1050" dirty="0"/>
          </a:p>
        </p:txBody>
      </p:sp>
      <p:sp>
        <p:nvSpPr>
          <p:cNvPr id="14" name="Shape 12"/>
          <p:cNvSpPr/>
          <p:nvPr/>
        </p:nvSpPr>
        <p:spPr>
          <a:xfrm>
            <a:off x="5980176" y="1737360"/>
            <a:ext cx="1801368" cy="1097280"/>
          </a:xfrm>
          <a:prstGeom prst="roundRect">
            <a:avLst>
              <a:gd name="adj" fmla="val 6667"/>
            </a:avLst>
          </a:prstGeom>
          <a:solidFill>
            <a:schemeClr val="bg2"/>
          </a:solidFill>
          <a:ln w="12700">
            <a:solidFill>
              <a:schemeClr val="accent5"/>
            </a:solidFill>
            <a:prstDash val="solid"/>
          </a:ln>
        </p:spPr>
      </p:sp>
      <p:sp>
        <p:nvSpPr>
          <p:cNvPr id="15" name="Text 13"/>
          <p:cNvSpPr txBox="1"/>
          <p:nvPr/>
        </p:nvSpPr>
        <p:spPr>
          <a:xfrm>
            <a:off x="6053328" y="1792224"/>
            <a:ext cx="1664208" cy="1005840"/>
          </a:xfrm>
          <a:prstGeom prst="rect">
            <a:avLst/>
          </a:prstGeom>
          <a:noFill/>
          <a:ln/>
        </p:spPr>
        <p:txBody>
          <a:bodyPr wrap="square" lIns="635" tIns="635" rIns="635" bIns="635" rtlCol="0" anchor="ctr"/>
          <a:lstStyle/>
          <a:p>
            <a:pPr indent="0" marL="0">
              <a:buNone/>
            </a:pPr>
            <a:r>
              <a:rPr lang="en-US" sz="1050" dirty="0">
                <a:solidFill>
                  <a:schemeClr val="tx1"/>
                </a:solidFill>
              </a:rPr>
              <a:t>Feature store; LLM features + evaluation</a:t>
            </a:r>
            <a:endParaRPr lang="en-US" sz="1050" dirty="0"/>
          </a:p>
        </p:txBody>
      </p:sp>
      <p:sp>
        <p:nvSpPr>
          <p:cNvPr id="16" name="Shape 14"/>
          <p:cNvSpPr/>
          <p:nvPr/>
        </p:nvSpPr>
        <p:spPr>
          <a:xfrm>
            <a:off x="7872984" y="1737360"/>
            <a:ext cx="1801368" cy="1097280"/>
          </a:xfrm>
          <a:prstGeom prst="roundRect">
            <a:avLst>
              <a:gd name="adj" fmla="val 6667"/>
            </a:avLst>
          </a:prstGeom>
          <a:solidFill>
            <a:schemeClr val="bg2"/>
          </a:solidFill>
          <a:ln w="12700">
            <a:solidFill>
              <a:schemeClr val="accent5"/>
            </a:solidFill>
            <a:prstDash val="solid"/>
          </a:ln>
        </p:spPr>
      </p:sp>
      <p:sp>
        <p:nvSpPr>
          <p:cNvPr id="17" name="Text 15"/>
          <p:cNvSpPr txBox="1"/>
          <p:nvPr/>
        </p:nvSpPr>
        <p:spPr>
          <a:xfrm>
            <a:off x="7946136" y="1792224"/>
            <a:ext cx="1664208" cy="1005840"/>
          </a:xfrm>
          <a:prstGeom prst="rect">
            <a:avLst/>
          </a:prstGeom>
          <a:noFill/>
          <a:ln/>
        </p:spPr>
        <p:txBody>
          <a:bodyPr wrap="square" lIns="635" tIns="635" rIns="635" bIns="635" rtlCol="0" anchor="ctr"/>
          <a:lstStyle/>
          <a:p>
            <a:pPr indent="0" marL="0">
              <a:buNone/>
            </a:pPr>
            <a:r>
              <a:rPr lang="en-US" sz="1050" dirty="0">
                <a:solidFill>
                  <a:schemeClr val="tx1"/>
                </a:solidFill>
              </a:rPr>
              <a:t>Risk model, hardship, affordability, policy, live re-decision</a:t>
            </a:r>
            <a:endParaRPr lang="en-US" sz="1050" dirty="0"/>
          </a:p>
        </p:txBody>
      </p:sp>
      <p:sp>
        <p:nvSpPr>
          <p:cNvPr id="18" name="Shape 16"/>
          <p:cNvSpPr/>
          <p:nvPr/>
        </p:nvSpPr>
        <p:spPr>
          <a:xfrm>
            <a:off x="9765792" y="1737360"/>
            <a:ext cx="1801368" cy="1097280"/>
          </a:xfrm>
          <a:prstGeom prst="roundRect">
            <a:avLst>
              <a:gd name="adj" fmla="val 6667"/>
            </a:avLst>
          </a:prstGeom>
          <a:solidFill>
            <a:schemeClr val="bg2"/>
          </a:solidFill>
          <a:ln w="12700">
            <a:solidFill>
              <a:schemeClr val="accent5"/>
            </a:solidFill>
            <a:prstDash val="solid"/>
          </a:ln>
        </p:spPr>
      </p:sp>
      <p:sp>
        <p:nvSpPr>
          <p:cNvPr id="19" name="Text 17"/>
          <p:cNvSpPr txBox="1"/>
          <p:nvPr/>
        </p:nvSpPr>
        <p:spPr>
          <a:xfrm>
            <a:off x="9838944" y="1792224"/>
            <a:ext cx="1664208" cy="1005840"/>
          </a:xfrm>
          <a:prstGeom prst="rect">
            <a:avLst/>
          </a:prstGeom>
          <a:noFill/>
          <a:ln/>
        </p:spPr>
        <p:txBody>
          <a:bodyPr wrap="square" lIns="635" tIns="635" rIns="635" bIns="635" rtlCol="0" anchor="ctr"/>
          <a:lstStyle/>
          <a:p>
            <a:pPr indent="0" marL="0">
              <a:buNone/>
            </a:pPr>
            <a:r>
              <a:rPr lang="en-US" sz="1050" dirty="0">
                <a:solidFill>
                  <a:schemeClr val="tx1"/>
                </a:solidFill>
              </a:rPr>
              <a:t>Integrate, audit log, freeze at 17:00, demo video</a:t>
            </a:r>
            <a:endParaRPr lang="en-US" sz="1050" dirty="0"/>
          </a:p>
        </p:txBody>
      </p:sp>
      <p:sp>
        <p:nvSpPr>
          <p:cNvPr id="20" name="Text 18"/>
          <p:cNvSpPr txBox="1"/>
          <p:nvPr/>
        </p:nvSpPr>
        <p:spPr>
          <a:xfrm>
            <a:off x="548640" y="3063240"/>
            <a:ext cx="1554480" cy="320040"/>
          </a:xfrm>
          <a:prstGeom prst="rect">
            <a:avLst/>
          </a:prstGeom>
          <a:noFill/>
          <a:ln/>
        </p:spPr>
        <p:txBody>
          <a:bodyPr wrap="square" lIns="635" tIns="635" rIns="635" bIns="635" rtlCol="0" anchor="t"/>
          <a:lstStyle/>
          <a:p>
            <a:pPr indent="0" marL="0">
              <a:buNone/>
            </a:pPr>
            <a:r>
              <a:rPr lang="en-US" sz="1400" b="1" dirty="0">
                <a:solidFill>
                  <a:schemeClr val="tx2"/>
                </a:solidFill>
              </a:rPr>
              <a:t>Person B</a:t>
            </a:r>
            <a:endParaRPr lang="en-US" sz="1400" dirty="0"/>
          </a:p>
        </p:txBody>
      </p:sp>
      <p:sp>
        <p:nvSpPr>
          <p:cNvPr id="21" name="Text 19"/>
          <p:cNvSpPr txBox="1"/>
          <p:nvPr/>
        </p:nvSpPr>
        <p:spPr>
          <a:xfrm>
            <a:off x="548640" y="3383280"/>
            <a:ext cx="1554480" cy="548640"/>
          </a:xfrm>
          <a:prstGeom prst="rect">
            <a:avLst/>
          </a:prstGeom>
          <a:noFill/>
          <a:ln/>
        </p:spPr>
        <p:txBody>
          <a:bodyPr wrap="square" lIns="635" tIns="635" rIns="635" bIns="635" rtlCol="0" anchor="t"/>
          <a:lstStyle/>
          <a:p>
            <a:pPr indent="0" marL="0">
              <a:buNone/>
            </a:pPr>
            <a:r>
              <a:rPr lang="en-US" sz="1000" dirty="0">
                <a:solidFill>
                  <a:schemeClr val="accent4"/>
                </a:solidFill>
              </a:rPr>
              <a:t>Ask, RAG, agent UI</a:t>
            </a:r>
            <a:endParaRPr lang="en-US" sz="1000" dirty="0"/>
          </a:p>
        </p:txBody>
      </p:sp>
      <p:sp>
        <p:nvSpPr>
          <p:cNvPr id="22" name="Shape 20"/>
          <p:cNvSpPr/>
          <p:nvPr/>
        </p:nvSpPr>
        <p:spPr>
          <a:xfrm>
            <a:off x="2194560" y="2971800"/>
            <a:ext cx="1801368" cy="1097280"/>
          </a:xfrm>
          <a:prstGeom prst="roundRect">
            <a:avLst>
              <a:gd name="adj" fmla="val 6667"/>
            </a:avLst>
          </a:prstGeom>
          <a:solidFill>
            <a:schemeClr val="bg1"/>
          </a:solidFill>
          <a:ln w="12700">
            <a:solidFill>
              <a:schemeClr val="accent5"/>
            </a:solidFill>
            <a:prstDash val="solid"/>
          </a:ln>
        </p:spPr>
      </p:sp>
      <p:sp>
        <p:nvSpPr>
          <p:cNvPr id="23" name="Text 21"/>
          <p:cNvSpPr txBox="1"/>
          <p:nvPr/>
        </p:nvSpPr>
        <p:spPr>
          <a:xfrm>
            <a:off x="2267712" y="3026664"/>
            <a:ext cx="1664208" cy="1005840"/>
          </a:xfrm>
          <a:prstGeom prst="rect">
            <a:avLst/>
          </a:prstGeom>
          <a:noFill/>
          <a:ln/>
        </p:spPr>
        <p:txBody>
          <a:bodyPr wrap="square" lIns="635" tIns="635" rIns="635" bIns="635" rtlCol="0" anchor="ctr"/>
          <a:lstStyle/>
          <a:p>
            <a:pPr indent="0" marL="0">
              <a:buNone/>
            </a:pPr>
            <a:r>
              <a:rPr lang="en-US" sz="1050" dirty="0">
                <a:solidFill>
                  <a:schemeClr val="tx1"/>
                </a:solidFill>
              </a:rPr>
              <a:t>Semantic layer, Ask parser, SQL guard</a:t>
            </a:r>
            <a:endParaRPr lang="en-US" sz="1050" dirty="0"/>
          </a:p>
        </p:txBody>
      </p:sp>
      <p:sp>
        <p:nvSpPr>
          <p:cNvPr id="24" name="Shape 22"/>
          <p:cNvSpPr/>
          <p:nvPr/>
        </p:nvSpPr>
        <p:spPr>
          <a:xfrm>
            <a:off x="4087368" y="2971800"/>
            <a:ext cx="1801368" cy="1097280"/>
          </a:xfrm>
          <a:prstGeom prst="roundRect">
            <a:avLst>
              <a:gd name="adj" fmla="val 6667"/>
            </a:avLst>
          </a:prstGeom>
          <a:solidFill>
            <a:schemeClr val="bg1"/>
          </a:solidFill>
          <a:ln w="12700">
            <a:solidFill>
              <a:schemeClr val="accent5"/>
            </a:solidFill>
            <a:prstDash val="solid"/>
          </a:ln>
        </p:spPr>
      </p:sp>
      <p:sp>
        <p:nvSpPr>
          <p:cNvPr id="25" name="Text 23"/>
          <p:cNvSpPr txBox="1"/>
          <p:nvPr/>
        </p:nvSpPr>
        <p:spPr>
          <a:xfrm>
            <a:off x="4160520" y="3026664"/>
            <a:ext cx="1664208" cy="1005840"/>
          </a:xfrm>
          <a:prstGeom prst="rect">
            <a:avLst/>
          </a:prstGeom>
          <a:noFill/>
          <a:ln/>
        </p:spPr>
        <p:txBody>
          <a:bodyPr wrap="square" lIns="635" tIns="635" rIns="635" bIns="635" rtlCol="0" anchor="ctr"/>
          <a:lstStyle/>
          <a:p>
            <a:pPr indent="0" marL="0">
              <a:buNone/>
            </a:pPr>
            <a:r>
              <a:rPr lang="en-US" sz="1050" dirty="0">
                <a:solidFill>
                  <a:schemeClr val="tx1"/>
                </a:solidFill>
              </a:rPr>
              <a:t>RAG with citations; Ask UI; C360 view</a:t>
            </a:r>
            <a:endParaRPr lang="en-US" sz="1050" dirty="0"/>
          </a:p>
        </p:txBody>
      </p:sp>
      <p:sp>
        <p:nvSpPr>
          <p:cNvPr id="26" name="Shape 24"/>
          <p:cNvSpPr/>
          <p:nvPr/>
        </p:nvSpPr>
        <p:spPr>
          <a:xfrm>
            <a:off x="5980176" y="2971800"/>
            <a:ext cx="1801368" cy="1097280"/>
          </a:xfrm>
          <a:prstGeom prst="roundRect">
            <a:avLst>
              <a:gd name="adj" fmla="val 6667"/>
            </a:avLst>
          </a:prstGeom>
          <a:solidFill>
            <a:schemeClr val="bg1"/>
          </a:solidFill>
          <a:ln w="12700">
            <a:solidFill>
              <a:schemeClr val="accent5"/>
            </a:solidFill>
            <a:prstDash val="solid"/>
          </a:ln>
        </p:spPr>
      </p:sp>
      <p:sp>
        <p:nvSpPr>
          <p:cNvPr id="27" name="Text 25"/>
          <p:cNvSpPr txBox="1"/>
          <p:nvPr/>
        </p:nvSpPr>
        <p:spPr>
          <a:xfrm>
            <a:off x="6053328" y="3026664"/>
            <a:ext cx="1664208" cy="1005840"/>
          </a:xfrm>
          <a:prstGeom prst="rect">
            <a:avLst/>
          </a:prstGeom>
          <a:noFill/>
          <a:ln/>
        </p:spPr>
        <p:txBody>
          <a:bodyPr wrap="square" lIns="635" tIns="635" rIns="635" bIns="635" rtlCol="0" anchor="ctr"/>
          <a:lstStyle/>
          <a:p>
            <a:pPr indent="0" marL="0">
              <a:buNone/>
            </a:pPr>
            <a:r>
              <a:rPr lang="en-US" sz="1050" dirty="0">
                <a:solidFill>
                  <a:schemeClr val="tx1"/>
                </a:solidFill>
              </a:rPr>
              <a:t>Benchmark ≥ 85%; switch to real data</a:t>
            </a:r>
            <a:endParaRPr lang="en-US" sz="1050" dirty="0"/>
          </a:p>
        </p:txBody>
      </p:sp>
      <p:sp>
        <p:nvSpPr>
          <p:cNvPr id="28" name="Shape 26"/>
          <p:cNvSpPr/>
          <p:nvPr/>
        </p:nvSpPr>
        <p:spPr>
          <a:xfrm>
            <a:off x="7872984" y="2971800"/>
            <a:ext cx="1801368" cy="1097280"/>
          </a:xfrm>
          <a:prstGeom prst="roundRect">
            <a:avLst>
              <a:gd name="adj" fmla="val 6667"/>
            </a:avLst>
          </a:prstGeom>
          <a:solidFill>
            <a:schemeClr val="bg1"/>
          </a:solidFill>
          <a:ln w="12700">
            <a:solidFill>
              <a:schemeClr val="accent5"/>
            </a:solidFill>
            <a:prstDash val="solid"/>
          </a:ln>
        </p:spPr>
      </p:sp>
      <p:sp>
        <p:nvSpPr>
          <p:cNvPr id="29" name="Text 27"/>
          <p:cNvSpPr txBox="1"/>
          <p:nvPr/>
        </p:nvSpPr>
        <p:spPr>
          <a:xfrm>
            <a:off x="7946136" y="3026664"/>
            <a:ext cx="1664208" cy="1005840"/>
          </a:xfrm>
          <a:prstGeom prst="rect">
            <a:avLst/>
          </a:prstGeom>
          <a:noFill/>
          <a:ln/>
        </p:spPr>
        <p:txBody>
          <a:bodyPr wrap="square" lIns="635" tIns="635" rIns="635" bIns="635" rtlCol="0" anchor="ctr"/>
          <a:lstStyle/>
          <a:p>
            <a:pPr indent="0" marL="0">
              <a:buNone/>
            </a:pPr>
            <a:r>
              <a:rPr lang="en-US" sz="1050" dirty="0">
                <a:solidFill>
                  <a:schemeClr val="tx1"/>
                </a:solidFill>
              </a:rPr>
              <a:t>NBA queue, decision-changed card, override flow</a:t>
            </a:r>
            <a:endParaRPr lang="en-US" sz="1050" dirty="0"/>
          </a:p>
        </p:txBody>
      </p:sp>
      <p:sp>
        <p:nvSpPr>
          <p:cNvPr id="30" name="Shape 28"/>
          <p:cNvSpPr/>
          <p:nvPr/>
        </p:nvSpPr>
        <p:spPr>
          <a:xfrm>
            <a:off x="9765792" y="2971800"/>
            <a:ext cx="1801368" cy="1097280"/>
          </a:xfrm>
          <a:prstGeom prst="roundRect">
            <a:avLst>
              <a:gd name="adj" fmla="val 6667"/>
            </a:avLst>
          </a:prstGeom>
          <a:solidFill>
            <a:schemeClr val="bg1"/>
          </a:solidFill>
          <a:ln w="12700">
            <a:solidFill>
              <a:schemeClr val="accent5"/>
            </a:solidFill>
            <a:prstDash val="solid"/>
          </a:ln>
        </p:spPr>
      </p:sp>
      <p:sp>
        <p:nvSpPr>
          <p:cNvPr id="31" name="Text 29"/>
          <p:cNvSpPr txBox="1"/>
          <p:nvPr/>
        </p:nvSpPr>
        <p:spPr>
          <a:xfrm>
            <a:off x="9838944" y="3026664"/>
            <a:ext cx="1664208" cy="1005840"/>
          </a:xfrm>
          <a:prstGeom prst="rect">
            <a:avLst/>
          </a:prstGeom>
          <a:noFill/>
          <a:ln/>
        </p:spPr>
        <p:txBody>
          <a:bodyPr wrap="square" lIns="635" tIns="635" rIns="635" bIns="635" rtlCol="0" anchor="ctr"/>
          <a:lstStyle/>
          <a:p>
            <a:pPr indent="0" marL="0">
              <a:buNone/>
            </a:pPr>
            <a:r>
              <a:rPr lang="en-US" sz="1050" dirty="0">
                <a:solidFill>
                  <a:schemeClr val="tx1"/>
                </a:solidFill>
              </a:rPr>
              <a:t>Governance tab, polish, final deck</a:t>
            </a:r>
            <a:endParaRPr lang="en-US" sz="1050" dirty="0"/>
          </a:p>
        </p:txBody>
      </p:sp>
      <p:sp>
        <p:nvSpPr>
          <p:cNvPr id="32" name="Text 30"/>
          <p:cNvSpPr txBox="1"/>
          <p:nvPr/>
        </p:nvSpPr>
        <p:spPr>
          <a:xfrm>
            <a:off x="548640" y="4343400"/>
            <a:ext cx="5486400" cy="320040"/>
          </a:xfrm>
          <a:prstGeom prst="rect">
            <a:avLst/>
          </a:prstGeom>
          <a:noFill/>
          <a:ln/>
        </p:spPr>
        <p:txBody>
          <a:bodyPr wrap="square" lIns="635" tIns="635" rIns="635" bIns="635" rtlCol="0" anchor="t"/>
          <a:lstStyle/>
          <a:p>
            <a:pPr indent="0" marL="0">
              <a:buNone/>
            </a:pPr>
            <a:r>
              <a:rPr lang="en-US" sz="1400" b="1" dirty="0">
                <a:solidFill>
                  <a:schemeClr val="tx2"/>
                </a:solidFill>
              </a:rPr>
              <a:t>Already done during the design phase</a:t>
            </a:r>
            <a:endParaRPr lang="en-US" sz="1400" dirty="0"/>
          </a:p>
        </p:txBody>
      </p:sp>
      <p:sp>
        <p:nvSpPr>
          <p:cNvPr id="33" name="Text 31"/>
          <p:cNvSpPr txBox="1"/>
          <p:nvPr/>
        </p:nvSpPr>
        <p:spPr>
          <a:xfrm>
            <a:off x="548640" y="4709160"/>
            <a:ext cx="1783080" cy="384048"/>
          </a:xfrm>
          <a:prstGeom prst="roundRect">
            <a:avLst>
              <a:gd name="adj" fmla="val 14286"/>
            </a:avLst>
          </a:prstGeom>
          <a:solidFill>
            <a:schemeClr val="bg2"/>
          </a:solidFill>
          <a:ln>
            <a:solidFill>
              <a:schemeClr val="bg2"/>
            </a:solidFill>
          </a:ln>
        </p:spPr>
        <p:txBody>
          <a:bodyPr wrap="square" lIns="508" tIns="508" rIns="508" bIns="508" rtlCol="0" anchor="ctr"/>
          <a:lstStyle/>
          <a:p>
            <a:pPr algn="ctr" indent="0" marL="0">
              <a:buNone/>
            </a:pPr>
            <a:r>
              <a:rPr lang="en-US" sz="1050" b="1" dirty="0">
                <a:solidFill>
                  <a:schemeClr val="tx2"/>
                </a:solidFill>
              </a:rPr>
              <a:t>API contract: 11 endpoints</a:t>
            </a:r>
            <a:endParaRPr lang="en-US" sz="1050" dirty="0"/>
          </a:p>
        </p:txBody>
      </p:sp>
      <p:sp>
        <p:nvSpPr>
          <p:cNvPr id="34" name="Text 32"/>
          <p:cNvSpPr txBox="1"/>
          <p:nvPr/>
        </p:nvSpPr>
        <p:spPr>
          <a:xfrm>
            <a:off x="2423160" y="4709160"/>
            <a:ext cx="1783080" cy="384048"/>
          </a:xfrm>
          <a:prstGeom prst="roundRect">
            <a:avLst>
              <a:gd name="adj" fmla="val 14286"/>
            </a:avLst>
          </a:prstGeom>
          <a:solidFill>
            <a:schemeClr val="bg2"/>
          </a:solidFill>
          <a:ln>
            <a:solidFill>
              <a:schemeClr val="bg2"/>
            </a:solidFill>
          </a:ln>
        </p:spPr>
        <p:txBody>
          <a:bodyPr wrap="square" lIns="508" tIns="508" rIns="508" bIns="508" rtlCol="0" anchor="ctr"/>
          <a:lstStyle/>
          <a:p>
            <a:pPr algn="ctr" indent="0" marL="0">
              <a:buNone/>
            </a:pPr>
            <a:r>
              <a:rPr lang="en-US" sz="1050" b="1" dirty="0">
                <a:solidFill>
                  <a:schemeClr val="tx2"/>
                </a:solidFill>
              </a:rPr>
              <a:t>Data contract: 9 quality rules</a:t>
            </a:r>
            <a:endParaRPr lang="en-US" sz="1050" dirty="0"/>
          </a:p>
        </p:txBody>
      </p:sp>
      <p:sp>
        <p:nvSpPr>
          <p:cNvPr id="35" name="Text 33"/>
          <p:cNvSpPr txBox="1"/>
          <p:nvPr/>
        </p:nvSpPr>
        <p:spPr>
          <a:xfrm>
            <a:off x="4297680" y="4709160"/>
            <a:ext cx="1783080" cy="384048"/>
          </a:xfrm>
          <a:prstGeom prst="roundRect">
            <a:avLst>
              <a:gd name="adj" fmla="val 14286"/>
            </a:avLst>
          </a:prstGeom>
          <a:solidFill>
            <a:schemeClr val="bg2"/>
          </a:solidFill>
          <a:ln>
            <a:solidFill>
              <a:schemeClr val="bg2"/>
            </a:solidFill>
          </a:ln>
        </p:spPr>
        <p:txBody>
          <a:bodyPr wrap="square" lIns="508" tIns="508" rIns="508" bIns="508" rtlCol="0" anchor="ctr"/>
          <a:lstStyle/>
          <a:p>
            <a:pPr algn="ctr" indent="0" marL="0">
              <a:buNone/>
            </a:pPr>
            <a:r>
              <a:rPr lang="en-US" sz="1050" b="1" dirty="0">
                <a:solidFill>
                  <a:schemeClr val="tx2"/>
                </a:solidFill>
              </a:rPr>
              <a:t>Ask schema allow-list</a:t>
            </a:r>
            <a:endParaRPr lang="en-US" sz="1050" dirty="0"/>
          </a:p>
        </p:txBody>
      </p:sp>
      <p:sp>
        <p:nvSpPr>
          <p:cNvPr id="36" name="Text 34"/>
          <p:cNvSpPr txBox="1"/>
          <p:nvPr/>
        </p:nvSpPr>
        <p:spPr>
          <a:xfrm>
            <a:off x="548640" y="5166360"/>
            <a:ext cx="1783080" cy="384048"/>
          </a:xfrm>
          <a:prstGeom prst="roundRect">
            <a:avLst>
              <a:gd name="adj" fmla="val 14286"/>
            </a:avLst>
          </a:prstGeom>
          <a:solidFill>
            <a:schemeClr val="bg2"/>
          </a:solidFill>
          <a:ln>
            <a:solidFill>
              <a:schemeClr val="bg2"/>
            </a:solidFill>
          </a:ln>
        </p:spPr>
        <p:txBody>
          <a:bodyPr wrap="square" lIns="508" tIns="508" rIns="508" bIns="508" rtlCol="0" anchor="ctr"/>
          <a:lstStyle/>
          <a:p>
            <a:pPr algn="ctr" indent="0" marL="0">
              <a:buNone/>
            </a:pPr>
            <a:r>
              <a:rPr lang="en-US" sz="1050" b="1" dirty="0">
                <a:solidFill>
                  <a:schemeClr val="tx2"/>
                </a:solidFill>
              </a:rPr>
              <a:t>Mock data: 10 customers</a:t>
            </a:r>
            <a:endParaRPr lang="en-US" sz="1050" dirty="0"/>
          </a:p>
        </p:txBody>
      </p:sp>
      <p:sp>
        <p:nvSpPr>
          <p:cNvPr id="37" name="Text 35"/>
          <p:cNvSpPr txBox="1"/>
          <p:nvPr/>
        </p:nvSpPr>
        <p:spPr>
          <a:xfrm>
            <a:off x="2423160" y="5166360"/>
            <a:ext cx="1783080" cy="384048"/>
          </a:xfrm>
          <a:prstGeom prst="roundRect">
            <a:avLst>
              <a:gd name="adj" fmla="val 14286"/>
            </a:avLst>
          </a:prstGeom>
          <a:solidFill>
            <a:schemeClr val="bg2"/>
          </a:solidFill>
          <a:ln>
            <a:solidFill>
              <a:schemeClr val="bg2"/>
            </a:solidFill>
          </a:ln>
        </p:spPr>
        <p:txBody>
          <a:bodyPr wrap="square" lIns="508" tIns="508" rIns="508" bIns="508" rtlCol="0" anchor="ctr"/>
          <a:lstStyle/>
          <a:p>
            <a:pPr algn="ctr" indent="0" marL="0">
              <a:buNone/>
            </a:pPr>
            <a:r>
              <a:rPr lang="en-US" sz="1050" b="1" dirty="0">
                <a:solidFill>
                  <a:schemeClr val="tx2"/>
                </a:solidFill>
              </a:rPr>
              <a:t>Architecture document</a:t>
            </a:r>
            <a:endParaRPr lang="en-US" sz="1050" dirty="0"/>
          </a:p>
        </p:txBody>
      </p:sp>
      <p:sp>
        <p:nvSpPr>
          <p:cNvPr id="38" name="Text 36"/>
          <p:cNvSpPr txBox="1"/>
          <p:nvPr/>
        </p:nvSpPr>
        <p:spPr>
          <a:xfrm>
            <a:off x="4297680" y="5166360"/>
            <a:ext cx="1783080" cy="384048"/>
          </a:xfrm>
          <a:prstGeom prst="roundRect">
            <a:avLst>
              <a:gd name="adj" fmla="val 14286"/>
            </a:avLst>
          </a:prstGeom>
          <a:solidFill>
            <a:schemeClr val="bg2"/>
          </a:solidFill>
          <a:ln>
            <a:solidFill>
              <a:schemeClr val="bg2"/>
            </a:solidFill>
          </a:ln>
        </p:spPr>
        <p:txBody>
          <a:bodyPr wrap="square" lIns="508" tIns="508" rIns="508" bIns="508" rtlCol="0" anchor="ctr"/>
          <a:lstStyle/>
          <a:p>
            <a:pPr algn="ctr" indent="0" marL="0">
              <a:buNone/>
            </a:pPr>
            <a:r>
              <a:rPr lang="en-US" sz="1050" b="1" dirty="0">
                <a:solidFill>
                  <a:schemeClr val="tx2"/>
                </a:solidFill>
              </a:rPr>
              <a:t>AI-agent workflow + reporting</a:t>
            </a:r>
            <a:endParaRPr lang="en-US" sz="1050" dirty="0"/>
          </a:p>
        </p:txBody>
      </p:sp>
      <p:sp>
        <p:nvSpPr>
          <p:cNvPr id="39" name="Shape 37"/>
          <p:cNvSpPr/>
          <p:nvPr/>
        </p:nvSpPr>
        <p:spPr>
          <a:xfrm>
            <a:off x="6355080" y="4343400"/>
            <a:ext cx="5303520" cy="1874520"/>
          </a:xfrm>
          <a:prstGeom prst="roundRect">
            <a:avLst>
              <a:gd name="adj" fmla="val 3902"/>
            </a:avLst>
          </a:prstGeom>
          <a:solidFill>
            <a:schemeClr val="bg2"/>
          </a:solidFill>
          <a:ln w="12700">
            <a:solidFill>
              <a:schemeClr val="accent5"/>
            </a:solidFill>
            <a:prstDash val="solid"/>
          </a:ln>
        </p:spPr>
      </p:sp>
      <p:sp>
        <p:nvSpPr>
          <p:cNvPr id="40" name="Shape 38"/>
          <p:cNvSpPr/>
          <p:nvPr/>
        </p:nvSpPr>
        <p:spPr>
          <a:xfrm>
            <a:off x="6492240" y="4480560"/>
            <a:ext cx="457200" cy="457200"/>
          </a:xfrm>
          <a:prstGeom prst="ellipse">
            <a:avLst/>
          </a:prstGeom>
          <a:solidFill>
            <a:schemeClr val="accent1"/>
          </a:solidFill>
          <a:ln w="12700">
            <a:solidFill>
              <a:schemeClr val="accent1"/>
            </a:solidFill>
            <a:prstDash val="solid"/>
          </a:ln>
        </p:spPr>
      </p:sp>
      <p:pic>
        <p:nvPicPr>
          <p:cNvPr id="41" name="Image 0" descr="preencoded.png">    </p:cNvPr>
          <p:cNvPicPr>
            <a:picLocks noChangeAspect="1"/>
          </p:cNvPicPr>
          <p:nvPr/>
        </p:nvPicPr>
        <p:blipFill>
          <a:blip r:embed="rId1"/>
          <a:stretch>
            <a:fillRect/>
          </a:stretch>
        </p:blipFill>
        <p:spPr>
          <a:xfrm>
            <a:off x="6592824" y="4581144"/>
            <a:ext cx="256032" cy="256032"/>
          </a:xfrm>
          <a:prstGeom prst="rect">
            <a:avLst/>
          </a:prstGeom>
        </p:spPr>
      </p:pic>
      <p:sp>
        <p:nvSpPr>
          <p:cNvPr id="42" name="Text 39"/>
          <p:cNvSpPr txBox="1"/>
          <p:nvPr/>
        </p:nvSpPr>
        <p:spPr>
          <a:xfrm>
            <a:off x="7059168" y="4498848"/>
            <a:ext cx="4480560" cy="365760"/>
          </a:xfrm>
          <a:prstGeom prst="rect">
            <a:avLst/>
          </a:prstGeom>
          <a:noFill/>
          <a:ln/>
        </p:spPr>
        <p:txBody>
          <a:bodyPr wrap="square" lIns="635" tIns="635" rIns="635" bIns="635" rtlCol="0" anchor="t"/>
          <a:lstStyle/>
          <a:p>
            <a:pPr indent="0" marL="0">
              <a:buNone/>
            </a:pPr>
            <a:r>
              <a:rPr lang="en-US" sz="1400" b="1" dirty="0">
                <a:solidFill>
                  <a:schemeClr val="tx2"/>
                </a:solidFill>
              </a:rPr>
              <a:t>How we build</a:t>
            </a:r>
            <a:endParaRPr lang="en-US" sz="1400" dirty="0"/>
          </a:p>
        </p:txBody>
      </p:sp>
      <p:sp>
        <p:nvSpPr>
          <p:cNvPr id="43" name="Text 40"/>
          <p:cNvSpPr txBox="1"/>
          <p:nvPr/>
        </p:nvSpPr>
        <p:spPr>
          <a:xfrm>
            <a:off x="6492240" y="4937760"/>
            <a:ext cx="5029200" cy="1234440"/>
          </a:xfrm>
          <a:prstGeom prst="rect">
            <a:avLst/>
          </a:prstGeom>
          <a:noFill/>
          <a:ln/>
        </p:spPr>
        <p:txBody>
          <a:bodyPr wrap="square" lIns="635" tIns="635" rIns="635" bIns="635" rtlCol="0" anchor="t"/>
          <a:lstStyle/>
          <a:p>
            <a:pPr marL="342900" indent="-342900">
              <a:spcAft>
                <a:spcPts val="400"/>
              </a:spcAft>
              <a:buSzPct val="100000"/>
              <a:buChar char="•"/>
            </a:pPr>
            <a:r>
              <a:rPr lang="en-US" sz="1050" dirty="0">
                <a:solidFill>
                  <a:schemeClr val="tx1"/>
                </a:solidFill>
              </a:rPr>
              <a:t>Contract first: API, schema and mocks let UI and backend start in parallel at hour one</a:t>
            </a:r>
            <a:endParaRPr lang="en-US" sz="1050" dirty="0"/>
          </a:p>
          <a:p>
            <a:pPr marL="342900" indent="-342900">
              <a:spcAft>
                <a:spcPts val="400"/>
              </a:spcAft>
              <a:buSzPct val="100000"/>
              <a:buChar char="•"/>
            </a:pPr>
            <a:r>
              <a:rPr lang="en-US" sz="1050" dirty="0">
                <a:solidFill>
                  <a:schemeClr val="tx1"/>
                </a:solidFill>
              </a:rPr>
              <a:t>AI agents (Claude Code, Antigravity, ChatGPT) build in owned folders and post progress reports to the repo</a:t>
            </a:r>
            <a:endParaRPr lang="en-US" sz="1050" dirty="0"/>
          </a:p>
          <a:p>
            <a:pPr marL="342900" indent="-342900">
              <a:spcAft>
                <a:spcPts val="400"/>
              </a:spcAft>
              <a:buSzPct val="100000"/>
              <a:buChar char="•"/>
            </a:pPr>
            <a:r>
              <a:rPr lang="en-US" sz="1050" dirty="0">
                <a:solidFill>
                  <a:schemeClr val="tx1"/>
                </a:solidFill>
              </a:rPr>
              <a:t>A lead agent reviews the reports, checks the work and issues the next instructions</a:t>
            </a:r>
            <a:endParaRPr lang="en-US" sz="105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How we will prove it works</a:t>
            </a:r>
            <a:endParaRPr lang="en-US" sz="3000" dirty="0"/>
          </a:p>
        </p:txBody>
      </p:sp>
      <p:sp>
        <p:nvSpPr>
          <p:cNvPr id="3" name="Shape 1"/>
          <p:cNvSpPr/>
          <p:nvPr/>
        </p:nvSpPr>
        <p:spPr>
          <a:xfrm>
            <a:off x="548640" y="1280160"/>
            <a:ext cx="2103120" cy="1920240"/>
          </a:xfrm>
          <a:prstGeom prst="roundRect">
            <a:avLst>
              <a:gd name="adj" fmla="val 3810"/>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4" name="Text 2"/>
          <p:cNvSpPr txBox="1"/>
          <p:nvPr/>
        </p:nvSpPr>
        <p:spPr>
          <a:xfrm>
            <a:off x="685800" y="1371600"/>
            <a:ext cx="1828800" cy="777240"/>
          </a:xfrm>
          <a:prstGeom prst="rect">
            <a:avLst/>
          </a:prstGeom>
          <a:noFill/>
          <a:ln/>
        </p:spPr>
        <p:txBody>
          <a:bodyPr wrap="square" lIns="635" tIns="635" rIns="635" bIns="635" rtlCol="0" anchor="ctr"/>
          <a:lstStyle/>
          <a:p>
            <a:pPr algn="ctr" indent="0" marL="0">
              <a:buNone/>
            </a:pPr>
            <a:r>
              <a:rPr lang="en-US" sz="3400" b="1" dirty="0">
                <a:solidFill>
                  <a:schemeClr val="accent1"/>
                </a:solidFill>
                <a:latin typeface="Cambria" pitchFamily="34" charset="0"/>
                <a:ea typeface="Cambria" pitchFamily="34" charset="-122"/>
                <a:cs typeface="Cambria" pitchFamily="34" charset="-120"/>
              </a:rPr>
              <a:t>≥ 85%</a:t>
            </a:r>
            <a:endParaRPr lang="en-US" sz="3400" dirty="0"/>
          </a:p>
        </p:txBody>
      </p:sp>
      <p:sp>
        <p:nvSpPr>
          <p:cNvPr id="5" name="Text 3"/>
          <p:cNvSpPr txBox="1"/>
          <p:nvPr/>
        </p:nvSpPr>
        <p:spPr>
          <a:xfrm>
            <a:off x="685800" y="2176272"/>
            <a:ext cx="1828800" cy="457200"/>
          </a:xfrm>
          <a:prstGeom prst="rect">
            <a:avLst/>
          </a:prstGeom>
          <a:noFill/>
          <a:ln/>
        </p:spPr>
        <p:txBody>
          <a:bodyPr wrap="square" lIns="635" tIns="635" rIns="635" bIns="635" rtlCol="0" anchor="t"/>
          <a:lstStyle/>
          <a:p>
            <a:pPr algn="ctr" indent="0" marL="0">
              <a:buNone/>
            </a:pPr>
            <a:r>
              <a:rPr lang="en-US" sz="1200" b="1" dirty="0">
                <a:solidFill>
                  <a:schemeClr val="tx2"/>
                </a:solidFill>
              </a:rPr>
              <a:t>Ask benchmark pass rate</a:t>
            </a:r>
            <a:endParaRPr lang="en-US" sz="1200" dirty="0"/>
          </a:p>
        </p:txBody>
      </p:sp>
      <p:sp>
        <p:nvSpPr>
          <p:cNvPr id="6" name="Text 4"/>
          <p:cNvSpPr txBox="1"/>
          <p:nvPr/>
        </p:nvSpPr>
        <p:spPr>
          <a:xfrm>
            <a:off x="685800" y="2633472"/>
            <a:ext cx="1828800" cy="457200"/>
          </a:xfrm>
          <a:prstGeom prst="rect">
            <a:avLst/>
          </a:prstGeom>
          <a:noFill/>
          <a:ln/>
        </p:spPr>
        <p:txBody>
          <a:bodyPr wrap="square" lIns="635" tIns="635" rIns="635" bIns="635" rtlCol="0" anchor="t"/>
          <a:lstStyle/>
          <a:p>
            <a:pPr algn="ctr" indent="0" marL="0">
              <a:buNone/>
            </a:pPr>
            <a:r>
              <a:rPr lang="en-US" sz="1000" dirty="0">
                <a:solidFill>
                  <a:schemeClr val="accent4"/>
                </a:solidFill>
              </a:rPr>
              <a:t>20+ questions on real data</a:t>
            </a:r>
            <a:endParaRPr lang="en-US" sz="1000" dirty="0"/>
          </a:p>
        </p:txBody>
      </p:sp>
      <p:sp>
        <p:nvSpPr>
          <p:cNvPr id="7" name="Shape 5"/>
          <p:cNvSpPr/>
          <p:nvPr/>
        </p:nvSpPr>
        <p:spPr>
          <a:xfrm>
            <a:off x="2788920" y="1280160"/>
            <a:ext cx="2103120" cy="1920240"/>
          </a:xfrm>
          <a:prstGeom prst="roundRect">
            <a:avLst>
              <a:gd name="adj" fmla="val 3810"/>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8" name="Text 6"/>
          <p:cNvSpPr txBox="1"/>
          <p:nvPr/>
        </p:nvSpPr>
        <p:spPr>
          <a:xfrm>
            <a:off x="2926080" y="1371600"/>
            <a:ext cx="1828800" cy="777240"/>
          </a:xfrm>
          <a:prstGeom prst="rect">
            <a:avLst/>
          </a:prstGeom>
          <a:noFill/>
          <a:ln/>
        </p:spPr>
        <p:txBody>
          <a:bodyPr wrap="square" lIns="635" tIns="635" rIns="635" bIns="635" rtlCol="0" anchor="ctr"/>
          <a:lstStyle/>
          <a:p>
            <a:pPr algn="ctr" indent="0" marL="0">
              <a:buNone/>
            </a:pPr>
            <a:r>
              <a:rPr lang="en-US" sz="3400" b="1" dirty="0">
                <a:solidFill>
                  <a:schemeClr val="accent1"/>
                </a:solidFill>
                <a:latin typeface="Cambria" pitchFamily="34" charset="0"/>
                <a:ea typeface="Cambria" pitchFamily="34" charset="-122"/>
                <a:cs typeface="Cambria" pitchFamily="34" charset="-120"/>
              </a:rPr>
              <a:t>100%</a:t>
            </a:r>
            <a:endParaRPr lang="en-US" sz="3400" dirty="0"/>
          </a:p>
        </p:txBody>
      </p:sp>
      <p:sp>
        <p:nvSpPr>
          <p:cNvPr id="9" name="Text 7"/>
          <p:cNvSpPr txBox="1"/>
          <p:nvPr/>
        </p:nvSpPr>
        <p:spPr>
          <a:xfrm>
            <a:off x="2926080" y="2176272"/>
            <a:ext cx="1828800" cy="457200"/>
          </a:xfrm>
          <a:prstGeom prst="rect">
            <a:avLst/>
          </a:prstGeom>
          <a:noFill/>
          <a:ln/>
        </p:spPr>
        <p:txBody>
          <a:bodyPr wrap="square" lIns="635" tIns="635" rIns="635" bIns="635" rtlCol="0" anchor="t"/>
          <a:lstStyle/>
          <a:p>
            <a:pPr algn="ctr" indent="0" marL="0">
              <a:buNone/>
            </a:pPr>
            <a:r>
              <a:rPr lang="en-US" sz="1200" b="1" dirty="0">
                <a:solidFill>
                  <a:schemeClr val="tx2"/>
                </a:solidFill>
              </a:rPr>
              <a:t>must-refuse questions refused</a:t>
            </a:r>
            <a:endParaRPr lang="en-US" sz="1200" dirty="0"/>
          </a:p>
        </p:txBody>
      </p:sp>
      <p:sp>
        <p:nvSpPr>
          <p:cNvPr id="10" name="Text 8"/>
          <p:cNvSpPr txBox="1"/>
          <p:nvPr/>
        </p:nvSpPr>
        <p:spPr>
          <a:xfrm>
            <a:off x="2926080" y="2633472"/>
            <a:ext cx="1828800" cy="457200"/>
          </a:xfrm>
          <a:prstGeom prst="rect">
            <a:avLst/>
          </a:prstGeom>
          <a:noFill/>
          <a:ln/>
        </p:spPr>
        <p:txBody>
          <a:bodyPr wrap="square" lIns="635" tIns="635" rIns="635" bIns="635" rtlCol="0" anchor="t"/>
          <a:lstStyle/>
          <a:p>
            <a:pPr algn="ctr" indent="0" marL="0">
              <a:buNone/>
            </a:pPr>
            <a:r>
              <a:rPr lang="en-US" sz="1000" dirty="0">
                <a:solidFill>
                  <a:schemeClr val="accent4"/>
                </a:solidFill>
              </a:rPr>
              <a:t>PII, protected, writes, injection</a:t>
            </a:r>
            <a:endParaRPr lang="en-US" sz="1000" dirty="0"/>
          </a:p>
        </p:txBody>
      </p:sp>
      <p:sp>
        <p:nvSpPr>
          <p:cNvPr id="11" name="Shape 9"/>
          <p:cNvSpPr/>
          <p:nvPr/>
        </p:nvSpPr>
        <p:spPr>
          <a:xfrm>
            <a:off x="5029200" y="1280160"/>
            <a:ext cx="2103120" cy="1920240"/>
          </a:xfrm>
          <a:prstGeom prst="roundRect">
            <a:avLst>
              <a:gd name="adj" fmla="val 3810"/>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2" name="Text 10"/>
          <p:cNvSpPr txBox="1"/>
          <p:nvPr/>
        </p:nvSpPr>
        <p:spPr>
          <a:xfrm>
            <a:off x="5166360" y="1371600"/>
            <a:ext cx="1828800" cy="777240"/>
          </a:xfrm>
          <a:prstGeom prst="rect">
            <a:avLst/>
          </a:prstGeom>
          <a:noFill/>
          <a:ln/>
        </p:spPr>
        <p:txBody>
          <a:bodyPr wrap="square" lIns="635" tIns="635" rIns="635" bIns="635" rtlCol="0" anchor="ctr"/>
          <a:lstStyle/>
          <a:p>
            <a:pPr algn="ctr" indent="0" marL="0">
              <a:buNone/>
            </a:pPr>
            <a:r>
              <a:rPr lang="en-US" sz="3400" b="1" dirty="0">
                <a:solidFill>
                  <a:schemeClr val="accent1"/>
                </a:solidFill>
                <a:latin typeface="Cambria" pitchFamily="34" charset="0"/>
                <a:ea typeface="Cambria" pitchFamily="34" charset="-122"/>
                <a:cs typeface="Cambria" pitchFamily="34" charset="-120"/>
              </a:rPr>
              <a:t>≥ 0.90</a:t>
            </a:r>
            <a:endParaRPr lang="en-US" sz="3400" dirty="0"/>
          </a:p>
        </p:txBody>
      </p:sp>
      <p:sp>
        <p:nvSpPr>
          <p:cNvPr id="13" name="Text 11"/>
          <p:cNvSpPr txBox="1"/>
          <p:nvPr/>
        </p:nvSpPr>
        <p:spPr>
          <a:xfrm>
            <a:off x="5166360" y="2176272"/>
            <a:ext cx="1828800" cy="457200"/>
          </a:xfrm>
          <a:prstGeom prst="rect">
            <a:avLst/>
          </a:prstGeom>
          <a:noFill/>
          <a:ln/>
        </p:spPr>
        <p:txBody>
          <a:bodyPr wrap="square" lIns="635" tIns="635" rIns="635" bIns="635" rtlCol="0" anchor="t"/>
          <a:lstStyle/>
          <a:p>
            <a:pPr algn="ctr" indent="0" marL="0">
              <a:buNone/>
            </a:pPr>
            <a:r>
              <a:rPr lang="en-US" sz="1200" b="1" dirty="0">
                <a:solidFill>
                  <a:schemeClr val="tx2"/>
                </a:solidFill>
              </a:rPr>
              <a:t>recall on severe hardship</a:t>
            </a:r>
            <a:endParaRPr lang="en-US" sz="1200" dirty="0"/>
          </a:p>
        </p:txBody>
      </p:sp>
      <p:sp>
        <p:nvSpPr>
          <p:cNvPr id="14" name="Text 12"/>
          <p:cNvSpPr txBox="1"/>
          <p:nvPr/>
        </p:nvSpPr>
        <p:spPr>
          <a:xfrm>
            <a:off x="5166360" y="2633472"/>
            <a:ext cx="1828800" cy="457200"/>
          </a:xfrm>
          <a:prstGeom prst="rect">
            <a:avLst/>
          </a:prstGeom>
          <a:noFill/>
          <a:ln/>
        </p:spPr>
        <p:txBody>
          <a:bodyPr wrap="square" lIns="635" tIns="635" rIns="635" bIns="635" rtlCol="0" anchor="t"/>
          <a:lstStyle/>
          <a:p>
            <a:pPr algn="ctr" indent="0" marL="0">
              <a:buNone/>
            </a:pPr>
            <a:r>
              <a:rPr lang="en-US" sz="1000" dirty="0">
                <a:solidFill>
                  <a:schemeClr val="accent4"/>
                </a:solidFill>
              </a:rPr>
              <a:t>vs hand-labelled notes (target)</a:t>
            </a:r>
            <a:endParaRPr lang="en-US" sz="1000" dirty="0"/>
          </a:p>
        </p:txBody>
      </p:sp>
      <p:sp>
        <p:nvSpPr>
          <p:cNvPr id="15" name="Shape 13"/>
          <p:cNvSpPr/>
          <p:nvPr/>
        </p:nvSpPr>
        <p:spPr>
          <a:xfrm>
            <a:off x="7269480" y="1280160"/>
            <a:ext cx="2103120" cy="1920240"/>
          </a:xfrm>
          <a:prstGeom prst="roundRect">
            <a:avLst>
              <a:gd name="adj" fmla="val 3810"/>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7406640" y="1371600"/>
            <a:ext cx="1828800" cy="777240"/>
          </a:xfrm>
          <a:prstGeom prst="rect">
            <a:avLst/>
          </a:prstGeom>
          <a:noFill/>
          <a:ln/>
        </p:spPr>
        <p:txBody>
          <a:bodyPr wrap="square" lIns="635" tIns="635" rIns="635" bIns="635" rtlCol="0" anchor="ctr"/>
          <a:lstStyle/>
          <a:p>
            <a:pPr algn="ctr" indent="0" marL="0">
              <a:buNone/>
            </a:pPr>
            <a:r>
              <a:rPr lang="en-US" sz="3400" b="1" dirty="0">
                <a:solidFill>
                  <a:schemeClr val="accent1"/>
                </a:solidFill>
                <a:latin typeface="Cambria" pitchFamily="34" charset="0"/>
                <a:ea typeface="Cambria" pitchFamily="34" charset="-122"/>
                <a:cs typeface="Cambria" pitchFamily="34" charset="-120"/>
              </a:rPr>
              <a:t>AUC</a:t>
            </a:r>
            <a:endParaRPr lang="en-US" sz="3400" dirty="0"/>
          </a:p>
        </p:txBody>
      </p:sp>
      <p:sp>
        <p:nvSpPr>
          <p:cNvPr id="17" name="Text 15"/>
          <p:cNvSpPr txBox="1"/>
          <p:nvPr/>
        </p:nvSpPr>
        <p:spPr>
          <a:xfrm>
            <a:off x="7406640" y="2176272"/>
            <a:ext cx="1828800" cy="457200"/>
          </a:xfrm>
          <a:prstGeom prst="rect">
            <a:avLst/>
          </a:prstGeom>
          <a:noFill/>
          <a:ln/>
        </p:spPr>
        <p:txBody>
          <a:bodyPr wrap="square" lIns="635" tIns="635" rIns="635" bIns="635" rtlCol="0" anchor="t"/>
          <a:lstStyle/>
          <a:p>
            <a:pPr algn="ctr" indent="0" marL="0">
              <a:buNone/>
            </a:pPr>
            <a:r>
              <a:rPr lang="en-US" sz="1200" b="1" dirty="0">
                <a:solidFill>
                  <a:schemeClr val="tx2"/>
                </a:solidFill>
              </a:rPr>
              <a:t>+ calibration plot</a:t>
            </a:r>
            <a:endParaRPr lang="en-US" sz="1200" dirty="0"/>
          </a:p>
        </p:txBody>
      </p:sp>
      <p:sp>
        <p:nvSpPr>
          <p:cNvPr id="18" name="Text 16"/>
          <p:cNvSpPr txBox="1"/>
          <p:nvPr/>
        </p:nvSpPr>
        <p:spPr>
          <a:xfrm>
            <a:off x="7406640" y="2633472"/>
            <a:ext cx="1828800" cy="457200"/>
          </a:xfrm>
          <a:prstGeom prst="rect">
            <a:avLst/>
          </a:prstGeom>
          <a:noFill/>
          <a:ln/>
        </p:spPr>
        <p:txBody>
          <a:bodyPr wrap="square" lIns="635" tIns="635" rIns="635" bIns="635" rtlCol="0" anchor="t"/>
          <a:lstStyle/>
          <a:p>
            <a:pPr algn="ctr" indent="0" marL="0">
              <a:buNone/>
            </a:pPr>
            <a:r>
              <a:rPr lang="en-US" sz="1000" dirty="0">
                <a:solidFill>
                  <a:schemeClr val="accent4"/>
                </a:solidFill>
              </a:rPr>
              <a:t>break-risk model, time-split test</a:t>
            </a:r>
            <a:endParaRPr lang="en-US" sz="1000" dirty="0"/>
          </a:p>
        </p:txBody>
      </p:sp>
      <p:sp>
        <p:nvSpPr>
          <p:cNvPr id="19" name="Shape 17"/>
          <p:cNvSpPr/>
          <p:nvPr/>
        </p:nvSpPr>
        <p:spPr>
          <a:xfrm>
            <a:off x="9509760" y="1280160"/>
            <a:ext cx="2103120" cy="1920240"/>
          </a:xfrm>
          <a:prstGeom prst="roundRect">
            <a:avLst>
              <a:gd name="adj" fmla="val 3810"/>
            </a:avLst>
          </a:prstGeom>
          <a:solidFill>
            <a:schemeClr val="bg1"/>
          </a:solidFill>
          <a:ln w="12700">
            <a:solidFill>
              <a:schemeClr val="bg2"/>
            </a:solidFill>
            <a:prstDash val="solid"/>
          </a:ln>
          <a:effectLst>
            <a:outerShdw sx="100000" sy="100000" kx="0" ky="0" algn="bl" rotWithShape="0" blurRad="101600" dist="25400" dir="5400000">
              <a:srgbClr val="000000">
                <a:alpha val="12000"/>
              </a:srgbClr>
            </a:outerShdw>
          </a:effectLst>
        </p:spPr>
      </p:sp>
      <p:sp>
        <p:nvSpPr>
          <p:cNvPr id="20" name="Text 18"/>
          <p:cNvSpPr txBox="1"/>
          <p:nvPr/>
        </p:nvSpPr>
        <p:spPr>
          <a:xfrm>
            <a:off x="9646920" y="1371600"/>
            <a:ext cx="1828800" cy="777240"/>
          </a:xfrm>
          <a:prstGeom prst="rect">
            <a:avLst/>
          </a:prstGeom>
          <a:noFill/>
          <a:ln/>
        </p:spPr>
        <p:txBody>
          <a:bodyPr wrap="square" lIns="635" tIns="635" rIns="635" bIns="635" rtlCol="0" anchor="ctr"/>
          <a:lstStyle/>
          <a:p>
            <a:pPr algn="ctr" indent="0" marL="0">
              <a:buNone/>
            </a:pPr>
            <a:r>
              <a:rPr lang="en-US" sz="3400" b="1" dirty="0">
                <a:solidFill>
                  <a:schemeClr val="accent1"/>
                </a:solidFill>
                <a:latin typeface="Cambria" pitchFamily="34" charset="0"/>
                <a:ea typeface="Cambria" pitchFamily="34" charset="-122"/>
                <a:cs typeface="Cambria" pitchFamily="34" charset="-120"/>
              </a:rPr>
              <a:t>9 rules</a:t>
            </a:r>
            <a:endParaRPr lang="en-US" sz="3400" dirty="0"/>
          </a:p>
        </p:txBody>
      </p:sp>
      <p:sp>
        <p:nvSpPr>
          <p:cNvPr id="21" name="Text 19"/>
          <p:cNvSpPr txBox="1"/>
          <p:nvPr/>
        </p:nvSpPr>
        <p:spPr>
          <a:xfrm>
            <a:off x="9646920" y="2176272"/>
            <a:ext cx="1828800" cy="457200"/>
          </a:xfrm>
          <a:prstGeom prst="rect">
            <a:avLst/>
          </a:prstGeom>
          <a:noFill/>
          <a:ln/>
        </p:spPr>
        <p:txBody>
          <a:bodyPr wrap="square" lIns="635" tIns="635" rIns="635" bIns="635" rtlCol="0" anchor="t"/>
          <a:lstStyle/>
          <a:p>
            <a:pPr algn="ctr" indent="0" marL="0">
              <a:buNone/>
            </a:pPr>
            <a:r>
              <a:rPr lang="en-US" sz="1200" b="1" dirty="0">
                <a:solidFill>
                  <a:schemeClr val="tx2"/>
                </a:solidFill>
              </a:rPr>
              <a:t>data quality checked</a:t>
            </a:r>
            <a:endParaRPr lang="en-US" sz="1200" dirty="0"/>
          </a:p>
        </p:txBody>
      </p:sp>
      <p:sp>
        <p:nvSpPr>
          <p:cNvPr id="22" name="Text 20"/>
          <p:cNvSpPr txBox="1"/>
          <p:nvPr/>
        </p:nvSpPr>
        <p:spPr>
          <a:xfrm>
            <a:off x="9646920" y="2633472"/>
            <a:ext cx="1828800" cy="457200"/>
          </a:xfrm>
          <a:prstGeom prst="rect">
            <a:avLst/>
          </a:prstGeom>
          <a:noFill/>
          <a:ln/>
        </p:spPr>
        <p:txBody>
          <a:bodyPr wrap="square" lIns="635" tIns="635" rIns="635" bIns="635" rtlCol="0" anchor="t"/>
          <a:lstStyle/>
          <a:p>
            <a:pPr algn="ctr" indent="0" marL="0">
              <a:buNone/>
            </a:pPr>
            <a:r>
              <a:rPr lang="en-US" sz="1000" dirty="0">
                <a:solidFill>
                  <a:schemeClr val="accent4"/>
                </a:solidFill>
              </a:rPr>
              <a:t>on every pipeline run</a:t>
            </a:r>
            <a:endParaRPr lang="en-US" sz="1000" dirty="0"/>
          </a:p>
        </p:txBody>
      </p:sp>
      <p:sp>
        <p:nvSpPr>
          <p:cNvPr id="23" name="Text 21"/>
          <p:cNvSpPr txBox="1"/>
          <p:nvPr/>
        </p:nvSpPr>
        <p:spPr>
          <a:xfrm>
            <a:off x="548640" y="3291840"/>
            <a:ext cx="11064240" cy="320040"/>
          </a:xfrm>
          <a:prstGeom prst="rect">
            <a:avLst/>
          </a:prstGeom>
          <a:noFill/>
          <a:ln/>
        </p:spPr>
        <p:txBody>
          <a:bodyPr wrap="square" lIns="635" tIns="635" rIns="635" bIns="635" rtlCol="0" anchor="t"/>
          <a:lstStyle/>
          <a:p>
            <a:pPr indent="0" marL="0">
              <a:buNone/>
            </a:pPr>
            <a:r>
              <a:rPr lang="en-US" sz="1100" i="1" dirty="0">
                <a:solidFill>
                  <a:schemeClr val="accent4"/>
                </a:solidFill>
              </a:rPr>
              <a:t>These are targets we will measure and report honestly, including misses.</a:t>
            </a:r>
            <a:endParaRPr lang="en-US" sz="1100" dirty="0"/>
          </a:p>
        </p:txBody>
      </p:sp>
      <p:sp>
        <p:nvSpPr>
          <p:cNvPr id="24" name="Shape 22"/>
          <p:cNvSpPr/>
          <p:nvPr/>
        </p:nvSpPr>
        <p:spPr>
          <a:xfrm>
            <a:off x="548640" y="3749040"/>
            <a:ext cx="5486400" cy="2468880"/>
          </a:xfrm>
          <a:prstGeom prst="roundRect">
            <a:avLst>
              <a:gd name="adj" fmla="val 2963"/>
            </a:avLst>
          </a:prstGeom>
          <a:solidFill>
            <a:schemeClr val="bg2"/>
          </a:solidFill>
          <a:ln w="19050">
            <a:solidFill>
              <a:schemeClr val="accent1"/>
            </a:solidFill>
            <a:prstDash val="solid"/>
          </a:ln>
        </p:spPr>
      </p:sp>
      <p:sp>
        <p:nvSpPr>
          <p:cNvPr id="25" name="Text 23"/>
          <p:cNvSpPr txBox="1"/>
          <p:nvPr/>
        </p:nvSpPr>
        <p:spPr>
          <a:xfrm>
            <a:off x="731520" y="3840480"/>
            <a:ext cx="5120640" cy="365760"/>
          </a:xfrm>
          <a:prstGeom prst="rect">
            <a:avLst/>
          </a:prstGeom>
          <a:noFill/>
          <a:ln/>
        </p:spPr>
        <p:txBody>
          <a:bodyPr wrap="square" lIns="635" tIns="635" rIns="635" bIns="635" rtlCol="0" anchor="t"/>
          <a:lstStyle/>
          <a:p>
            <a:pPr indent="0" marL="0">
              <a:buNone/>
            </a:pPr>
            <a:r>
              <a:rPr lang="en-US" sz="1500" b="1" dirty="0">
                <a:solidFill>
                  <a:schemeClr val="accent1"/>
                </a:solidFill>
              </a:rPr>
              <a:t>MVP: must ship</a:t>
            </a:r>
            <a:endParaRPr lang="en-US" sz="1500" dirty="0"/>
          </a:p>
        </p:txBody>
      </p:sp>
      <p:sp>
        <p:nvSpPr>
          <p:cNvPr id="26" name="Text 24"/>
          <p:cNvSpPr txBox="1"/>
          <p:nvPr/>
        </p:nvSpPr>
        <p:spPr>
          <a:xfrm>
            <a:off x="731520" y="4251960"/>
            <a:ext cx="5120640" cy="1920240"/>
          </a:xfrm>
          <a:prstGeom prst="rect">
            <a:avLst/>
          </a:prstGeom>
          <a:noFill/>
          <a:ln/>
        </p:spPr>
        <p:txBody>
          <a:bodyPr wrap="square" lIns="635" tIns="635" rIns="635" bIns="635" rtlCol="0" anchor="t"/>
          <a:lstStyle/>
          <a:p>
            <a:pPr marL="342900" indent="-342900">
              <a:spcAft>
                <a:spcPts val="600"/>
              </a:spcAft>
              <a:buSzPct val="100000"/>
              <a:buChar char="•"/>
            </a:pPr>
            <a:r>
              <a:rPr lang="en-US" sz="1300" dirty="0">
                <a:solidFill>
                  <a:schemeClr val="tx1"/>
                </a:solidFill>
              </a:rPr>
              <a:t>C360 with identity resolution, trust score, contract and DQ report</a:t>
            </a:r>
            <a:endParaRPr lang="en-US" sz="1300" dirty="0"/>
          </a:p>
          <a:p>
            <a:pPr marL="342900" indent="-342900">
              <a:spcAft>
                <a:spcPts val="600"/>
              </a:spcAft>
              <a:buSzPct val="100000"/>
              <a:buChar char="•"/>
            </a:pPr>
            <a:r>
              <a:rPr lang="en-US" sz="1300" dirty="0">
                <a:solidFill>
                  <a:schemeClr val="tx1"/>
                </a:solidFill>
              </a:rPr>
              <a:t>Ask over governed metrics, SQL shown, refusals, RAG citations</a:t>
            </a:r>
            <a:endParaRPr lang="en-US" sz="1300" dirty="0"/>
          </a:p>
          <a:p>
            <a:pPr marL="342900" indent="-342900">
              <a:spcAft>
                <a:spcPts val="600"/>
              </a:spcAft>
              <a:buSzPct val="100000"/>
              <a:buChar char="•"/>
            </a:pPr>
            <a:r>
              <a:rPr lang="en-US" sz="1300" dirty="0">
                <a:solidFill>
                  <a:schemeClr val="tx1"/>
                </a:solidFill>
              </a:rPr>
              <a:t>NBA with risk, hardship and affordability, plain-English reasons</a:t>
            </a:r>
            <a:endParaRPr lang="en-US" sz="1300" dirty="0"/>
          </a:p>
          <a:p>
            <a:pPr marL="342900" indent="-342900">
              <a:spcAft>
                <a:spcPts val="600"/>
              </a:spcAft>
              <a:buSzPct val="100000"/>
              <a:buChar char="•"/>
            </a:pPr>
            <a:r>
              <a:rPr lang="en-US" sz="1300" dirty="0">
                <a:solidFill>
                  <a:schemeClr val="tx1"/>
                </a:solidFill>
              </a:rPr>
              <a:t>Approve / override with reason, specialist-only hardship, audit log</a:t>
            </a:r>
            <a:endParaRPr lang="en-US" sz="1300" dirty="0"/>
          </a:p>
          <a:p>
            <a:pPr marL="342900" indent="-342900">
              <a:spcAft>
                <a:spcPts val="600"/>
              </a:spcAft>
              <a:buSzPct val="100000"/>
              <a:buChar char="•"/>
            </a:pPr>
            <a:r>
              <a:rPr lang="en-US" sz="1300" dirty="0">
                <a:solidFill>
                  <a:schemeClr val="tx1"/>
                </a:solidFill>
              </a:rPr>
              <a:t>Live re-decisioning on a new transcript</a:t>
            </a:r>
            <a:endParaRPr lang="en-US" sz="1300" dirty="0"/>
          </a:p>
        </p:txBody>
      </p:sp>
      <p:sp>
        <p:nvSpPr>
          <p:cNvPr id="27" name="Shape 25"/>
          <p:cNvSpPr/>
          <p:nvPr/>
        </p:nvSpPr>
        <p:spPr>
          <a:xfrm>
            <a:off x="6172200" y="3749040"/>
            <a:ext cx="5486400" cy="2468880"/>
          </a:xfrm>
          <a:prstGeom prst="roundRect">
            <a:avLst>
              <a:gd name="adj" fmla="val 2963"/>
            </a:avLst>
          </a:prstGeom>
          <a:solidFill>
            <a:schemeClr val="bg1"/>
          </a:solidFill>
          <a:ln w="12700">
            <a:solidFill>
              <a:schemeClr val="accent5"/>
            </a:solidFill>
            <a:prstDash val="solid"/>
          </a:ln>
        </p:spPr>
      </p:sp>
      <p:sp>
        <p:nvSpPr>
          <p:cNvPr id="28" name="Text 26"/>
          <p:cNvSpPr txBox="1"/>
          <p:nvPr/>
        </p:nvSpPr>
        <p:spPr>
          <a:xfrm>
            <a:off x="6355080" y="3840480"/>
            <a:ext cx="5120640" cy="365760"/>
          </a:xfrm>
          <a:prstGeom prst="rect">
            <a:avLst/>
          </a:prstGeom>
          <a:noFill/>
          <a:ln/>
        </p:spPr>
        <p:txBody>
          <a:bodyPr wrap="square" lIns="635" tIns="635" rIns="635" bIns="635" rtlCol="0" anchor="t"/>
          <a:lstStyle/>
          <a:p>
            <a:pPr indent="0" marL="0">
              <a:buNone/>
            </a:pPr>
            <a:r>
              <a:rPr lang="en-US" sz="1500" b="1" dirty="0">
                <a:solidFill>
                  <a:schemeClr val="accent4"/>
                </a:solidFill>
              </a:rPr>
              <a:t>Stretch: cut first if time is short, in this order</a:t>
            </a:r>
            <a:endParaRPr lang="en-US" sz="1500" dirty="0"/>
          </a:p>
        </p:txBody>
      </p:sp>
      <p:sp>
        <p:nvSpPr>
          <p:cNvPr id="29" name="Text 27"/>
          <p:cNvSpPr txBox="1"/>
          <p:nvPr/>
        </p:nvSpPr>
        <p:spPr>
          <a:xfrm>
            <a:off x="6355080" y="4251960"/>
            <a:ext cx="5120640" cy="1920240"/>
          </a:xfrm>
          <a:prstGeom prst="rect">
            <a:avLst/>
          </a:prstGeom>
          <a:noFill/>
          <a:ln/>
        </p:spPr>
        <p:txBody>
          <a:bodyPr wrap="square" lIns="635" tIns="635" rIns="635" bIns="635" rtlCol="0" anchor="t"/>
          <a:lstStyle/>
          <a:p>
            <a:pPr marL="342900" indent="-342900">
              <a:spcAft>
                <a:spcPts val="600"/>
              </a:spcAft>
              <a:buSzPct val="100000"/>
              <a:buFont typeface="+mj-lt"/>
              <a:buAutoNum type="arabicPeriod" startAt="1"/>
            </a:pPr>
            <a:r>
              <a:rPr lang="en-US" sz="1300" dirty="0">
                <a:solidFill>
                  <a:schemeClr val="tx1"/>
                </a:solidFill>
              </a:rPr>
              <a:t>Counterfactual explanations</a:t>
            </a:r>
            <a:endParaRPr lang="en-US" sz="1300" dirty="0"/>
          </a:p>
          <a:p>
            <a:pPr marL="342900" indent="-342900">
              <a:spcAft>
                <a:spcPts val="600"/>
              </a:spcAft>
              <a:buSzPct val="100000"/>
              <a:buFont typeface="+mj-lt"/>
              <a:buAutoNum type="arabicPeriod" startAt="1"/>
            </a:pPr>
            <a:r>
              <a:rPr lang="en-US" sz="1300" dirty="0">
                <a:solidFill>
                  <a:schemeClr val="tx1"/>
                </a:solidFill>
              </a:rPr>
              <a:t>Override insights (keep the reason codes)</a:t>
            </a:r>
            <a:endParaRPr lang="en-US" sz="1300" dirty="0"/>
          </a:p>
          <a:p>
            <a:pPr marL="342900" indent="-342900">
              <a:spcAft>
                <a:spcPts val="600"/>
              </a:spcAft>
              <a:buSzPct val="100000"/>
              <a:buFont typeface="+mj-lt"/>
              <a:buAutoNum type="arabicPeriod" startAt="1"/>
            </a:pPr>
            <a:r>
              <a:rPr lang="en-US" sz="1300" dirty="0">
                <a:solidFill>
                  <a:schemeClr val="tx1"/>
                </a:solidFill>
              </a:rPr>
              <a:t>Free-form SQL fallback in Ask</a:t>
            </a:r>
            <a:endParaRPr lang="en-US" sz="1300" dirty="0"/>
          </a:p>
          <a:p>
            <a:pPr marL="342900" indent="-342900">
              <a:spcAft>
                <a:spcPts val="600"/>
              </a:spcAft>
              <a:buSzPct val="100000"/>
              <a:buFont typeface="+mj-lt"/>
              <a:buAutoNum type="arabicPeriod" startAt="1"/>
            </a:pPr>
            <a:r>
              <a:rPr lang="en-US" sz="1300" dirty="0">
                <a:solidFill>
                  <a:schemeClr val="tx1"/>
                </a:solidFill>
              </a:rPr>
              <a:t>Channel and timing model beyond response rates</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777240"/>
          </a:xfrm>
          <a:prstGeom prst="rect">
            <a:avLst/>
          </a:prstGeom>
          <a:noFill/>
          <a:ln/>
        </p:spPr>
        <p:txBody>
          <a:bodyPr wrap="square" lIns="0" tIns="0" rIns="0" bIns="0" rtlCol="0" anchor="ctr"/>
          <a:lstStyle/>
          <a:p>
            <a:pPr indent="0" marL="0">
              <a:buNone/>
            </a:pPr>
            <a:r>
              <a:rPr lang="en-US" sz="3000" b="1" dirty="0">
                <a:solidFill>
                  <a:schemeClr val="tx2"/>
                </a:solidFill>
                <a:latin typeface="Cambria" pitchFamily="34" charset="0"/>
                <a:ea typeface="Cambria" pitchFamily="34" charset="-122"/>
                <a:cs typeface="Cambria" pitchFamily="34" charset="-120"/>
              </a:rPr>
              <a:t>Business value and the path to scale</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6949440" cy="914400"/>
        </p:xfrm>
        <a:graphic>
          <a:graphicData uri="http://schemas.openxmlformats.org/drawingml/2006/table">
            <a:tbl>
              <a:tblPr/>
              <a:tblGrid>
                <a:gridCol w="1600200"/>
                <a:gridCol w="1463040"/>
                <a:gridCol w="2514600"/>
                <a:gridCol w="1371600"/>
              </a:tblGrid>
              <a:tr h="457200">
                <a:tc>
                  <a:txBody>
                    <a:bodyPr/>
                    <a:lstStyle/>
                    <a:p>
                      <a:pPr indent="0" marL="0">
                        <a:buNone/>
                      </a:pPr>
                      <a:r>
                        <a:rPr lang="en-US" sz="1150" b="1" dirty="0">
                          <a:solidFill>
                            <a:schemeClr val="bg1"/>
                          </a:solidFill>
                        </a:rPr>
                        <a:t>KPI</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Assumed baseline</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Mechanism</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c>
                  <a:txBody>
                    <a:bodyPr/>
                    <a:lstStyle/>
                    <a:p>
                      <a:pPr indent="0" marL="0">
                        <a:buNone/>
                      </a:pPr>
                      <a:r>
                        <a:rPr lang="en-US" sz="1150" b="1" dirty="0">
                          <a:solidFill>
                            <a:schemeClr val="bg1"/>
                          </a:solidFill>
                        </a:rPr>
                        <a:t>Assumed target</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solidFill>
                      <a:schemeClr val="tx2"/>
                    </a:solidFill>
                  </a:tcPr>
                </a:tc>
              </a:tr>
              <a:tr h="457200">
                <a:tc>
                  <a:txBody>
                    <a:bodyPr/>
                    <a:lstStyle/>
                    <a:p>
                      <a:pPr indent="0" marL="0">
                        <a:buNone/>
                      </a:pPr>
                      <a:r>
                        <a:rPr lang="en-US" sz="1150" dirty="0">
                          <a:solidFill>
                            <a:schemeClr val="tx1"/>
                          </a:solidFill>
                        </a:rPr>
                        <a:t>Promise-kept rate</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50" dirty="0">
                          <a:solidFill>
                            <a:schemeClr val="tx1"/>
                          </a:solidFill>
                        </a:rPr>
                        <a:t>60%</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50" dirty="0">
                          <a:solidFill>
                            <a:schemeClr val="tx1"/>
                          </a:solidFill>
                        </a:rPr>
                        <a:t>Affordable plans, payday timing</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50" dirty="0">
                          <a:solidFill>
                            <a:schemeClr val="tx1"/>
                          </a:solidFill>
                        </a:rPr>
                        <a:t>+5 pts</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457200">
                <a:tc>
                  <a:txBody>
                    <a:bodyPr/>
                    <a:lstStyle/>
                    <a:p>
                      <a:pPr indent="0" marL="0">
                        <a:buNone/>
                      </a:pPr>
                      <a:r>
                        <a:rPr lang="en-US" sz="1150" dirty="0">
                          <a:solidFill>
                            <a:schemeClr val="tx1"/>
                          </a:solidFill>
                        </a:rPr>
                        <a:t>Roll rate</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50" dirty="0">
                          <a:solidFill>
                            <a:schemeClr val="tx1"/>
                          </a:solidFill>
                        </a:rPr>
                        <a:t>current level</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50" dirty="0">
                          <a:solidFill>
                            <a:schemeClr val="tx1"/>
                          </a:solidFill>
                        </a:rPr>
                        <a:t>Early, affordable plans before a roll</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50" dirty="0">
                          <a:solidFill>
                            <a:schemeClr val="tx1"/>
                          </a:solidFill>
                        </a:rPr>
                        <a:t>lower</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457200">
                <a:tc>
                  <a:txBody>
                    <a:bodyPr/>
                    <a:lstStyle/>
                    <a:p>
                      <a:pPr indent="0" marL="0">
                        <a:buNone/>
                      </a:pPr>
                      <a:r>
                        <a:rPr lang="en-US" sz="1150" dirty="0">
                          <a:solidFill>
                            <a:schemeClr val="tx1"/>
                          </a:solidFill>
                        </a:rPr>
                        <a:t>Contact efficiency</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50" dirty="0">
                          <a:solidFill>
                            <a:schemeClr val="tx1"/>
                          </a:solidFill>
                        </a:rPr>
                        <a:t>1 in 5 attempts</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50" dirty="0">
                          <a:solidFill>
                            <a:schemeClr val="tx1"/>
                          </a:solidFill>
                        </a:rPr>
                        <a:t>Best channel and hour</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50" dirty="0">
                          <a:solidFill>
                            <a:schemeClr val="tx1"/>
                          </a:solidFill>
                        </a:rPr>
                        <a:t>+15% relative</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457200">
                <a:tc>
                  <a:txBody>
                    <a:bodyPr/>
                    <a:lstStyle/>
                    <a:p>
                      <a:pPr indent="0" marL="0">
                        <a:buNone/>
                      </a:pPr>
                      <a:r>
                        <a:rPr lang="en-US" sz="1150" dirty="0">
                          <a:solidFill>
                            <a:schemeClr val="tx1"/>
                          </a:solidFill>
                        </a:rPr>
                        <a:t>Agent handle time</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50" dirty="0">
                          <a:solidFill>
                            <a:schemeClr val="tx1"/>
                          </a:solidFill>
                        </a:rPr>
                        <a:t>10 min / account</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50" dirty="0">
                          <a:solidFill>
                            <a:schemeClr val="tx1"/>
                          </a:solidFill>
                        </a:rPr>
                        <a:t>C360 + pre-built reasons</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50" dirty="0">
                          <a:solidFill>
                            <a:schemeClr val="tx1"/>
                          </a:solidFill>
                        </a:rPr>
                        <a:t>−2 min (−20%)</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r h="457200">
                <a:tc>
                  <a:txBody>
                    <a:bodyPr/>
                    <a:lstStyle/>
                    <a:p>
                      <a:pPr indent="0" marL="0">
                        <a:buNone/>
                      </a:pPr>
                      <a:r>
                        <a:rPr lang="en-US" sz="1150" dirty="0">
                          <a:solidFill>
                            <a:schemeClr val="tx1"/>
                          </a:solidFill>
                        </a:rPr>
                        <a:t>Analyst question</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50" dirty="0">
                          <a:solidFill>
                            <a:schemeClr val="tx1"/>
                          </a:solidFill>
                        </a:rPr>
                        <a:t>days</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50" dirty="0">
                          <a:solidFill>
                            <a:schemeClr val="tx1"/>
                          </a:solidFill>
                        </a:rPr>
                        <a:t>Ask with visible SQL</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c>
                  <a:txBody>
                    <a:bodyPr/>
                    <a:lstStyle/>
                    <a:p>
                      <a:pPr indent="0" marL="0">
                        <a:buNone/>
                      </a:pPr>
                      <a:r>
                        <a:rPr lang="en-US" sz="1150" dirty="0">
                          <a:solidFill>
                            <a:schemeClr val="tx1"/>
                          </a:solidFill>
                        </a:rPr>
                        <a:t>minutes</a:t>
                      </a:r>
                      <a:endParaRPr lang="en-US" sz="1150" dirty="0"/>
                    </a:p>
                  </a:txBody>
                  <a:tcPr marL="54864" marR="54864" marT="54864" marB="54864" anchor="ctr">
                    <a:lnL w="12700" cap="flat" cmpd="sng" algn="ctr">
                      <a:solidFill>
                        <a:srgbClr val="EEF4F3"/>
                      </a:solidFill>
                      <a:prstDash val="solid"/>
                      <a:round/>
                      <a:headEnd type="none" w="med" len="med"/>
                      <a:tailEnd type="none" w="med" len="med"/>
                    </a:lnL>
                    <a:lnR w="12700" cap="flat" cmpd="sng" algn="ctr">
                      <a:solidFill>
                        <a:srgbClr val="EEF4F3"/>
                      </a:solidFill>
                      <a:prstDash val="solid"/>
                      <a:round/>
                      <a:headEnd type="none" w="med" len="med"/>
                      <a:tailEnd type="none" w="med" len="med"/>
                    </a:lnR>
                    <a:lnT w="12700" cap="flat" cmpd="sng" algn="ctr">
                      <a:solidFill>
                        <a:srgbClr val="EEF4F3"/>
                      </a:solidFill>
                      <a:prstDash val="solid"/>
                      <a:round/>
                      <a:headEnd type="none" w="med" len="med"/>
                      <a:tailEnd type="none" w="med" len="med"/>
                    </a:lnT>
                    <a:lnB w="12700" cap="flat" cmpd="sng" algn="ctr">
                      <a:solidFill>
                        <a:srgbClr val="EEF4F3"/>
                      </a:solidFill>
                      <a:prstDash val="solid"/>
                      <a:round/>
                      <a:headEnd type="none" w="med" len="med"/>
                      <a:tailEnd type="none" w="med" len="med"/>
                    </a:lnB>
                  </a:tcPr>
                </a:tc>
              </a:tr>
            </a:tbl>
          </a:graphicData>
        </a:graphic>
      </p:graphicFrame>
      <p:sp>
        <p:nvSpPr>
          <p:cNvPr id="4" name="Shape 1"/>
          <p:cNvSpPr/>
          <p:nvPr/>
        </p:nvSpPr>
        <p:spPr>
          <a:xfrm>
            <a:off x="548640" y="4251960"/>
            <a:ext cx="6949440" cy="1463040"/>
          </a:xfrm>
          <a:prstGeom prst="roundRect">
            <a:avLst>
              <a:gd name="adj" fmla="val 5000"/>
            </a:avLst>
          </a:prstGeom>
          <a:solidFill>
            <a:schemeClr val="bg2"/>
          </a:solidFill>
          <a:ln w="12700">
            <a:solidFill>
              <a:schemeClr val="accent5"/>
            </a:solidFill>
            <a:prstDash val="solid"/>
          </a:ln>
        </p:spPr>
      </p:sp>
      <p:sp>
        <p:nvSpPr>
          <p:cNvPr id="5" name="Text 2"/>
          <p:cNvSpPr txBox="1"/>
          <p:nvPr/>
        </p:nvSpPr>
        <p:spPr>
          <a:xfrm>
            <a:off x="731520" y="4343400"/>
            <a:ext cx="1463040" cy="914400"/>
          </a:xfrm>
          <a:prstGeom prst="rect">
            <a:avLst/>
          </a:prstGeom>
          <a:noFill/>
          <a:ln/>
        </p:spPr>
        <p:txBody>
          <a:bodyPr wrap="square" lIns="635" tIns="635" rIns="635" bIns="635"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 20</a:t>
            </a:r>
            <a:endParaRPr lang="en-US" sz="1200" dirty="0"/>
          </a:p>
        </p:txBody>
      </p:sp>
      <p:sp>
        <p:nvSpPr>
          <p:cNvPr id="6" name="Text 3"/>
          <p:cNvSpPr txBox="1"/>
          <p:nvPr/>
        </p:nvSpPr>
        <p:spPr>
          <a:xfrm>
            <a:off x="2240280" y="4389120"/>
            <a:ext cx="5120640" cy="1188720"/>
          </a:xfrm>
          <a:prstGeom prst="rect">
            <a:avLst/>
          </a:prstGeom>
          <a:noFill/>
          <a:ln/>
        </p:spPr>
        <p:txBody>
          <a:bodyPr wrap="square" lIns="635" tIns="635" rIns="635" bIns="635" rtlCol="0" anchor="ctr"/>
          <a:lstStyle/>
          <a:p>
            <a:pPr indent="0" marL="0">
              <a:buNone/>
            </a:pPr>
            <a:r>
              <a:rPr lang="en-US" sz="1250" dirty="0">
                <a:solidFill>
                  <a:schemeClr val="tx1"/>
                </a:solidFill>
              </a:rPr>
              <a:t>agent-equivalents of capacity freed in a 100-agent team if handle time drops from 10 to 8 minutes: the same workload with about 80 agents.</a:t>
            </a:r>
            <a:endParaRPr lang="en-US" sz="1250" dirty="0"/>
          </a:p>
        </p:txBody>
      </p:sp>
      <p:sp>
        <p:nvSpPr>
          <p:cNvPr id="7" name="Text 4"/>
          <p:cNvSpPr txBox="1"/>
          <p:nvPr/>
        </p:nvSpPr>
        <p:spPr>
          <a:xfrm>
            <a:off x="548640" y="5852160"/>
            <a:ext cx="6949440" cy="320040"/>
          </a:xfrm>
          <a:prstGeom prst="rect">
            <a:avLst/>
          </a:prstGeom>
          <a:noFill/>
          <a:ln/>
        </p:spPr>
        <p:txBody>
          <a:bodyPr wrap="square" lIns="635" tIns="635" rIns="635" bIns="635" rtlCol="0" anchor="t"/>
          <a:lstStyle/>
          <a:p>
            <a:pPr indent="0" marL="0">
              <a:buNone/>
            </a:pPr>
            <a:r>
              <a:rPr lang="en-US" sz="1050" i="1" dirty="0">
                <a:solidFill>
                  <a:schemeClr val="accent4"/>
                </a:solidFill>
              </a:rPr>
              <a:t>All baselines and targets are our assumptions to be validated, not bank figures.</a:t>
            </a:r>
            <a:endParaRPr lang="en-US" sz="1050" dirty="0"/>
          </a:p>
        </p:txBody>
      </p:sp>
      <p:sp>
        <p:nvSpPr>
          <p:cNvPr id="8" name="Text 5"/>
          <p:cNvSpPr txBox="1"/>
          <p:nvPr/>
        </p:nvSpPr>
        <p:spPr>
          <a:xfrm>
            <a:off x="7818120" y="1280160"/>
            <a:ext cx="3840480" cy="365760"/>
          </a:xfrm>
          <a:prstGeom prst="rect">
            <a:avLst/>
          </a:prstGeom>
          <a:noFill/>
          <a:ln/>
        </p:spPr>
        <p:txBody>
          <a:bodyPr wrap="square" lIns="635" tIns="635" rIns="635" bIns="635" rtlCol="0" anchor="t"/>
          <a:lstStyle/>
          <a:p>
            <a:pPr indent="0" marL="0">
              <a:buNone/>
            </a:pPr>
            <a:r>
              <a:rPr lang="en-US" sz="1500" b="1" dirty="0">
                <a:solidFill>
                  <a:schemeClr val="tx2"/>
                </a:solidFill>
              </a:rPr>
              <a:t>Prototype  →  production</a:t>
            </a:r>
            <a:endParaRPr lang="en-US" sz="1500" dirty="0"/>
          </a:p>
        </p:txBody>
      </p:sp>
      <p:sp>
        <p:nvSpPr>
          <p:cNvPr id="9" name="Text 6"/>
          <p:cNvSpPr txBox="1"/>
          <p:nvPr/>
        </p:nvSpPr>
        <p:spPr>
          <a:xfrm>
            <a:off x="7818120" y="1737360"/>
            <a:ext cx="1325880" cy="548640"/>
          </a:xfrm>
          <a:prstGeom prst="roundRect">
            <a:avLst>
              <a:gd name="adj" fmla="val 10000"/>
            </a:avLst>
          </a:prstGeom>
          <a:solidFill>
            <a:schemeClr val="bg2"/>
          </a:solidFill>
          <a:ln>
            <a:solidFill>
              <a:schemeClr val="bg2"/>
            </a:solidFill>
          </a:ln>
        </p:spPr>
        <p:txBody>
          <a:bodyPr wrap="square" lIns="508" tIns="508" rIns="508" bIns="508" rtlCol="0" anchor="ctr"/>
          <a:lstStyle/>
          <a:p>
            <a:pPr algn="ctr" indent="0" marL="0">
              <a:buNone/>
            </a:pPr>
            <a:r>
              <a:rPr lang="en-US" sz="1050" b="1" dirty="0">
                <a:solidFill>
                  <a:schemeClr val="tx2"/>
                </a:solidFill>
              </a:rPr>
              <a:t>DuckDB file</a:t>
            </a:r>
            <a:endParaRPr lang="en-US" sz="1050" dirty="0"/>
          </a:p>
        </p:txBody>
      </p:sp>
      <p:sp>
        <p:nvSpPr>
          <p:cNvPr id="10" name="Shape 7"/>
          <p:cNvSpPr/>
          <p:nvPr/>
        </p:nvSpPr>
        <p:spPr>
          <a:xfrm>
            <a:off x="9171432" y="2011680"/>
            <a:ext cx="274320" cy="0"/>
          </a:xfrm>
          <a:prstGeom prst="line">
            <a:avLst/>
          </a:prstGeom>
          <a:noFill/>
          <a:ln w="22225">
            <a:solidFill>
              <a:schemeClr val="accent4"/>
            </a:solidFill>
            <a:prstDash val="solid"/>
            <a:tailEnd type="triangle"/>
          </a:ln>
        </p:spPr>
      </p:sp>
      <p:sp>
        <p:nvSpPr>
          <p:cNvPr id="11" name="Text 8"/>
          <p:cNvSpPr txBox="1"/>
          <p:nvPr/>
        </p:nvSpPr>
        <p:spPr>
          <a:xfrm>
            <a:off x="9473184" y="1737360"/>
            <a:ext cx="2185416" cy="548640"/>
          </a:xfrm>
          <a:prstGeom prst="roundRect">
            <a:avLst>
              <a:gd name="adj" fmla="val 10000"/>
            </a:avLst>
          </a:prstGeom>
          <a:solidFill>
            <a:schemeClr val="accent1"/>
          </a:solidFill>
          <a:ln>
            <a:solidFill>
              <a:schemeClr val="accent1"/>
            </a:solidFill>
          </a:ln>
        </p:spPr>
        <p:txBody>
          <a:bodyPr wrap="square" lIns="508" tIns="508" rIns="508" bIns="508" rtlCol="0" anchor="ctr"/>
          <a:lstStyle/>
          <a:p>
            <a:pPr algn="ctr" indent="0" marL="0">
              <a:buNone/>
            </a:pPr>
            <a:r>
              <a:rPr lang="en-US" sz="1000" b="1" dirty="0">
                <a:solidFill>
                  <a:schemeClr val="bg1"/>
                </a:solidFill>
              </a:rPr>
              <a:t>Cloud warehouse + dbt / Airflow</a:t>
            </a:r>
            <a:endParaRPr lang="en-US" sz="1000" dirty="0"/>
          </a:p>
        </p:txBody>
      </p:sp>
      <p:sp>
        <p:nvSpPr>
          <p:cNvPr id="12" name="Text 9"/>
          <p:cNvSpPr txBox="1"/>
          <p:nvPr/>
        </p:nvSpPr>
        <p:spPr>
          <a:xfrm>
            <a:off x="7818120" y="2560320"/>
            <a:ext cx="1325880" cy="548640"/>
          </a:xfrm>
          <a:prstGeom prst="roundRect">
            <a:avLst>
              <a:gd name="adj" fmla="val 10000"/>
            </a:avLst>
          </a:prstGeom>
          <a:solidFill>
            <a:schemeClr val="bg2"/>
          </a:solidFill>
          <a:ln>
            <a:solidFill>
              <a:schemeClr val="bg2"/>
            </a:solidFill>
          </a:ln>
        </p:spPr>
        <p:txBody>
          <a:bodyPr wrap="square" lIns="508" tIns="508" rIns="508" bIns="508" rtlCol="0" anchor="ctr"/>
          <a:lstStyle/>
          <a:p>
            <a:pPr algn="ctr" indent="0" marL="0">
              <a:buNone/>
            </a:pPr>
            <a:r>
              <a:rPr lang="en-US" sz="1050" b="1" dirty="0">
                <a:solidFill>
                  <a:schemeClr val="tx2"/>
                </a:solidFill>
              </a:rPr>
              <a:t>Batch rebuild</a:t>
            </a:r>
            <a:endParaRPr lang="en-US" sz="1050" dirty="0"/>
          </a:p>
        </p:txBody>
      </p:sp>
      <p:sp>
        <p:nvSpPr>
          <p:cNvPr id="13" name="Shape 10"/>
          <p:cNvSpPr/>
          <p:nvPr/>
        </p:nvSpPr>
        <p:spPr>
          <a:xfrm>
            <a:off x="9171432" y="2834640"/>
            <a:ext cx="274320" cy="0"/>
          </a:xfrm>
          <a:prstGeom prst="line">
            <a:avLst/>
          </a:prstGeom>
          <a:noFill/>
          <a:ln w="22225">
            <a:solidFill>
              <a:schemeClr val="accent4"/>
            </a:solidFill>
            <a:prstDash val="solid"/>
            <a:tailEnd type="triangle"/>
          </a:ln>
        </p:spPr>
      </p:sp>
      <p:sp>
        <p:nvSpPr>
          <p:cNvPr id="14" name="Text 11"/>
          <p:cNvSpPr txBox="1"/>
          <p:nvPr/>
        </p:nvSpPr>
        <p:spPr>
          <a:xfrm>
            <a:off x="9473184" y="2560320"/>
            <a:ext cx="2185416" cy="548640"/>
          </a:xfrm>
          <a:prstGeom prst="roundRect">
            <a:avLst>
              <a:gd name="adj" fmla="val 10000"/>
            </a:avLst>
          </a:prstGeom>
          <a:solidFill>
            <a:schemeClr val="accent1"/>
          </a:solidFill>
          <a:ln>
            <a:solidFill>
              <a:schemeClr val="accent1"/>
            </a:solidFill>
          </a:ln>
        </p:spPr>
        <p:txBody>
          <a:bodyPr wrap="square" lIns="508" tIns="508" rIns="508" bIns="508" rtlCol="0" anchor="ctr"/>
          <a:lstStyle/>
          <a:p>
            <a:pPr algn="ctr" indent="0" marL="0">
              <a:buNone/>
            </a:pPr>
            <a:r>
              <a:rPr lang="en-US" sz="1000" b="1" dirty="0">
                <a:solidFill>
                  <a:schemeClr val="bg1"/>
                </a:solidFill>
              </a:rPr>
              <a:t>Streaming CDC / Kafka</a:t>
            </a:r>
            <a:endParaRPr lang="en-US" sz="1000" dirty="0"/>
          </a:p>
        </p:txBody>
      </p:sp>
      <p:sp>
        <p:nvSpPr>
          <p:cNvPr id="15" name="Text 12"/>
          <p:cNvSpPr txBox="1"/>
          <p:nvPr/>
        </p:nvSpPr>
        <p:spPr>
          <a:xfrm>
            <a:off x="7818120" y="3383280"/>
            <a:ext cx="1325880" cy="548640"/>
          </a:xfrm>
          <a:prstGeom prst="roundRect">
            <a:avLst>
              <a:gd name="adj" fmla="val 10000"/>
            </a:avLst>
          </a:prstGeom>
          <a:solidFill>
            <a:schemeClr val="bg2"/>
          </a:solidFill>
          <a:ln>
            <a:solidFill>
              <a:schemeClr val="bg2"/>
            </a:solidFill>
          </a:ln>
        </p:spPr>
        <p:txBody>
          <a:bodyPr wrap="square" lIns="508" tIns="508" rIns="508" bIns="508" rtlCol="0" anchor="ctr"/>
          <a:lstStyle/>
          <a:p>
            <a:pPr algn="ctr" indent="0" marL="0">
              <a:buNone/>
            </a:pPr>
            <a:r>
              <a:rPr lang="en-US" sz="1050" b="1" dirty="0">
                <a:solidFill>
                  <a:schemeClr val="tx2"/>
                </a:solidFill>
              </a:rPr>
              <a:t>Feature table</a:t>
            </a:r>
            <a:endParaRPr lang="en-US" sz="1050" dirty="0"/>
          </a:p>
        </p:txBody>
      </p:sp>
      <p:sp>
        <p:nvSpPr>
          <p:cNvPr id="16" name="Shape 13"/>
          <p:cNvSpPr/>
          <p:nvPr/>
        </p:nvSpPr>
        <p:spPr>
          <a:xfrm>
            <a:off x="9171432" y="3657600"/>
            <a:ext cx="274320" cy="0"/>
          </a:xfrm>
          <a:prstGeom prst="line">
            <a:avLst/>
          </a:prstGeom>
          <a:noFill/>
          <a:ln w="22225">
            <a:solidFill>
              <a:schemeClr val="accent4"/>
            </a:solidFill>
            <a:prstDash val="solid"/>
            <a:tailEnd type="triangle"/>
          </a:ln>
        </p:spPr>
      </p:sp>
      <p:sp>
        <p:nvSpPr>
          <p:cNvPr id="17" name="Text 14"/>
          <p:cNvSpPr txBox="1"/>
          <p:nvPr/>
        </p:nvSpPr>
        <p:spPr>
          <a:xfrm>
            <a:off x="9473184" y="3383280"/>
            <a:ext cx="2185416" cy="548640"/>
          </a:xfrm>
          <a:prstGeom prst="roundRect">
            <a:avLst>
              <a:gd name="adj" fmla="val 10000"/>
            </a:avLst>
          </a:prstGeom>
          <a:solidFill>
            <a:schemeClr val="accent1"/>
          </a:solidFill>
          <a:ln>
            <a:solidFill>
              <a:schemeClr val="accent1"/>
            </a:solidFill>
          </a:ln>
        </p:spPr>
        <p:txBody>
          <a:bodyPr wrap="square" lIns="508" tIns="508" rIns="508" bIns="508" rtlCol="0" anchor="ctr"/>
          <a:lstStyle/>
          <a:p>
            <a:pPr algn="ctr" indent="0" marL="0">
              <a:buNone/>
            </a:pPr>
            <a:r>
              <a:rPr lang="en-US" sz="1000" b="1" dirty="0">
                <a:solidFill>
                  <a:schemeClr val="bg1"/>
                </a:solidFill>
              </a:rPr>
              <a:t>Feature store service (Feast / Redis)</a:t>
            </a:r>
            <a:endParaRPr lang="en-US" sz="1000" dirty="0"/>
          </a:p>
        </p:txBody>
      </p:sp>
      <p:sp>
        <p:nvSpPr>
          <p:cNvPr id="18" name="Text 15"/>
          <p:cNvSpPr txBox="1"/>
          <p:nvPr/>
        </p:nvSpPr>
        <p:spPr>
          <a:xfrm>
            <a:off x="7818120" y="4206240"/>
            <a:ext cx="1325880" cy="548640"/>
          </a:xfrm>
          <a:prstGeom prst="roundRect">
            <a:avLst>
              <a:gd name="adj" fmla="val 10000"/>
            </a:avLst>
          </a:prstGeom>
          <a:solidFill>
            <a:schemeClr val="bg2"/>
          </a:solidFill>
          <a:ln>
            <a:solidFill>
              <a:schemeClr val="bg2"/>
            </a:solidFill>
          </a:ln>
        </p:spPr>
        <p:txBody>
          <a:bodyPr wrap="square" lIns="508" tIns="508" rIns="508" bIns="508" rtlCol="0" anchor="ctr"/>
          <a:lstStyle/>
          <a:p>
            <a:pPr algn="ctr" indent="0" marL="0">
              <a:buNone/>
            </a:pPr>
            <a:r>
              <a:rPr lang="en-US" sz="1050" b="1" dirty="0">
                <a:solidFill>
                  <a:schemeClr val="tx2"/>
                </a:solidFill>
              </a:rPr>
              <a:t>Local model</a:t>
            </a:r>
            <a:endParaRPr lang="en-US" sz="1050" dirty="0"/>
          </a:p>
        </p:txBody>
      </p:sp>
      <p:sp>
        <p:nvSpPr>
          <p:cNvPr id="19" name="Shape 16"/>
          <p:cNvSpPr/>
          <p:nvPr/>
        </p:nvSpPr>
        <p:spPr>
          <a:xfrm>
            <a:off x="9171432" y="4480560"/>
            <a:ext cx="274320" cy="0"/>
          </a:xfrm>
          <a:prstGeom prst="line">
            <a:avLst/>
          </a:prstGeom>
          <a:noFill/>
          <a:ln w="22225">
            <a:solidFill>
              <a:schemeClr val="accent4"/>
            </a:solidFill>
            <a:prstDash val="solid"/>
            <a:tailEnd type="triangle"/>
          </a:ln>
        </p:spPr>
      </p:sp>
      <p:sp>
        <p:nvSpPr>
          <p:cNvPr id="20" name="Text 17"/>
          <p:cNvSpPr txBox="1"/>
          <p:nvPr/>
        </p:nvSpPr>
        <p:spPr>
          <a:xfrm>
            <a:off x="9473184" y="4206240"/>
            <a:ext cx="2185416" cy="548640"/>
          </a:xfrm>
          <a:prstGeom prst="roundRect">
            <a:avLst>
              <a:gd name="adj" fmla="val 10000"/>
            </a:avLst>
          </a:prstGeom>
          <a:solidFill>
            <a:schemeClr val="accent1"/>
          </a:solidFill>
          <a:ln>
            <a:solidFill>
              <a:schemeClr val="accent1"/>
            </a:solidFill>
          </a:ln>
        </p:spPr>
        <p:txBody>
          <a:bodyPr wrap="square" lIns="508" tIns="508" rIns="508" bIns="508" rtlCol="0" anchor="ctr"/>
          <a:lstStyle/>
          <a:p>
            <a:pPr algn="ctr" indent="0" marL="0">
              <a:buNone/>
            </a:pPr>
            <a:r>
              <a:rPr lang="en-US" sz="1000" b="1" dirty="0">
                <a:solidFill>
                  <a:schemeClr val="bg1"/>
                </a:solidFill>
              </a:rPr>
              <a:t>Registry, drift + fairness monitoring</a:t>
            </a:r>
            <a:endParaRPr lang="en-US" sz="1000" dirty="0"/>
          </a:p>
        </p:txBody>
      </p:sp>
      <p:sp>
        <p:nvSpPr>
          <p:cNvPr id="21" name="Text 18"/>
          <p:cNvSpPr txBox="1"/>
          <p:nvPr/>
        </p:nvSpPr>
        <p:spPr>
          <a:xfrm>
            <a:off x="7818120" y="5029200"/>
            <a:ext cx="1325880" cy="548640"/>
          </a:xfrm>
          <a:prstGeom prst="roundRect">
            <a:avLst>
              <a:gd name="adj" fmla="val 10000"/>
            </a:avLst>
          </a:prstGeom>
          <a:solidFill>
            <a:schemeClr val="bg2"/>
          </a:solidFill>
          <a:ln>
            <a:solidFill>
              <a:schemeClr val="bg2"/>
            </a:solidFill>
          </a:ln>
        </p:spPr>
        <p:txBody>
          <a:bodyPr wrap="square" lIns="508" tIns="508" rIns="508" bIns="508" rtlCol="0" anchor="ctr"/>
          <a:lstStyle/>
          <a:p>
            <a:pPr algn="ctr" indent="0" marL="0">
              <a:buNone/>
            </a:pPr>
            <a:r>
              <a:rPr lang="en-US" sz="1050" b="1" dirty="0">
                <a:solidFill>
                  <a:schemeClr val="tx2"/>
                </a:solidFill>
              </a:rPr>
              <a:t>Single FastAPI</a:t>
            </a:r>
            <a:endParaRPr lang="en-US" sz="1050" dirty="0"/>
          </a:p>
        </p:txBody>
      </p:sp>
      <p:sp>
        <p:nvSpPr>
          <p:cNvPr id="22" name="Shape 19"/>
          <p:cNvSpPr/>
          <p:nvPr/>
        </p:nvSpPr>
        <p:spPr>
          <a:xfrm>
            <a:off x="9171432" y="5303520"/>
            <a:ext cx="274320" cy="0"/>
          </a:xfrm>
          <a:prstGeom prst="line">
            <a:avLst/>
          </a:prstGeom>
          <a:noFill/>
          <a:ln w="22225">
            <a:solidFill>
              <a:schemeClr val="accent4"/>
            </a:solidFill>
            <a:prstDash val="solid"/>
            <a:tailEnd type="triangle"/>
          </a:ln>
        </p:spPr>
      </p:sp>
      <p:sp>
        <p:nvSpPr>
          <p:cNvPr id="23" name="Text 20"/>
          <p:cNvSpPr txBox="1"/>
          <p:nvPr/>
        </p:nvSpPr>
        <p:spPr>
          <a:xfrm>
            <a:off x="9473184" y="5029200"/>
            <a:ext cx="2185416" cy="548640"/>
          </a:xfrm>
          <a:prstGeom prst="roundRect">
            <a:avLst>
              <a:gd name="adj" fmla="val 10000"/>
            </a:avLst>
          </a:prstGeom>
          <a:solidFill>
            <a:schemeClr val="accent1"/>
          </a:solidFill>
          <a:ln>
            <a:solidFill>
              <a:schemeClr val="accent1"/>
            </a:solidFill>
          </a:ln>
        </p:spPr>
        <p:txBody>
          <a:bodyPr wrap="square" lIns="508" tIns="508" rIns="508" bIns="508" rtlCol="0" anchor="ctr"/>
          <a:lstStyle/>
          <a:p>
            <a:pPr algn="ctr" indent="0" marL="0">
              <a:buNone/>
            </a:pPr>
            <a:r>
              <a:rPr lang="en-US" sz="1000" b="1" dirty="0">
                <a:solidFill>
                  <a:schemeClr val="bg1"/>
                </a:solidFill>
              </a:rPr>
              <a:t>Containers, SSO, role-based access</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731520" y="548640"/>
            <a:ext cx="10698480" cy="914400"/>
          </a:xfrm>
          <a:prstGeom prst="rect">
            <a:avLst/>
          </a:prstGeom>
          <a:noFill/>
          <a:ln/>
        </p:spPr>
        <p:txBody>
          <a:bodyPr wrap="square" lIns="0" tIns="0" rIns="0" bIns="0" rtlCol="0" anchor="t"/>
          <a:lstStyle/>
          <a:p>
            <a:pPr algn="l" indent="0" marL="0">
              <a:buNone/>
            </a:pPr>
            <a:r>
              <a:rPr lang="en-US" sz="3600" b="1" dirty="0">
                <a:solidFill>
                  <a:schemeClr val="bg1"/>
                </a:solidFill>
                <a:latin typeface="Cambria" pitchFamily="34" charset="0"/>
                <a:ea typeface="Cambria" pitchFamily="34" charset="-122"/>
                <a:cs typeface="Cambria" pitchFamily="34" charset="-120"/>
              </a:rPr>
              <a:t>The three-minute demo</a:t>
            </a:r>
            <a:endParaRPr lang="en-US" sz="3600" dirty="0"/>
          </a:p>
        </p:txBody>
      </p:sp>
      <p:sp>
        <p:nvSpPr>
          <p:cNvPr id="3" name="Shape 1"/>
          <p:cNvSpPr/>
          <p:nvPr/>
        </p:nvSpPr>
        <p:spPr>
          <a:xfrm>
            <a:off x="731520" y="1600200"/>
            <a:ext cx="420624" cy="420624"/>
          </a:xfrm>
          <a:prstGeom prst="ellipse">
            <a:avLst/>
          </a:prstGeom>
          <a:solidFill>
            <a:schemeClr val="accent2"/>
          </a:solidFill>
          <a:ln w="12700">
            <a:solidFill>
              <a:schemeClr val="accent2"/>
            </a:solidFill>
            <a:prstDash val="solid"/>
          </a:ln>
        </p:spPr>
      </p:sp>
      <p:sp>
        <p:nvSpPr>
          <p:cNvPr id="4" name="Text 2"/>
          <p:cNvSpPr txBox="1"/>
          <p:nvPr/>
        </p:nvSpPr>
        <p:spPr>
          <a:xfrm>
            <a:off x="731520" y="1618488"/>
            <a:ext cx="420624" cy="384048"/>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5" name="Text 3"/>
          <p:cNvSpPr txBox="1"/>
          <p:nvPr/>
        </p:nvSpPr>
        <p:spPr>
          <a:xfrm>
            <a:off x="1325880" y="1618488"/>
            <a:ext cx="9875520" cy="411480"/>
          </a:xfrm>
          <a:prstGeom prst="rect">
            <a:avLst/>
          </a:prstGeom>
          <a:noFill/>
          <a:ln/>
        </p:spPr>
        <p:txBody>
          <a:bodyPr wrap="square" lIns="635" tIns="635" rIns="635" bIns="635" rtlCol="0" anchor="ctr"/>
          <a:lstStyle/>
          <a:p>
            <a:pPr indent="0" marL="0">
              <a:buNone/>
            </a:pPr>
            <a:r>
              <a:rPr lang="en-US" sz="1500" dirty="0">
                <a:solidFill>
                  <a:schemeClr val="bg1"/>
                </a:solidFill>
              </a:rPr>
              <a:t>Open R. Mitchell's Collections 360: nine sources, one ID, trust 0.94.</a:t>
            </a:r>
            <a:endParaRPr lang="en-US" sz="1500" dirty="0"/>
          </a:p>
        </p:txBody>
      </p:sp>
      <p:sp>
        <p:nvSpPr>
          <p:cNvPr id="6" name="Shape 4"/>
          <p:cNvSpPr/>
          <p:nvPr/>
        </p:nvSpPr>
        <p:spPr>
          <a:xfrm>
            <a:off x="731520" y="2221992"/>
            <a:ext cx="420624" cy="420624"/>
          </a:xfrm>
          <a:prstGeom prst="ellipse">
            <a:avLst/>
          </a:prstGeom>
          <a:solidFill>
            <a:schemeClr val="accent2"/>
          </a:solidFill>
          <a:ln w="12700">
            <a:solidFill>
              <a:schemeClr val="accent2"/>
            </a:solidFill>
            <a:prstDash val="solid"/>
          </a:ln>
        </p:spPr>
      </p:sp>
      <p:sp>
        <p:nvSpPr>
          <p:cNvPr id="7" name="Text 5"/>
          <p:cNvSpPr txBox="1"/>
          <p:nvPr/>
        </p:nvSpPr>
        <p:spPr>
          <a:xfrm>
            <a:off x="731520" y="2240280"/>
            <a:ext cx="420624" cy="384048"/>
          </a:xfrm>
          <a:prstGeom prst="rect">
            <a:avLst/>
          </a:prstGeom>
          <a:noFill/>
          <a:ln/>
        </p:spPr>
        <p:txBody>
          <a:bodyPr wrap="square" lIns="0" tIns="0" rIns="0" bIns="0" rtlCol="0" anchor="ctr"/>
          <a:lstStyle/>
          <a:p>
            <a:pPr algn="ctr" indent="0" marL="0">
              <a:buNone/>
            </a:pPr>
            <a:r>
              <a:rPr lang="en-US" sz="1400" b="1" dirty="0">
                <a:solidFill>
                  <a:schemeClr val="tx2"/>
                </a:solidFill>
              </a:rPr>
              <a:t>2</a:t>
            </a:r>
            <a:endParaRPr lang="en-US" sz="1400" dirty="0"/>
          </a:p>
        </p:txBody>
      </p:sp>
      <p:sp>
        <p:nvSpPr>
          <p:cNvPr id="8" name="Text 6"/>
          <p:cNvSpPr txBox="1"/>
          <p:nvPr/>
        </p:nvSpPr>
        <p:spPr>
          <a:xfrm>
            <a:off x="1325880" y="2240280"/>
            <a:ext cx="9875520" cy="411480"/>
          </a:xfrm>
          <a:prstGeom prst="rect">
            <a:avLst/>
          </a:prstGeom>
          <a:noFill/>
          <a:ln/>
        </p:spPr>
        <p:txBody>
          <a:bodyPr wrap="square" lIns="635" tIns="635" rIns="635" bIns="635" rtlCol="0" anchor="ctr"/>
          <a:lstStyle/>
          <a:p>
            <a:pPr indent="0" marL="0">
              <a:buNone/>
            </a:pPr>
            <a:r>
              <a:rPr lang="en-US" sz="1500" dirty="0">
                <a:solidFill>
                  <a:schemeClr val="bg1"/>
                </a:solidFill>
              </a:rPr>
              <a:t>Ask "who will break a promise this week?" and see the ranked list with its SQL.</a:t>
            </a:r>
            <a:endParaRPr lang="en-US" sz="1500" dirty="0"/>
          </a:p>
        </p:txBody>
      </p:sp>
      <p:sp>
        <p:nvSpPr>
          <p:cNvPr id="9" name="Shape 7"/>
          <p:cNvSpPr/>
          <p:nvPr/>
        </p:nvSpPr>
        <p:spPr>
          <a:xfrm>
            <a:off x="731520" y="2843784"/>
            <a:ext cx="420624" cy="420624"/>
          </a:xfrm>
          <a:prstGeom prst="ellipse">
            <a:avLst/>
          </a:prstGeom>
          <a:solidFill>
            <a:schemeClr val="accent2"/>
          </a:solidFill>
          <a:ln w="12700">
            <a:solidFill>
              <a:schemeClr val="accent2"/>
            </a:solidFill>
            <a:prstDash val="solid"/>
          </a:ln>
        </p:spPr>
      </p:sp>
      <p:sp>
        <p:nvSpPr>
          <p:cNvPr id="10" name="Text 8"/>
          <p:cNvSpPr txBox="1"/>
          <p:nvPr/>
        </p:nvSpPr>
        <p:spPr>
          <a:xfrm>
            <a:off x="731520" y="2862072"/>
            <a:ext cx="420624" cy="384048"/>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1" name="Text 9"/>
          <p:cNvSpPr txBox="1"/>
          <p:nvPr/>
        </p:nvSpPr>
        <p:spPr>
          <a:xfrm>
            <a:off x="1325880" y="2862072"/>
            <a:ext cx="9875520" cy="411480"/>
          </a:xfrm>
          <a:prstGeom prst="rect">
            <a:avLst/>
          </a:prstGeom>
          <a:noFill/>
          <a:ln/>
        </p:spPr>
        <p:txBody>
          <a:bodyPr wrap="square" lIns="635" tIns="635" rIns="635" bIns="635" rtlCol="0" anchor="ctr"/>
          <a:lstStyle/>
          <a:p>
            <a:pPr indent="0" marL="0">
              <a:buNone/>
            </a:pPr>
            <a:r>
              <a:rPr lang="en-US" sz="1500" dirty="0">
                <a:solidFill>
                  <a:schemeClr val="bg1"/>
                </a:solidFill>
              </a:rPr>
              <a:t>Ask "who mentioned job loss?" and see cited call quotes. Ask for his SIN and see a refusal.</a:t>
            </a:r>
            <a:endParaRPr lang="en-US" sz="1500" dirty="0"/>
          </a:p>
        </p:txBody>
      </p:sp>
      <p:sp>
        <p:nvSpPr>
          <p:cNvPr id="12" name="Shape 10"/>
          <p:cNvSpPr/>
          <p:nvPr/>
        </p:nvSpPr>
        <p:spPr>
          <a:xfrm>
            <a:off x="731520" y="3465576"/>
            <a:ext cx="420624" cy="420624"/>
          </a:xfrm>
          <a:prstGeom prst="ellipse">
            <a:avLst/>
          </a:prstGeom>
          <a:solidFill>
            <a:schemeClr val="accent2"/>
          </a:solidFill>
          <a:ln w="12700">
            <a:solidFill>
              <a:schemeClr val="accent2"/>
            </a:solidFill>
            <a:prstDash val="solid"/>
          </a:ln>
        </p:spPr>
      </p:sp>
      <p:sp>
        <p:nvSpPr>
          <p:cNvPr id="13" name="Text 11"/>
          <p:cNvSpPr txBox="1"/>
          <p:nvPr/>
        </p:nvSpPr>
        <p:spPr>
          <a:xfrm>
            <a:off x="731520" y="3483864"/>
            <a:ext cx="420624" cy="384048"/>
          </a:xfrm>
          <a:prstGeom prst="rect">
            <a:avLst/>
          </a:prstGeom>
          <a:noFill/>
          <a:ln/>
        </p:spPr>
        <p:txBody>
          <a:bodyPr wrap="square" lIns="0" tIns="0" rIns="0" bIns="0" rtlCol="0" anchor="ctr"/>
          <a:lstStyle/>
          <a:p>
            <a:pPr algn="ctr" indent="0" marL="0">
              <a:buNone/>
            </a:pPr>
            <a:r>
              <a:rPr lang="en-US" sz="1400" b="1" dirty="0">
                <a:solidFill>
                  <a:schemeClr val="tx2"/>
                </a:solidFill>
              </a:rPr>
              <a:t>4</a:t>
            </a:r>
            <a:endParaRPr lang="en-US" sz="1400" dirty="0"/>
          </a:p>
        </p:txBody>
      </p:sp>
      <p:sp>
        <p:nvSpPr>
          <p:cNvPr id="14" name="Text 12"/>
          <p:cNvSpPr txBox="1"/>
          <p:nvPr/>
        </p:nvSpPr>
        <p:spPr>
          <a:xfrm>
            <a:off x="1325880" y="3483864"/>
            <a:ext cx="9875520" cy="411480"/>
          </a:xfrm>
          <a:prstGeom prst="rect">
            <a:avLst/>
          </a:prstGeom>
          <a:noFill/>
          <a:ln/>
        </p:spPr>
        <p:txBody>
          <a:bodyPr wrap="square" lIns="635" tIns="635" rIns="635" bIns="635" rtlCol="0" anchor="ctr"/>
          <a:lstStyle/>
          <a:p>
            <a:pPr indent="0" marL="0">
              <a:buNone/>
            </a:pPr>
            <a:r>
              <a:rPr lang="en-US" sz="1500" dirty="0">
                <a:solidFill>
                  <a:schemeClr val="bg1"/>
                </a:solidFill>
              </a:rPr>
              <a:t>Drop in his new call transcript: hardship 45 → 85, the action changes to a specialist referral.</a:t>
            </a:r>
            <a:endParaRPr lang="en-US" sz="1500" dirty="0"/>
          </a:p>
        </p:txBody>
      </p:sp>
      <p:sp>
        <p:nvSpPr>
          <p:cNvPr id="15" name="Shape 13"/>
          <p:cNvSpPr/>
          <p:nvPr/>
        </p:nvSpPr>
        <p:spPr>
          <a:xfrm>
            <a:off x="731520" y="4087368"/>
            <a:ext cx="420624" cy="420624"/>
          </a:xfrm>
          <a:prstGeom prst="ellipse">
            <a:avLst/>
          </a:prstGeom>
          <a:solidFill>
            <a:schemeClr val="accent2"/>
          </a:solidFill>
          <a:ln w="12700">
            <a:solidFill>
              <a:schemeClr val="accent2"/>
            </a:solidFill>
            <a:prstDash val="solid"/>
          </a:ln>
        </p:spPr>
      </p:sp>
      <p:sp>
        <p:nvSpPr>
          <p:cNvPr id="16" name="Text 14"/>
          <p:cNvSpPr txBox="1"/>
          <p:nvPr/>
        </p:nvSpPr>
        <p:spPr>
          <a:xfrm>
            <a:off x="731520" y="4105656"/>
            <a:ext cx="420624" cy="384048"/>
          </a:xfrm>
          <a:prstGeom prst="rect">
            <a:avLst/>
          </a:prstGeom>
          <a:noFill/>
          <a:ln/>
        </p:spPr>
        <p:txBody>
          <a:bodyPr wrap="square" lIns="0" tIns="0" rIns="0" bIns="0" rtlCol="0" anchor="ctr"/>
          <a:lstStyle/>
          <a:p>
            <a:pPr algn="ctr" indent="0" marL="0">
              <a:buNone/>
            </a:pPr>
            <a:r>
              <a:rPr lang="en-US" sz="1400" b="1" dirty="0">
                <a:solidFill>
                  <a:schemeClr val="tx2"/>
                </a:solidFill>
              </a:rPr>
              <a:t>5</a:t>
            </a:r>
            <a:endParaRPr lang="en-US" sz="1400" dirty="0"/>
          </a:p>
        </p:txBody>
      </p:sp>
      <p:sp>
        <p:nvSpPr>
          <p:cNvPr id="17" name="Text 15"/>
          <p:cNvSpPr txBox="1"/>
          <p:nvPr/>
        </p:nvSpPr>
        <p:spPr>
          <a:xfrm>
            <a:off x="1325880" y="4105656"/>
            <a:ext cx="9875520" cy="411480"/>
          </a:xfrm>
          <a:prstGeom prst="rect">
            <a:avLst/>
          </a:prstGeom>
          <a:noFill/>
          <a:ln/>
        </p:spPr>
        <p:txBody>
          <a:bodyPr wrap="square" lIns="635" tIns="635" rIns="635" bIns="635" rtlCol="0" anchor="ctr"/>
          <a:lstStyle/>
          <a:p>
            <a:pPr indent="0" marL="0">
              <a:buNone/>
            </a:pPr>
            <a:r>
              <a:rPr lang="en-US" sz="1500" dirty="0">
                <a:solidFill>
                  <a:schemeClr val="bg1"/>
                </a:solidFill>
              </a:rPr>
              <a:t>Show M. Roy: high risk too, but he can afford it, so a call the day after payday.</a:t>
            </a:r>
            <a:endParaRPr lang="en-US" sz="1500" dirty="0"/>
          </a:p>
        </p:txBody>
      </p:sp>
      <p:sp>
        <p:nvSpPr>
          <p:cNvPr id="18" name="Shape 16"/>
          <p:cNvSpPr/>
          <p:nvPr/>
        </p:nvSpPr>
        <p:spPr>
          <a:xfrm>
            <a:off x="731520" y="4709160"/>
            <a:ext cx="420624" cy="420624"/>
          </a:xfrm>
          <a:prstGeom prst="ellipse">
            <a:avLst/>
          </a:prstGeom>
          <a:solidFill>
            <a:schemeClr val="accent2"/>
          </a:solidFill>
          <a:ln w="12700">
            <a:solidFill>
              <a:schemeClr val="accent2"/>
            </a:solidFill>
            <a:prstDash val="solid"/>
          </a:ln>
        </p:spPr>
      </p:sp>
      <p:sp>
        <p:nvSpPr>
          <p:cNvPr id="19" name="Text 17"/>
          <p:cNvSpPr txBox="1"/>
          <p:nvPr/>
        </p:nvSpPr>
        <p:spPr>
          <a:xfrm>
            <a:off x="731520" y="4727448"/>
            <a:ext cx="420624" cy="384048"/>
          </a:xfrm>
          <a:prstGeom prst="rect">
            <a:avLst/>
          </a:prstGeom>
          <a:noFill/>
          <a:ln/>
        </p:spPr>
        <p:txBody>
          <a:bodyPr wrap="square" lIns="0" tIns="0" rIns="0" bIns="0" rtlCol="0" anchor="ctr"/>
          <a:lstStyle/>
          <a:p>
            <a:pPr algn="ctr" indent="0" marL="0">
              <a:buNone/>
            </a:pPr>
            <a:r>
              <a:rPr lang="en-US" sz="1400" b="1" dirty="0">
                <a:solidFill>
                  <a:schemeClr val="tx2"/>
                </a:solidFill>
              </a:rPr>
              <a:t>6</a:t>
            </a:r>
            <a:endParaRPr lang="en-US" sz="1400" dirty="0"/>
          </a:p>
        </p:txBody>
      </p:sp>
      <p:sp>
        <p:nvSpPr>
          <p:cNvPr id="20" name="Text 18"/>
          <p:cNvSpPr txBox="1"/>
          <p:nvPr/>
        </p:nvSpPr>
        <p:spPr>
          <a:xfrm>
            <a:off x="1325880" y="4727448"/>
            <a:ext cx="9875520" cy="411480"/>
          </a:xfrm>
          <a:prstGeom prst="rect">
            <a:avLst/>
          </a:prstGeom>
          <a:noFill/>
          <a:ln/>
        </p:spPr>
        <p:txBody>
          <a:bodyPr wrap="square" lIns="635" tIns="635" rIns="635" bIns="635" rtlCol="0" anchor="ctr"/>
          <a:lstStyle/>
          <a:p>
            <a:pPr indent="0" marL="0">
              <a:buNone/>
            </a:pPr>
            <a:r>
              <a:rPr lang="en-US" sz="1500" dirty="0">
                <a:solidFill>
                  <a:schemeClr val="bg1"/>
                </a:solidFill>
              </a:rPr>
              <a:t>Override another case with a reason. The Governance tab shows the audit trail and fairness checks.</a:t>
            </a:r>
            <a:endParaRPr lang="en-US" sz="1500" dirty="0"/>
          </a:p>
        </p:txBody>
      </p:sp>
      <p:sp>
        <p:nvSpPr>
          <p:cNvPr id="21" name="Text 19"/>
          <p:cNvSpPr txBox="1"/>
          <p:nvPr/>
        </p:nvSpPr>
        <p:spPr>
          <a:xfrm>
            <a:off x="731520" y="5486400"/>
            <a:ext cx="10058400" cy="502920"/>
          </a:xfrm>
          <a:prstGeom prst="rect">
            <a:avLst/>
          </a:prstGeom>
          <a:noFill/>
          <a:ln/>
        </p:spPr>
        <p:txBody>
          <a:bodyPr wrap="square" lIns="635" tIns="635" rIns="635" bIns="635" rtlCol="0" anchor="t"/>
          <a:lstStyle/>
          <a:p>
            <a:pPr indent="0" marL="0">
              <a:buNone/>
            </a:pPr>
            <a:r>
              <a:rPr lang="en-US" sz="2400" b="1" i="1" dirty="0">
                <a:solidFill>
                  <a:schemeClr val="accent2"/>
                </a:solidFill>
                <a:latin typeface="Cambria" pitchFamily="34" charset="0"/>
                <a:ea typeface="Cambria" pitchFamily="34" charset="-122"/>
                <a:cs typeface="Cambria" pitchFamily="34" charset="-120"/>
              </a:rPr>
              <a:t>Resolve360: stop chasing, start resolving.</a:t>
            </a:r>
            <a:endParaRPr lang="en-US" sz="2400" dirty="0"/>
          </a:p>
        </p:txBody>
      </p:sp>
      <p:sp>
        <p:nvSpPr>
          <p:cNvPr id="22" name="Text 20"/>
          <p:cNvSpPr txBox="1"/>
          <p:nvPr/>
        </p:nvSpPr>
        <p:spPr>
          <a:xfrm>
            <a:off x="731520" y="6035040"/>
            <a:ext cx="10058400" cy="320040"/>
          </a:xfrm>
          <a:prstGeom prst="rect">
            <a:avLst/>
          </a:prstGeom>
          <a:noFill/>
          <a:ln/>
        </p:spPr>
        <p:txBody>
          <a:bodyPr wrap="square" lIns="635" tIns="635" rIns="635" bIns="635" rtlCol="0" anchor="t"/>
          <a:lstStyle/>
          <a:p>
            <a:pPr indent="0" marL="0">
              <a:buNone/>
            </a:pPr>
            <a:r>
              <a:rPr lang="en-US" sz="1100" dirty="0">
                <a:solidFill>
                  <a:schemeClr val="accent5"/>
                </a:solidFill>
              </a:rPr>
              <a:t>Team Hack It  ·  Educational prototype on synthetic data</a:t>
            </a:r>
            <a:endParaRPr lang="en-US" sz="1100" dirty="0"/>
          </a:p>
        </p:txBody>
      </p:sp>
    </p:spTree>
  </p:cSld>
  <p:clrMapOvr>
    <a:masterClrMapping/>
  </p:clrMapOvr>
</p:sld>
</file>

<file path=ppt/theme/theme1.xml><?xml version="1.0" encoding="utf-8"?>
<a:theme xmlns:a="http://schemas.openxmlformats.org/drawingml/2006/main" name="Resolve360">
  <a:themeElements>
    <a:clrScheme name="Resolve360">
      <a:dk1>
        <a:srgbClr val="1B2430"/>
      </a:dk1>
      <a:lt1>
        <a:srgbClr val="FFFFFF"/>
      </a:lt1>
      <a:dk2>
        <a:srgbClr val="0E3B43"/>
      </a:dk2>
      <a:lt2>
        <a:srgbClr val="EEF4F3"/>
      </a:lt2>
      <a:accent1>
        <a:srgbClr val="15847A"/>
      </a:accent1>
      <a:accent2>
        <a:srgbClr val="F2A541"/>
      </a:accent2>
      <a:accent3>
        <a:srgbClr val="D64933"/>
      </a:accent3>
      <a:accent4>
        <a:srgbClr val="5B7083"/>
      </a:accent4>
      <a:accent5>
        <a:srgbClr val="9CC5BE"/>
      </a:accent5>
      <a:accent6>
        <a:srgbClr val="2E5E8C"/>
      </a:accent6>
      <a:hlink>
        <a:srgbClr val="15847A"/>
      </a:hlink>
      <a:folHlink>
        <a:srgbClr val="2E5E8C"/>
      </a:folHlink>
    </a:clrScheme>
    <a:fontScheme name="Resolve360">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Resolve360 - Team Hack It - Design submission</dc:title>
  <dc:subject>PptxGenJS Presentation</dc:subject>
  <dc:creator>Team Hack It</dc:creator>
  <cp:lastModifiedBy>Team Hack It</cp:lastModifiedBy>
  <cp:revision>1</cp:revision>
  <dcterms:created xsi:type="dcterms:W3CDTF">2026-10-02T12:39:31Z</dcterms:created>
  <dcterms:modified xsi:type="dcterms:W3CDTF">2026-10-02T12:39:31Z</dcterms:modified>
</cp:coreProperties>
</file>